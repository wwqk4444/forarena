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92" r:id="rId6"/>
    <p:sldId id="293" r:id="rId7"/>
    <p:sldId id="294" r:id="rId8"/>
    <p:sldId id="263" r:id="rId9"/>
    <p:sldId id="324" r:id="rId10"/>
    <p:sldId id="301" r:id="rId11"/>
    <p:sldId id="300" r:id="rId12"/>
    <p:sldId id="296" r:id="rId13"/>
    <p:sldId id="267" r:id="rId14"/>
    <p:sldId id="302" r:id="rId15"/>
    <p:sldId id="316" r:id="rId16"/>
    <p:sldId id="317" r:id="rId17"/>
    <p:sldId id="318" r:id="rId18"/>
    <p:sldId id="319" r:id="rId19"/>
    <p:sldId id="322" r:id="rId20"/>
    <p:sldId id="320" r:id="rId21"/>
    <p:sldId id="306" r:id="rId22"/>
    <p:sldId id="315" r:id="rId23"/>
    <p:sldId id="323" r:id="rId24"/>
    <p:sldId id="307" r:id="rId25"/>
    <p:sldId id="310" r:id="rId26"/>
    <p:sldId id="311" r:id="rId27"/>
    <p:sldId id="313" r:id="rId28"/>
    <p:sldId id="314" r:id="rId29"/>
    <p:sldId id="282" r:id="rId30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16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B0686-107F-471B-9D7D-7D600F87F6A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57551-B206-4640-AE41-E04012C91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51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8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51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7623-2A60-BE42-AB7E-9FE00B7A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5AA705-A469-ADC4-C845-130DB5725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9B77D0-2AE9-41E9-3AB8-B9967338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BF7B3-5D13-0A8A-6D89-E94114307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214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8F65-A03E-40C7-2A53-3074348E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A1BF9B-6FCE-06D6-E2FA-77D361847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15ADFE-081B-FB0E-F738-1CFE5170C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72500-21AE-C16F-5658-30E21F357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443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207A7-5F03-C454-1BE0-3C593FDF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B4A6BF-3F6F-E955-7DEE-5F356EBBC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AA70F2-E0DA-E7BD-945D-AF208F06F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247FA-BED0-8FF5-5B09-1DD65792B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118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979B-D457-9589-8991-F0CB761E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5E114-3A5A-119D-0CE6-7FBB0D48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DDB5ED-AFF4-04EF-0B95-F63047E52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C290D0-863E-724B-7AA8-0CBB10521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913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94C2-FECC-73DC-0DD8-A12E71C8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19A736-506C-713B-1F4F-9A7BB229E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C56255-0014-3C8F-C2D8-FAB8047B4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99B1B-B5F1-27C6-7CE0-67A51CCEB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20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BA31-9027-B8BF-C3F0-4A39233E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41DACE-6A97-9A27-74E1-B2DC480C5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20E56A-1E3A-6294-2BB6-E221930B2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F0796-DA2B-95BE-86DF-A8BD9928A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36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142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57551-B206-4640-AE41-E04012C917D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88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716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419855" y="0"/>
            <a:ext cx="5352415" cy="5219700"/>
          </a:xfrm>
          <a:custGeom>
            <a:avLst/>
            <a:gdLst/>
            <a:ahLst/>
            <a:cxnLst/>
            <a:rect l="l" t="t" r="r" b="b"/>
            <a:pathLst>
              <a:path w="5352415" h="5219700">
                <a:moveTo>
                  <a:pt x="5352288" y="0"/>
                </a:moveTo>
                <a:lnTo>
                  <a:pt x="0" y="0"/>
                </a:lnTo>
                <a:lnTo>
                  <a:pt x="0" y="4175760"/>
                </a:lnTo>
                <a:lnTo>
                  <a:pt x="2676144" y="5219700"/>
                </a:lnTo>
                <a:lnTo>
                  <a:pt x="5352288" y="4175760"/>
                </a:lnTo>
                <a:lnTo>
                  <a:pt x="5352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419855" y="0"/>
            <a:ext cx="5352415" cy="5219700"/>
          </a:xfrm>
          <a:custGeom>
            <a:avLst/>
            <a:gdLst/>
            <a:ahLst/>
            <a:cxnLst/>
            <a:rect l="l" t="t" r="r" b="b"/>
            <a:pathLst>
              <a:path w="5352415" h="5219700">
                <a:moveTo>
                  <a:pt x="0" y="0"/>
                </a:moveTo>
                <a:lnTo>
                  <a:pt x="5352288" y="0"/>
                </a:lnTo>
                <a:lnTo>
                  <a:pt x="5352288" y="4175760"/>
                </a:lnTo>
                <a:lnTo>
                  <a:pt x="2676144" y="5219700"/>
                </a:lnTo>
                <a:lnTo>
                  <a:pt x="0" y="41757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6146291"/>
            <a:ext cx="5486400" cy="4069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5715" y="188976"/>
            <a:ext cx="3020567" cy="211531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419856" y="4393692"/>
            <a:ext cx="5352415" cy="1461770"/>
          </a:xfrm>
          <a:custGeom>
            <a:avLst/>
            <a:gdLst/>
            <a:ahLst/>
            <a:cxnLst/>
            <a:rect l="l" t="t" r="r" b="b"/>
            <a:pathLst>
              <a:path w="5352415" h="1461770">
                <a:moveTo>
                  <a:pt x="5352288" y="0"/>
                </a:moveTo>
                <a:lnTo>
                  <a:pt x="2676144" y="1043812"/>
                </a:lnTo>
                <a:lnTo>
                  <a:pt x="0" y="0"/>
                </a:lnTo>
                <a:lnTo>
                  <a:pt x="0" y="417702"/>
                </a:lnTo>
                <a:lnTo>
                  <a:pt x="2676144" y="1461515"/>
                </a:lnTo>
                <a:lnTo>
                  <a:pt x="5352288" y="417702"/>
                </a:lnTo>
                <a:lnTo>
                  <a:pt x="5352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419856" y="4393692"/>
            <a:ext cx="5352415" cy="1461770"/>
          </a:xfrm>
          <a:custGeom>
            <a:avLst/>
            <a:gdLst/>
            <a:ahLst/>
            <a:cxnLst/>
            <a:rect l="l" t="t" r="r" b="b"/>
            <a:pathLst>
              <a:path w="5352415" h="1461770">
                <a:moveTo>
                  <a:pt x="0" y="0"/>
                </a:moveTo>
                <a:lnTo>
                  <a:pt x="2676144" y="1043812"/>
                </a:lnTo>
                <a:lnTo>
                  <a:pt x="5352288" y="0"/>
                </a:lnTo>
                <a:lnTo>
                  <a:pt x="5352288" y="417702"/>
                </a:lnTo>
                <a:lnTo>
                  <a:pt x="2676144" y="1461515"/>
                </a:lnTo>
                <a:lnTo>
                  <a:pt x="0" y="41770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900195"/>
            <a:ext cx="12191999" cy="39578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223516" y="1357883"/>
            <a:ext cx="7745095" cy="4142740"/>
          </a:xfrm>
          <a:custGeom>
            <a:avLst/>
            <a:gdLst/>
            <a:ahLst/>
            <a:cxnLst/>
            <a:rect l="l" t="t" r="r" b="b"/>
            <a:pathLst>
              <a:path w="7745095" h="4142740">
                <a:moveTo>
                  <a:pt x="7744968" y="0"/>
                </a:moveTo>
                <a:lnTo>
                  <a:pt x="0" y="0"/>
                </a:lnTo>
                <a:lnTo>
                  <a:pt x="0" y="4142232"/>
                </a:lnTo>
                <a:lnTo>
                  <a:pt x="7744968" y="4142232"/>
                </a:lnTo>
                <a:lnTo>
                  <a:pt x="7744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95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4" y="0"/>
            <a:ext cx="12188951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12192000" y="0"/>
                </a:moveTo>
                <a:lnTo>
                  <a:pt x="304800" y="0"/>
                </a:lnTo>
                <a:lnTo>
                  <a:pt x="0" y="685800"/>
                </a:lnTo>
                <a:lnTo>
                  <a:pt x="11887200" y="685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716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515" y="73152"/>
            <a:ext cx="539496" cy="5394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428476" y="120395"/>
            <a:ext cx="474345" cy="242570"/>
          </a:xfrm>
          <a:custGeom>
            <a:avLst/>
            <a:gdLst/>
            <a:ahLst/>
            <a:cxnLst/>
            <a:rect l="l" t="t" r="r" b="b"/>
            <a:pathLst>
              <a:path w="474345" h="242570">
                <a:moveTo>
                  <a:pt x="473964" y="0"/>
                </a:moveTo>
                <a:lnTo>
                  <a:pt x="107696" y="0"/>
                </a:lnTo>
                <a:lnTo>
                  <a:pt x="0" y="242315"/>
                </a:lnTo>
                <a:lnTo>
                  <a:pt x="366268" y="242315"/>
                </a:lnTo>
                <a:lnTo>
                  <a:pt x="4739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428476" y="120395"/>
            <a:ext cx="474345" cy="242570"/>
          </a:xfrm>
          <a:custGeom>
            <a:avLst/>
            <a:gdLst/>
            <a:ahLst/>
            <a:cxnLst/>
            <a:rect l="l" t="t" r="r" b="b"/>
            <a:pathLst>
              <a:path w="474345" h="242570">
                <a:moveTo>
                  <a:pt x="0" y="242315"/>
                </a:moveTo>
                <a:lnTo>
                  <a:pt x="107696" y="0"/>
                </a:lnTo>
                <a:lnTo>
                  <a:pt x="473964" y="0"/>
                </a:lnTo>
                <a:lnTo>
                  <a:pt x="366268" y="242315"/>
                </a:lnTo>
                <a:lnTo>
                  <a:pt x="0" y="24231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016995" y="323088"/>
            <a:ext cx="474345" cy="242570"/>
          </a:xfrm>
          <a:custGeom>
            <a:avLst/>
            <a:gdLst/>
            <a:ahLst/>
            <a:cxnLst/>
            <a:rect l="l" t="t" r="r" b="b"/>
            <a:pathLst>
              <a:path w="474345" h="242570">
                <a:moveTo>
                  <a:pt x="473963" y="0"/>
                </a:moveTo>
                <a:lnTo>
                  <a:pt x="107696" y="0"/>
                </a:lnTo>
                <a:lnTo>
                  <a:pt x="0" y="242315"/>
                </a:lnTo>
                <a:lnTo>
                  <a:pt x="366268" y="242315"/>
                </a:lnTo>
                <a:lnTo>
                  <a:pt x="4739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016995" y="323088"/>
            <a:ext cx="474345" cy="242570"/>
          </a:xfrm>
          <a:custGeom>
            <a:avLst/>
            <a:gdLst/>
            <a:ahLst/>
            <a:cxnLst/>
            <a:rect l="l" t="t" r="r" b="b"/>
            <a:pathLst>
              <a:path w="474345" h="242570">
                <a:moveTo>
                  <a:pt x="0" y="242315"/>
                </a:moveTo>
                <a:lnTo>
                  <a:pt x="107696" y="0"/>
                </a:lnTo>
                <a:lnTo>
                  <a:pt x="473963" y="0"/>
                </a:lnTo>
                <a:lnTo>
                  <a:pt x="366268" y="242315"/>
                </a:lnTo>
                <a:lnTo>
                  <a:pt x="0" y="24231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41135"/>
            <a:ext cx="12167615" cy="413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2320950"/>
            <a:ext cx="12191999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0" y="2320950"/>
            <a:ext cx="12191999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7161E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8350" cy="6858000"/>
            <a:chOff x="0" y="0"/>
            <a:chExt cx="121983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" y="0"/>
              <a:ext cx="12188951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45280" y="1537716"/>
              <a:ext cx="8046720" cy="3190240"/>
            </a:xfrm>
            <a:custGeom>
              <a:avLst/>
              <a:gdLst/>
              <a:ahLst/>
              <a:cxnLst/>
              <a:rect l="l" t="t" r="r" b="b"/>
              <a:pathLst>
                <a:path w="8046720" h="3190240">
                  <a:moveTo>
                    <a:pt x="8046720" y="0"/>
                  </a:moveTo>
                  <a:lnTo>
                    <a:pt x="0" y="0"/>
                  </a:lnTo>
                  <a:lnTo>
                    <a:pt x="0" y="3189731"/>
                  </a:lnTo>
                  <a:lnTo>
                    <a:pt x="8046720" y="3189731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45280" y="1537716"/>
              <a:ext cx="8046720" cy="3190240"/>
            </a:xfrm>
            <a:custGeom>
              <a:avLst/>
              <a:gdLst/>
              <a:ahLst/>
              <a:cxnLst/>
              <a:rect l="l" t="t" r="r" b="b"/>
              <a:pathLst>
                <a:path w="8046720" h="3190240">
                  <a:moveTo>
                    <a:pt x="0" y="3189731"/>
                  </a:moveTo>
                  <a:lnTo>
                    <a:pt x="8046720" y="3189731"/>
                  </a:lnTo>
                  <a:lnTo>
                    <a:pt x="8046720" y="0"/>
                  </a:lnTo>
                  <a:lnTo>
                    <a:pt x="0" y="0"/>
                  </a:lnTo>
                  <a:lnTo>
                    <a:pt x="0" y="3189731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9412" y="2142744"/>
              <a:ext cx="7752588" cy="25907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4243" y="4410455"/>
              <a:ext cx="3934967" cy="2087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503" y="51815"/>
              <a:ext cx="2170176" cy="7117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041135"/>
              <a:ext cx="12167615" cy="41300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10200" y="4859518"/>
            <a:ext cx="687629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</a:t>
            </a:r>
            <a:r>
              <a:rPr lang="zh-CN" altLang="en-US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课题研究成果汇报</a:t>
            </a:r>
            <a:endParaRPr sz="1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94232"/>
            <a:ext cx="6400800" cy="4128770"/>
            <a:chOff x="0" y="1094232"/>
            <a:chExt cx="6400800" cy="412877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094232"/>
              <a:ext cx="6400800" cy="41285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1120140"/>
              <a:ext cx="6324599" cy="4026408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5494911" y="2471676"/>
            <a:ext cx="6791579" cy="1395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基于结构化数学知识库的青少年作业辅导大模型的幻觉抑制研究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257800" y="3868715"/>
            <a:ext cx="679157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张欣瑶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26SJ111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4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4140200" y="1536700"/>
            <a:ext cx="8046720" cy="3189731"/>
          </a:xfrm>
          <a:custGeom>
            <a:avLst/>
            <a:gdLst/>
            <a:ahLst/>
            <a:cxnLst/>
            <a:rect l="l" t="t" r="r" b="b"/>
            <a:pathLst>
              <a:path w="8046720" h="3189731">
                <a:moveTo>
                  <a:pt x="0" y="3189731"/>
                </a:moveTo>
                <a:lnTo>
                  <a:pt x="8046720" y="3189731"/>
                </a:lnTo>
                <a:lnTo>
                  <a:pt x="8046720" y="0"/>
                </a:lnTo>
                <a:lnTo>
                  <a:pt x="0" y="0"/>
                </a:lnTo>
                <a:lnTo>
                  <a:pt x="0" y="3189731"/>
                </a:lnTo>
                <a:close/>
              </a:path>
            </a:pathLst>
          </a:custGeom>
          <a:noFill/>
          <a:ln w="12700" cap="flat" cmpd="sng">
            <a:solidFill>
              <a:srgbClr val="F1F1F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67200" y="2260600"/>
            <a:ext cx="7747000" cy="259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4521200"/>
            <a:ext cx="39370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28600" y="50800"/>
            <a:ext cx="21717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6045200"/>
            <a:ext cx="12166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473200" y="4343400"/>
            <a:ext cx="901700" cy="901700"/>
          </a:xfrm>
          <a:prstGeom prst="ellipse">
            <a:avLst/>
          </a:prstGeom>
          <a:solidFill>
            <a:srgbClr val="4F81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2971800"/>
            <a:ext cx="162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研究绪论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9300" y="3467100"/>
            <a:ext cx="23495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200" b="0" i="0" u="none" strike="noStrike" dirty="0" err="1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</a:t>
            </a:r>
            <a:r>
              <a:rPr lang="en-US" sz="1200" b="0" i="0" u="none" strike="noStrike" dirty="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 · </a:t>
            </a:r>
            <a:r>
              <a:rPr lang="en-US" sz="1200" b="0" i="0" u="none" strike="noStrike" dirty="0" err="1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研究意义</a:t>
            </a:r>
            <a:r>
              <a:rPr lang="en-US" sz="1200" b="0" i="0" u="none" strike="noStrike" dirty="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 · </a:t>
            </a:r>
            <a:r>
              <a:rPr lang="en-US" sz="1200" b="0" i="0" u="none" strike="noStrike" dirty="0" err="1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研究现状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3048000" y="1104900"/>
            <a:ext cx="6096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C0504D"/>
                </a:solidFill>
                <a:latin typeface="微软雅黑"/>
                <a:ea typeface="微软雅黑"/>
                <a:cs typeface="微软雅黑"/>
                <a:sym typeface="微软雅黑"/>
              </a:rPr>
              <a:t>目录 | CONTENTS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946351">
            <a:off x="2247439" y="4349737"/>
            <a:ext cx="167736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70300" y="3136900"/>
            <a:ext cx="901700" cy="901700"/>
          </a:xfrm>
          <a:prstGeom prst="ellipse">
            <a:avLst/>
          </a:prstGeom>
          <a:solidFill>
            <a:srgbClr val="C0504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02000" y="4267200"/>
            <a:ext cx="162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0504D"/>
                </a:solidFill>
                <a:latin typeface="微软雅黑"/>
                <a:ea typeface="微软雅黑"/>
                <a:cs typeface="微软雅黑"/>
                <a:sym typeface="微软雅黑"/>
              </a:rPr>
              <a:t>内容与方法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33700" y="4775200"/>
            <a:ext cx="23495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核心内容 · 技术路线 · 创新亮点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51500" y="4343400"/>
            <a:ext cx="901700" cy="901700"/>
          </a:xfrm>
          <a:prstGeom prst="ellipse">
            <a:avLst/>
          </a:prstGeom>
          <a:solidFill>
            <a:srgbClr val="4F81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95900" y="2971800"/>
            <a:ext cx="162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过程与成果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27600" y="3467100"/>
            <a:ext cx="23495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关键步骤 · 核心产出 · 案例实证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946351">
            <a:off x="6425739" y="4349737"/>
            <a:ext cx="167736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848600" y="3136900"/>
            <a:ext cx="901700" cy="901700"/>
          </a:xfrm>
          <a:prstGeom prst="ellipse">
            <a:avLst/>
          </a:prstGeom>
          <a:solidFill>
            <a:srgbClr val="C0504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80300" y="4267200"/>
            <a:ext cx="162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0504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研究总结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4775200"/>
            <a:ext cx="23495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难点分析 · 不足反思 · 未来规划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829800" y="4343400"/>
            <a:ext cx="901700" cy="901700"/>
          </a:xfrm>
          <a:prstGeom prst="ellipse">
            <a:avLst/>
          </a:prstGeom>
          <a:solidFill>
            <a:srgbClr val="4F81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461500" y="2971800"/>
            <a:ext cx="162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展望致谢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05900" y="3467100"/>
            <a:ext cx="23495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成果回顾 · 未来展望 · 致谢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2136963">
            <a:off x="4287473" y="4349766"/>
            <a:ext cx="150889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7" name="Connector 27"/>
          <p:cNvCxnSpPr/>
          <p:nvPr/>
        </p:nvCxnSpPr>
        <p:spPr>
          <a:xfrm rot="2136963">
            <a:off x="8465773" y="4349766"/>
            <a:ext cx="150889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4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4140200" y="1536700"/>
            <a:ext cx="8046720" cy="3189731"/>
          </a:xfrm>
          <a:custGeom>
            <a:avLst/>
            <a:gdLst/>
            <a:ahLst/>
            <a:cxnLst/>
            <a:rect l="l" t="t" r="r" b="b"/>
            <a:pathLst>
              <a:path w="8046720" h="3189731">
                <a:moveTo>
                  <a:pt x="0" y="3189731"/>
                </a:moveTo>
                <a:lnTo>
                  <a:pt x="8046720" y="3189731"/>
                </a:lnTo>
                <a:lnTo>
                  <a:pt x="8046720" y="0"/>
                </a:lnTo>
                <a:lnTo>
                  <a:pt x="0" y="0"/>
                </a:lnTo>
                <a:lnTo>
                  <a:pt x="0" y="3189731"/>
                </a:lnTo>
                <a:close/>
              </a:path>
            </a:pathLst>
          </a:custGeom>
          <a:noFill/>
          <a:ln w="12700" cap="flat" cmpd="sng">
            <a:solidFill>
              <a:srgbClr val="F1F1F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67200" y="2260600"/>
            <a:ext cx="7747000" cy="259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4521200"/>
            <a:ext cx="39370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28600" y="50800"/>
            <a:ext cx="21717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6045200"/>
            <a:ext cx="12166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470400" y="3136900"/>
            <a:ext cx="32639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研究绪论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75100" y="51308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en-US" sz="1800" b="0" i="0" u="none" strike="noStrike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72200" y="51308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en-US" sz="1800" b="0" i="0" u="none" strike="noStrike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研究意义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75100" y="56134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国内外现状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172200" y="56134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理论基础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156200" y="952500"/>
            <a:ext cx="1879600" cy="1892300"/>
          </a:xfrm>
          <a:prstGeom prst="ellipse">
            <a:avLst/>
          </a:prstGeom>
          <a:noFill/>
          <a:ln w="50800" cap="flat" cmpd="sng">
            <a:solidFill>
              <a:srgbClr val="066C94">
                <a:alpha val="100000"/>
              </a:srgbClr>
            </a:solidFill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500" b="1" i="0" u="none" strike="noStrike" spc="-300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5"/>
            <a:ext cx="46368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课题研究的背景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76800" y="1295400"/>
            <a:ext cx="6629400" cy="449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1333357"/>
            <a:ext cx="6172200" cy="429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chemeClr val="bg2">
                    <a:lumMod val="50000"/>
                  </a:schemeClr>
                </a:solidFill>
                <a:latin typeface="Campton Light DEMO" panose="00000500000000000000" pitchFamily="50" charset="0"/>
                <a:cs typeface="Lato Light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· </a:t>
            </a:r>
            <a:r>
              <a:rPr lang="zh-CN" altLang="en-US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教育痛点</a:t>
            </a: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：</a:t>
            </a: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微软雅黑"/>
                <a:ea typeface="微软雅黑"/>
                <a:sym typeface="微软雅黑"/>
              </a:rPr>
              <a:t>通用大模型在初高中数学辅导中，常因缺乏课内知识约束而产生幻觉，误导使用者，严重影响辅导效果。</a:t>
            </a:r>
            <a:endParaRPr lang="en-US" altLang="zh-CN" sz="1800" dirty="0">
              <a:solidFill>
                <a:srgbClr val="404040"/>
              </a:solidFill>
              <a:latin typeface="微软雅黑"/>
              <a:ea typeface="微软雅黑"/>
              <a:sym typeface="微软雅黑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404040"/>
              </a:solidFill>
              <a:latin typeface="微软雅黑"/>
              <a:ea typeface="微软雅黑"/>
              <a:sym typeface="微软雅黑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· </a:t>
            </a:r>
            <a:r>
              <a:rPr lang="zh-CN" altLang="en-US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技术痛点</a:t>
            </a: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：</a:t>
            </a:r>
            <a:endParaRPr lang="en-US" altLang="zh-CN" sz="2000" b="1" dirty="0">
              <a:solidFill>
                <a:srgbClr val="C7161E"/>
              </a:solidFill>
              <a:latin typeface="微软雅黑"/>
              <a:ea typeface="微软雅黑"/>
            </a:endParaRP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微软雅黑"/>
                <a:ea typeface="微软雅黑"/>
                <a:cs typeface="+mn-ea"/>
                <a:sym typeface="微软雅黑"/>
              </a:rPr>
              <a:t>仅依靠联网搜索的通用大模型，因为网络中内容杂乱、并且无法精准匹配课内课本标准知识点，容易误用甚至编造定理、引用超纲内容，产生数学辅导幻觉。</a:t>
            </a:r>
            <a:endParaRPr lang="en-US" altLang="zh-CN" sz="1800" dirty="0">
              <a:solidFill>
                <a:srgbClr val="404040"/>
              </a:solidFill>
              <a:latin typeface="微软雅黑"/>
              <a:ea typeface="微软雅黑"/>
              <a:cs typeface="+mn-ea"/>
              <a:sym typeface="微软雅黑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404040"/>
              </a:solidFill>
              <a:latin typeface="微软雅黑"/>
              <a:ea typeface="微软雅黑"/>
              <a:sym typeface="微软雅黑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· </a:t>
            </a:r>
            <a:r>
              <a:rPr lang="zh-CN" altLang="en-US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研究动机</a:t>
            </a:r>
            <a:r>
              <a:rPr lang="en-US" altLang="zh-CN" sz="2000" b="1" dirty="0">
                <a:solidFill>
                  <a:srgbClr val="C7161E"/>
                </a:solidFill>
                <a:latin typeface="微软雅黑"/>
                <a:ea typeface="微软雅黑"/>
                <a:sym typeface="微软雅黑"/>
              </a:rPr>
              <a:t>：</a:t>
            </a: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微软雅黑"/>
                <a:ea typeface="微软雅黑"/>
              </a:rPr>
              <a:t>本研究希望通过构建一个专门针对课内数学知识的结构化知识库，来引导大模型做出更准确的回答。 </a:t>
            </a:r>
            <a:endParaRPr lang="zh-CN" altLang="en-US" sz="2000" b="1" dirty="0">
              <a:solidFill>
                <a:srgbClr val="C7161E"/>
              </a:solidFill>
              <a:latin typeface="微软雅黑"/>
              <a:ea typeface="微软雅黑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55542"/>
            <a:ext cx="4002947" cy="3546915"/>
          </a:xfrm>
          <a:prstGeom prst="rect">
            <a:avLst/>
          </a:prstGeom>
        </p:spPr>
      </p:pic>
      <p:sp>
        <p:nvSpPr>
          <p:cNvPr id="10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5"/>
            <a:ext cx="46368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课题研究的意义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Group 33"/>
          <p:cNvGrpSpPr/>
          <p:nvPr/>
        </p:nvGrpSpPr>
        <p:grpSpPr>
          <a:xfrm rot="16200000">
            <a:off x="4199666" y="1712605"/>
            <a:ext cx="1894078" cy="2231577"/>
            <a:chOff x="1208671" y="1659213"/>
            <a:chExt cx="2151201" cy="2534514"/>
          </a:xfrm>
          <a:solidFill>
            <a:schemeClr val="accent1"/>
          </a:solidFill>
        </p:grpSpPr>
        <p:sp>
          <p:nvSpPr>
            <p:cNvPr id="10" name="Flowchart: Alternate Process 24"/>
            <p:cNvSpPr/>
            <p:nvPr/>
          </p:nvSpPr>
          <p:spPr>
            <a:xfrm>
              <a:off x="1208671" y="1659213"/>
              <a:ext cx="2151201" cy="2151201"/>
            </a:xfrm>
            <a:prstGeom prst="flowChartAlternate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" name="Isosceles Triangle 31"/>
            <p:cNvSpPr/>
            <p:nvPr/>
          </p:nvSpPr>
          <p:spPr>
            <a:xfrm rot="10800000">
              <a:off x="2007871" y="3790478"/>
              <a:ext cx="552799" cy="4032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33"/>
          <p:cNvGrpSpPr/>
          <p:nvPr/>
        </p:nvGrpSpPr>
        <p:grpSpPr>
          <a:xfrm>
            <a:off x="6272689" y="1881353"/>
            <a:ext cx="1894080" cy="2231576"/>
            <a:chOff x="1208671" y="1659213"/>
            <a:chExt cx="2151201" cy="2534514"/>
          </a:xfrm>
          <a:solidFill>
            <a:schemeClr val="accent2"/>
          </a:solidFill>
        </p:grpSpPr>
        <p:sp>
          <p:nvSpPr>
            <p:cNvPr id="13" name="Flowchart: Alternate Process 33"/>
            <p:cNvSpPr/>
            <p:nvPr/>
          </p:nvSpPr>
          <p:spPr>
            <a:xfrm>
              <a:off x="1208671" y="1659213"/>
              <a:ext cx="2151201" cy="2151201"/>
            </a:xfrm>
            <a:prstGeom prst="flowChartAlternate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Isosceles Triangle 34"/>
            <p:cNvSpPr/>
            <p:nvPr/>
          </p:nvSpPr>
          <p:spPr>
            <a:xfrm rot="10800000">
              <a:off x="2007871" y="3790478"/>
              <a:ext cx="552799" cy="4032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33"/>
          <p:cNvGrpSpPr/>
          <p:nvPr/>
        </p:nvGrpSpPr>
        <p:grpSpPr>
          <a:xfrm rot="5400000">
            <a:off x="6114671" y="3944181"/>
            <a:ext cx="1894078" cy="2231577"/>
            <a:chOff x="1208671" y="1659213"/>
            <a:chExt cx="2151201" cy="2534514"/>
          </a:xfrm>
          <a:solidFill>
            <a:schemeClr val="accent3"/>
          </a:solidFill>
        </p:grpSpPr>
        <p:sp>
          <p:nvSpPr>
            <p:cNvPr id="16" name="Flowchart: Alternate Process 43"/>
            <p:cNvSpPr/>
            <p:nvPr/>
          </p:nvSpPr>
          <p:spPr>
            <a:xfrm>
              <a:off x="1208671" y="1659213"/>
              <a:ext cx="2151201" cy="2151201"/>
            </a:xfrm>
            <a:prstGeom prst="flowChartAlternate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Isosceles Triangle 48"/>
            <p:cNvSpPr/>
            <p:nvPr/>
          </p:nvSpPr>
          <p:spPr>
            <a:xfrm rot="10800000">
              <a:off x="2007871" y="3790478"/>
              <a:ext cx="552799" cy="4032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Group 33"/>
          <p:cNvGrpSpPr/>
          <p:nvPr/>
        </p:nvGrpSpPr>
        <p:grpSpPr>
          <a:xfrm rot="10800000">
            <a:off x="4013363" y="3768864"/>
            <a:ext cx="1894080" cy="2231576"/>
            <a:chOff x="1208671" y="1659213"/>
            <a:chExt cx="2151201" cy="2534514"/>
          </a:xfrm>
          <a:solidFill>
            <a:schemeClr val="accent4"/>
          </a:solidFill>
        </p:grpSpPr>
        <p:sp>
          <p:nvSpPr>
            <p:cNvPr id="19" name="Flowchart: Alternate Process 52"/>
            <p:cNvSpPr/>
            <p:nvPr/>
          </p:nvSpPr>
          <p:spPr>
            <a:xfrm>
              <a:off x="1208671" y="1659213"/>
              <a:ext cx="2151201" cy="2151201"/>
            </a:xfrm>
            <a:prstGeom prst="flowChartAlternate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0" name="Isosceles Triangle 53"/>
            <p:cNvSpPr/>
            <p:nvPr/>
          </p:nvSpPr>
          <p:spPr>
            <a:xfrm rot="10800000">
              <a:off x="2007871" y="3790478"/>
              <a:ext cx="552799" cy="4032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Group 134"/>
          <p:cNvGrpSpPr>
            <a:grpSpLocks noChangeAspect="1"/>
          </p:cNvGrpSpPr>
          <p:nvPr/>
        </p:nvGrpSpPr>
        <p:grpSpPr>
          <a:xfrm>
            <a:off x="3544347" y="2342896"/>
            <a:ext cx="938029" cy="938813"/>
            <a:chOff x="3287425" y="1417883"/>
            <a:chExt cx="648499" cy="649042"/>
          </a:xfrm>
        </p:grpSpPr>
        <p:sp>
          <p:nvSpPr>
            <p:cNvPr id="22" name="Oval 88"/>
            <p:cNvSpPr>
              <a:spLocks noChangeAspect="1"/>
            </p:cNvSpPr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Oval 94"/>
            <p:cNvSpPr>
              <a:spLocks noChangeAspect="1"/>
            </p:cNvSpPr>
            <p:nvPr/>
          </p:nvSpPr>
          <p:spPr>
            <a:xfrm>
              <a:off x="3362252" y="1492772"/>
              <a:ext cx="510982" cy="511411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24" name="Group 129"/>
          <p:cNvGrpSpPr>
            <a:grpSpLocks noChangeAspect="1"/>
          </p:cNvGrpSpPr>
          <p:nvPr/>
        </p:nvGrpSpPr>
        <p:grpSpPr>
          <a:xfrm>
            <a:off x="7697754" y="2342896"/>
            <a:ext cx="938029" cy="938813"/>
            <a:chOff x="2779491" y="2517212"/>
            <a:chExt cx="648499" cy="649042"/>
          </a:xfrm>
        </p:grpSpPr>
        <p:sp>
          <p:nvSpPr>
            <p:cNvPr id="25" name="Oval 96"/>
            <p:cNvSpPr>
              <a:spLocks noChangeAspect="1"/>
            </p:cNvSpPr>
            <p:nvPr/>
          </p:nvSpPr>
          <p:spPr>
            <a:xfrm>
              <a:off x="2779491" y="2517212"/>
              <a:ext cx="648499" cy="64904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6" name="Oval 110"/>
            <p:cNvSpPr>
              <a:spLocks noChangeAspect="1"/>
            </p:cNvSpPr>
            <p:nvPr/>
          </p:nvSpPr>
          <p:spPr>
            <a:xfrm>
              <a:off x="2854318" y="2592102"/>
              <a:ext cx="498845" cy="499263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7" name="Group 130"/>
          <p:cNvGrpSpPr>
            <a:grpSpLocks noChangeAspect="1"/>
          </p:cNvGrpSpPr>
          <p:nvPr/>
        </p:nvGrpSpPr>
        <p:grpSpPr>
          <a:xfrm>
            <a:off x="7637360" y="4591590"/>
            <a:ext cx="938029" cy="938813"/>
            <a:chOff x="3287425" y="3613920"/>
            <a:chExt cx="648499" cy="649042"/>
          </a:xfrm>
        </p:grpSpPr>
        <p:sp>
          <p:nvSpPr>
            <p:cNvPr id="28" name="Oval 127"/>
            <p:cNvSpPr>
              <a:spLocks noChangeAspect="1"/>
            </p:cNvSpPr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9" name="Oval 128"/>
            <p:cNvSpPr>
              <a:spLocks noChangeAspect="1"/>
            </p:cNvSpPr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0" name="Group 133"/>
          <p:cNvGrpSpPr>
            <a:grpSpLocks noChangeAspect="1"/>
          </p:cNvGrpSpPr>
          <p:nvPr/>
        </p:nvGrpSpPr>
        <p:grpSpPr>
          <a:xfrm>
            <a:off x="3561903" y="4591590"/>
            <a:ext cx="938029" cy="938813"/>
            <a:chOff x="5249342" y="1406453"/>
            <a:chExt cx="648499" cy="649042"/>
          </a:xfrm>
        </p:grpSpPr>
        <p:sp>
          <p:nvSpPr>
            <p:cNvPr id="31" name="Oval 130"/>
            <p:cNvSpPr>
              <a:spLocks noChangeAspect="1"/>
            </p:cNvSpPr>
            <p:nvPr/>
          </p:nvSpPr>
          <p:spPr>
            <a:xfrm>
              <a:off x="5249342" y="1406453"/>
              <a:ext cx="648499" cy="64904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2" name="Oval 131"/>
            <p:cNvSpPr>
              <a:spLocks noChangeAspect="1"/>
            </p:cNvSpPr>
            <p:nvPr/>
          </p:nvSpPr>
          <p:spPr>
            <a:xfrm>
              <a:off x="5324169" y="1481343"/>
              <a:ext cx="498845" cy="499263"/>
            </a:xfrm>
            <a:prstGeom prst="ellipse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33" name="Freeform 187"/>
          <p:cNvSpPr>
            <a:spLocks noEditPoints="1"/>
          </p:cNvSpPr>
          <p:nvPr/>
        </p:nvSpPr>
        <p:spPr bwMode="auto">
          <a:xfrm>
            <a:off x="4678655" y="2593342"/>
            <a:ext cx="640568" cy="413972"/>
          </a:xfrm>
          <a:custGeom>
            <a:avLst/>
            <a:gdLst/>
            <a:ahLst/>
            <a:cxnLst>
              <a:cxn ang="0">
                <a:pos x="68" y="25"/>
              </a:cxn>
              <a:cxn ang="0">
                <a:pos x="34" y="44"/>
              </a:cxn>
              <a:cxn ang="0">
                <a:pos x="1" y="25"/>
              </a:cxn>
              <a:cxn ang="0">
                <a:pos x="0" y="22"/>
              </a:cxn>
              <a:cxn ang="0">
                <a:pos x="1" y="20"/>
              </a:cxn>
              <a:cxn ang="0">
                <a:pos x="34" y="0"/>
              </a:cxn>
              <a:cxn ang="0">
                <a:pos x="68" y="20"/>
              </a:cxn>
              <a:cxn ang="0">
                <a:pos x="68" y="22"/>
              </a:cxn>
              <a:cxn ang="0">
                <a:pos x="68" y="25"/>
              </a:cxn>
              <a:cxn ang="0">
                <a:pos x="49" y="9"/>
              </a:cxn>
              <a:cxn ang="0">
                <a:pos x="51" y="17"/>
              </a:cxn>
              <a:cxn ang="0">
                <a:pos x="34" y="34"/>
              </a:cxn>
              <a:cxn ang="0">
                <a:pos x="17" y="17"/>
              </a:cxn>
              <a:cxn ang="0">
                <a:pos x="20" y="9"/>
              </a:cxn>
              <a:cxn ang="0">
                <a:pos x="5" y="22"/>
              </a:cxn>
              <a:cxn ang="0">
                <a:pos x="34" y="39"/>
              </a:cxn>
              <a:cxn ang="0">
                <a:pos x="64" y="22"/>
              </a:cxn>
              <a:cxn ang="0">
                <a:pos x="49" y="9"/>
              </a:cxn>
              <a:cxn ang="0">
                <a:pos x="34" y="6"/>
              </a:cxn>
              <a:cxn ang="0">
                <a:pos x="23" y="17"/>
              </a:cxn>
              <a:cxn ang="0">
                <a:pos x="25" y="19"/>
              </a:cxn>
              <a:cxn ang="0">
                <a:pos x="27" y="17"/>
              </a:cxn>
              <a:cxn ang="0">
                <a:pos x="34" y="9"/>
              </a:cxn>
              <a:cxn ang="0">
                <a:pos x="36" y="8"/>
              </a:cxn>
              <a:cxn ang="0">
                <a:pos x="34" y="6"/>
              </a:cxn>
            </a:cxnLst>
            <a:rect l="0" t="0" r="r" b="b"/>
            <a:pathLst>
              <a:path w="68" h="44">
                <a:moveTo>
                  <a:pt x="68" y="25"/>
                </a:moveTo>
                <a:cubicBezTo>
                  <a:pt x="61" y="36"/>
                  <a:pt x="48" y="44"/>
                  <a:pt x="34" y="44"/>
                </a:cubicBezTo>
                <a:cubicBezTo>
                  <a:pt x="21" y="44"/>
                  <a:pt x="8" y="36"/>
                  <a:pt x="1" y="25"/>
                </a:cubicBezTo>
                <a:cubicBezTo>
                  <a:pt x="1" y="24"/>
                  <a:pt x="0" y="23"/>
                  <a:pt x="0" y="22"/>
                </a:cubicBezTo>
                <a:cubicBezTo>
                  <a:pt x="0" y="21"/>
                  <a:pt x="1" y="20"/>
                  <a:pt x="1" y="20"/>
                </a:cubicBezTo>
                <a:cubicBezTo>
                  <a:pt x="8" y="8"/>
                  <a:pt x="21" y="0"/>
                  <a:pt x="34" y="0"/>
                </a:cubicBezTo>
                <a:cubicBezTo>
                  <a:pt x="48" y="0"/>
                  <a:pt x="61" y="8"/>
                  <a:pt x="68" y="20"/>
                </a:cubicBezTo>
                <a:cubicBezTo>
                  <a:pt x="68" y="20"/>
                  <a:pt x="68" y="21"/>
                  <a:pt x="68" y="22"/>
                </a:cubicBezTo>
                <a:cubicBezTo>
                  <a:pt x="68" y="23"/>
                  <a:pt x="68" y="24"/>
                  <a:pt x="68" y="25"/>
                </a:cubicBezTo>
                <a:close/>
                <a:moveTo>
                  <a:pt x="49" y="9"/>
                </a:moveTo>
                <a:cubicBezTo>
                  <a:pt x="51" y="11"/>
                  <a:pt x="51" y="14"/>
                  <a:pt x="51" y="17"/>
                </a:cubicBezTo>
                <a:cubicBezTo>
                  <a:pt x="51" y="27"/>
                  <a:pt x="44" y="34"/>
                  <a:pt x="34" y="34"/>
                </a:cubicBezTo>
                <a:cubicBezTo>
                  <a:pt x="25" y="34"/>
                  <a:pt x="17" y="27"/>
                  <a:pt x="17" y="17"/>
                </a:cubicBezTo>
                <a:cubicBezTo>
                  <a:pt x="17" y="14"/>
                  <a:pt x="18" y="11"/>
                  <a:pt x="20" y="9"/>
                </a:cubicBezTo>
                <a:cubicBezTo>
                  <a:pt x="14" y="12"/>
                  <a:pt x="9" y="17"/>
                  <a:pt x="5" y="22"/>
                </a:cubicBezTo>
                <a:cubicBezTo>
                  <a:pt x="12" y="32"/>
                  <a:pt x="22" y="39"/>
                  <a:pt x="34" y="39"/>
                </a:cubicBezTo>
                <a:cubicBezTo>
                  <a:pt x="47" y="39"/>
                  <a:pt x="57" y="32"/>
                  <a:pt x="64" y="22"/>
                </a:cubicBezTo>
                <a:cubicBezTo>
                  <a:pt x="60" y="17"/>
                  <a:pt x="55" y="12"/>
                  <a:pt x="49" y="9"/>
                </a:cubicBezTo>
                <a:close/>
                <a:moveTo>
                  <a:pt x="34" y="6"/>
                </a:moveTo>
                <a:cubicBezTo>
                  <a:pt x="28" y="6"/>
                  <a:pt x="23" y="11"/>
                  <a:pt x="23" y="17"/>
                </a:cubicBezTo>
                <a:cubicBezTo>
                  <a:pt x="23" y="18"/>
                  <a:pt x="24" y="19"/>
                  <a:pt x="25" y="19"/>
                </a:cubicBezTo>
                <a:cubicBezTo>
                  <a:pt x="26" y="19"/>
                  <a:pt x="27" y="18"/>
                  <a:pt x="27" y="17"/>
                </a:cubicBezTo>
                <a:cubicBezTo>
                  <a:pt x="27" y="13"/>
                  <a:pt x="30" y="9"/>
                  <a:pt x="34" y="9"/>
                </a:cubicBezTo>
                <a:cubicBezTo>
                  <a:pt x="35" y="9"/>
                  <a:pt x="36" y="9"/>
                  <a:pt x="36" y="8"/>
                </a:cubicBezTo>
                <a:cubicBezTo>
                  <a:pt x="36" y="7"/>
                  <a:pt x="35" y="6"/>
                  <a:pt x="34" y="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4" name="Freeform 52"/>
          <p:cNvSpPr>
            <a:spLocks noEditPoints="1"/>
          </p:cNvSpPr>
          <p:nvPr/>
        </p:nvSpPr>
        <p:spPr bwMode="auto">
          <a:xfrm>
            <a:off x="6900413" y="2508434"/>
            <a:ext cx="583789" cy="583789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27" y="8"/>
              </a:cxn>
              <a:cxn ang="0">
                <a:pos x="8" y="27"/>
              </a:cxn>
              <a:cxn ang="0">
                <a:pos x="27" y="47"/>
              </a:cxn>
              <a:cxn ang="0">
                <a:pos x="47" y="27"/>
              </a:cxn>
              <a:cxn ang="0">
                <a:pos x="27" y="8"/>
              </a:cxn>
              <a:cxn ang="0">
                <a:pos x="32" y="31"/>
              </a:cxn>
              <a:cxn ang="0">
                <a:pos x="31" y="32"/>
              </a:cxn>
              <a:cxn ang="0">
                <a:pos x="19" y="32"/>
              </a:cxn>
              <a:cxn ang="0">
                <a:pos x="18" y="31"/>
              </a:cxn>
              <a:cxn ang="0">
                <a:pos x="18" y="28"/>
              </a:cxn>
              <a:cxn ang="0">
                <a:pos x="19" y="27"/>
              </a:cxn>
              <a:cxn ang="0">
                <a:pos x="27" y="27"/>
              </a:cxn>
              <a:cxn ang="0">
                <a:pos x="27" y="15"/>
              </a:cxn>
              <a:cxn ang="0">
                <a:pos x="28" y="14"/>
              </a:cxn>
              <a:cxn ang="0">
                <a:pos x="31" y="14"/>
              </a:cxn>
              <a:cxn ang="0">
                <a:pos x="32" y="15"/>
              </a:cxn>
              <a:cxn ang="0">
                <a:pos x="32" y="31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5" name="Freeform 56"/>
          <p:cNvSpPr>
            <a:spLocks noEditPoints="1"/>
          </p:cNvSpPr>
          <p:nvPr/>
        </p:nvSpPr>
        <p:spPr bwMode="auto">
          <a:xfrm>
            <a:off x="6912799" y="4730467"/>
            <a:ext cx="559020" cy="559020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6" name="Freeform 152"/>
          <p:cNvSpPr>
            <a:spLocks noEditPoints="1"/>
          </p:cNvSpPr>
          <p:nvPr/>
        </p:nvSpPr>
        <p:spPr bwMode="auto">
          <a:xfrm>
            <a:off x="4704107" y="4777786"/>
            <a:ext cx="545678" cy="504280"/>
          </a:xfrm>
          <a:custGeom>
            <a:avLst/>
            <a:gdLst/>
            <a:ahLst/>
            <a:cxnLst>
              <a:cxn ang="0">
                <a:pos x="67" y="20"/>
              </a:cxn>
              <a:cxn ang="0">
                <a:pos x="46" y="36"/>
              </a:cxn>
              <a:cxn ang="0">
                <a:pos x="42" y="40"/>
              </a:cxn>
              <a:cxn ang="0">
                <a:pos x="39" y="47"/>
              </a:cxn>
              <a:cxn ang="0">
                <a:pos x="44" y="52"/>
              </a:cxn>
              <a:cxn ang="0">
                <a:pos x="52" y="58"/>
              </a:cxn>
              <a:cxn ang="0">
                <a:pos x="52" y="61"/>
              </a:cxn>
              <a:cxn ang="0">
                <a:pos x="51" y="62"/>
              </a:cxn>
              <a:cxn ang="0">
                <a:pos x="17" y="62"/>
              </a:cxn>
              <a:cxn ang="0">
                <a:pos x="16" y="61"/>
              </a:cxn>
              <a:cxn ang="0">
                <a:pos x="16" y="58"/>
              </a:cxn>
              <a:cxn ang="0">
                <a:pos x="24" y="52"/>
              </a:cxn>
              <a:cxn ang="0">
                <a:pos x="29" y="47"/>
              </a:cxn>
              <a:cxn ang="0">
                <a:pos x="26" y="40"/>
              </a:cxn>
              <a:cxn ang="0">
                <a:pos x="22" y="36"/>
              </a:cxn>
              <a:cxn ang="0">
                <a:pos x="0" y="20"/>
              </a:cxn>
              <a:cxn ang="0">
                <a:pos x="0" y="15"/>
              </a:cxn>
              <a:cxn ang="0">
                <a:pos x="4" y="11"/>
              </a:cxn>
              <a:cxn ang="0">
                <a:pos x="16" y="11"/>
              </a:cxn>
              <a:cxn ang="0">
                <a:pos x="16" y="7"/>
              </a:cxn>
              <a:cxn ang="0">
                <a:pos x="22" y="0"/>
              </a:cxn>
              <a:cxn ang="0">
                <a:pos x="45" y="0"/>
              </a:cxn>
              <a:cxn ang="0">
                <a:pos x="52" y="7"/>
              </a:cxn>
              <a:cxn ang="0">
                <a:pos x="52" y="11"/>
              </a:cxn>
              <a:cxn ang="0">
                <a:pos x="63" y="11"/>
              </a:cxn>
              <a:cxn ang="0">
                <a:pos x="67" y="15"/>
              </a:cxn>
              <a:cxn ang="0">
                <a:pos x="67" y="20"/>
              </a:cxn>
              <a:cxn ang="0">
                <a:pos x="16" y="16"/>
              </a:cxn>
              <a:cxn ang="0">
                <a:pos x="6" y="16"/>
              </a:cxn>
              <a:cxn ang="0">
                <a:pos x="6" y="20"/>
              </a:cxn>
              <a:cxn ang="0">
                <a:pos x="19" y="31"/>
              </a:cxn>
              <a:cxn ang="0">
                <a:pos x="16" y="16"/>
              </a:cxn>
              <a:cxn ang="0">
                <a:pos x="62" y="16"/>
              </a:cxn>
              <a:cxn ang="0">
                <a:pos x="52" y="16"/>
              </a:cxn>
              <a:cxn ang="0">
                <a:pos x="49" y="31"/>
              </a:cxn>
              <a:cxn ang="0">
                <a:pos x="62" y="20"/>
              </a:cxn>
              <a:cxn ang="0">
                <a:pos x="62" y="16"/>
              </a:cxn>
            </a:cxnLst>
            <a:rect l="0" t="0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163638" y="2007444"/>
            <a:ext cx="2492738" cy="1192449"/>
            <a:chOff x="1163638" y="2217765"/>
            <a:chExt cx="2492738" cy="1192449"/>
          </a:xfrm>
        </p:grpSpPr>
        <p:sp>
          <p:nvSpPr>
            <p:cNvPr id="38" name="矩形 37"/>
            <p:cNvSpPr/>
            <p:nvPr/>
          </p:nvSpPr>
          <p:spPr>
            <a:xfrm>
              <a:off x="1163638" y="2671870"/>
              <a:ext cx="2492738" cy="738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减少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AI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错误解答误导中小学生，筑牢学习内容准确性根基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。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减轻教师答疑压力，提升效率。</a:t>
              </a:r>
              <a:endPara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445788" y="2217765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教育层面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536888" y="2007444"/>
            <a:ext cx="2492738" cy="1192449"/>
            <a:chOff x="1163638" y="2217765"/>
            <a:chExt cx="2492738" cy="1192449"/>
          </a:xfrm>
        </p:grpSpPr>
        <p:sp>
          <p:nvSpPr>
            <p:cNvPr id="41" name="矩形 40"/>
            <p:cNvSpPr/>
            <p:nvPr/>
          </p:nvSpPr>
          <p:spPr>
            <a:xfrm>
              <a:off x="1163638" y="2671870"/>
              <a:ext cx="2492738" cy="738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验证结构化数学学科知识的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RAG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对于大模型幻觉有抑制效果，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探索大模型场景化优化的可行路径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  <a:endPara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163638" y="2217765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技术层面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536888" y="4344093"/>
            <a:ext cx="2492738" cy="1180458"/>
            <a:chOff x="1163638" y="2217765"/>
            <a:chExt cx="2492738" cy="1180458"/>
          </a:xfrm>
        </p:grpSpPr>
        <p:sp>
          <p:nvSpPr>
            <p:cNvPr id="44" name="矩形 43"/>
            <p:cNvSpPr/>
            <p:nvPr/>
          </p:nvSpPr>
          <p:spPr>
            <a:xfrm>
              <a:off x="1163638" y="2671870"/>
              <a:ext cx="2492738" cy="7263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探索低成本、易复现的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RAG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系统搭建方案，简化技术流程与部署成本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，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锻炼我的科研能力。</a:t>
              </a:r>
              <a:endParaRPr lang="en-US" altLang="zh-CN" sz="11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3638" y="2217765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实践层面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163638" y="4344093"/>
            <a:ext cx="2492738" cy="1192449"/>
            <a:chOff x="1163638" y="2217765"/>
            <a:chExt cx="2492738" cy="1192449"/>
          </a:xfrm>
        </p:grpSpPr>
        <p:sp>
          <p:nvSpPr>
            <p:cNvPr id="47" name="矩形 46"/>
            <p:cNvSpPr/>
            <p:nvPr/>
          </p:nvSpPr>
          <p:spPr>
            <a:xfrm>
              <a:off x="1163638" y="2671870"/>
              <a:ext cx="2492738" cy="738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+mn-ea"/>
                  <a:sym typeface="微软雅黑"/>
                </a:rPr>
                <a:t>推动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/>
                  <a:ea typeface="微软雅黑"/>
                  <a:cs typeface="+mn-ea"/>
                  <a:sym typeface="微软雅黑"/>
                </a:rPr>
                <a:t>AI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/>
                  <a:ea typeface="微软雅黑"/>
                  <a:cs typeface="+mn-ea"/>
                  <a:sym typeface="微软雅黑"/>
                </a:rPr>
                <a:t>技术在学习场景中的应用，推动，为智慧课堂建设与个性化学习发展提供可落地的实践参考。</a:t>
              </a:r>
              <a:endPara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445788" y="2217765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chemeClr val="accent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应用层面</a:t>
              </a:r>
            </a:p>
          </p:txBody>
        </p:sp>
      </p:grpSp>
      <p:sp>
        <p:nvSpPr>
          <p:cNvPr id="49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3"/>
            <a:ext cx="442427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课题研究的国内外现状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30"/>
          <p:cNvSpPr/>
          <p:nvPr/>
        </p:nvSpPr>
        <p:spPr>
          <a:xfrm>
            <a:off x="506613" y="1920665"/>
            <a:ext cx="3456517" cy="331744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5pPr>
          </a:lstStyle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国内已有学者成功尝试降低大模型幻觉率。吴信东等构建</a:t>
            </a:r>
            <a:r>
              <a:rPr lang="en-US" altLang="zh-CN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BEKO</a:t>
            </a: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框架，采用大语言模型与知识图谱双向增强机制，显著提升大模型回答的完整性。陈静等已研究证明了在垂直领域，动态三元组和融合微调策略大语言模型对抗幻觉优化的优越性。冯巍山等研究用对抗性四元组有效识别、并缓解了大模型自相矛盾型幻觉问题。</a:t>
            </a:r>
          </a:p>
        </p:txBody>
      </p:sp>
      <p:sp>
        <p:nvSpPr>
          <p:cNvPr id="51" name="TextBox 32"/>
          <p:cNvSpPr/>
          <p:nvPr/>
        </p:nvSpPr>
        <p:spPr>
          <a:xfrm>
            <a:off x="8074361" y="2091771"/>
            <a:ext cx="3456516" cy="30219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defRPr>
            </a:lvl5pPr>
          </a:lstStyle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国外聚焦自一致性、过程监督等技术路径。</a:t>
            </a:r>
            <a:r>
              <a:rPr lang="en-US" altLang="zh-CN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Hunter Lightman </a:t>
            </a: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等提出过程监督范式，构建</a:t>
            </a:r>
            <a:r>
              <a:rPr lang="en-US" altLang="zh-CN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PRM800K </a:t>
            </a: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数据集，证明过程监督比结果监督更能提升模型推理可靠性。</a:t>
            </a:r>
            <a:r>
              <a:rPr lang="en-US" altLang="zh-CN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Jason Wei</a:t>
            </a:r>
            <a:r>
              <a:rPr lang="zh-CN" altLang="en-US" sz="16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等提出自一致性解码策略，通过采样多条推理路径和多数投票选择最一致答案，显著减少随机输出偏差与模型幻觉。</a:t>
            </a:r>
          </a:p>
        </p:txBody>
      </p:sp>
      <p:grpSp>
        <p:nvGrpSpPr>
          <p:cNvPr id="53" name="组合 5"/>
          <p:cNvGrpSpPr/>
          <p:nvPr/>
        </p:nvGrpSpPr>
        <p:grpSpPr>
          <a:xfrm>
            <a:off x="4176185" y="1921933"/>
            <a:ext cx="3839633" cy="3835400"/>
            <a:chOff x="0" y="0"/>
            <a:chExt cx="2880320" cy="2878076"/>
          </a:xfrm>
        </p:grpSpPr>
        <p:grpSp>
          <p:nvGrpSpPr>
            <p:cNvPr id="54" name="组合 24"/>
            <p:cNvGrpSpPr/>
            <p:nvPr/>
          </p:nvGrpSpPr>
          <p:grpSpPr>
            <a:xfrm>
              <a:off x="0" y="0"/>
              <a:ext cx="2880320" cy="2878076"/>
              <a:chOff x="0" y="0"/>
              <a:chExt cx="2883157" cy="2880912"/>
            </a:xfrm>
          </p:grpSpPr>
          <p:sp>
            <p:nvSpPr>
              <p:cNvPr id="59" name="椭圆 25"/>
              <p:cNvSpPr/>
              <p:nvPr/>
            </p:nvSpPr>
            <p:spPr>
              <a:xfrm rot="-5400000" flipH="1" flipV="1">
                <a:off x="0" y="633239"/>
                <a:ext cx="1568230" cy="1568230"/>
              </a:xfrm>
              <a:custGeom>
                <a:avLst/>
                <a:gdLst>
                  <a:gd name="txL" fmla="*/ 0 w 1568230"/>
                  <a:gd name="txT" fmla="*/ 0 h 1568230"/>
                  <a:gd name="txR" fmla="*/ 1568230 w 1568230"/>
                  <a:gd name="txB" fmla="*/ 1568230 h 1568230"/>
                </a:gdLst>
                <a:ahLst/>
                <a:cxnLst>
                  <a:cxn ang="0">
                    <a:pos x="0" y="906535"/>
                  </a:cxn>
                  <a:cxn ang="0">
                    <a:pos x="128070" y="917835"/>
                  </a:cxn>
                  <a:cxn ang="0">
                    <a:pos x="917835" y="128070"/>
                  </a:cxn>
                  <a:cxn ang="0">
                    <a:pos x="906536" y="0"/>
                  </a:cxn>
                  <a:cxn ang="0">
                    <a:pos x="1568230" y="778465"/>
                  </a:cxn>
                  <a:cxn ang="0">
                    <a:pos x="778465" y="1568230"/>
                  </a:cxn>
                  <a:cxn ang="0">
                    <a:pos x="0" y="906535"/>
                  </a:cxn>
                </a:cxnLst>
                <a:rect l="txL" t="txT" r="txR" b="txB"/>
                <a:pathLst>
                  <a:path w="1568230" h="1568230">
                    <a:moveTo>
                      <a:pt x="0" y="906535"/>
                    </a:moveTo>
                    <a:cubicBezTo>
                      <a:pt x="41578" y="914292"/>
                      <a:pt x="84411" y="917835"/>
                      <a:pt x="128070" y="917835"/>
                    </a:cubicBezTo>
                    <a:cubicBezTo>
                      <a:pt x="564245" y="917835"/>
                      <a:pt x="917835" y="564245"/>
                      <a:pt x="917835" y="128070"/>
                    </a:cubicBezTo>
                    <a:cubicBezTo>
                      <a:pt x="917835" y="84411"/>
                      <a:pt x="914292" y="41579"/>
                      <a:pt x="906536" y="0"/>
                    </a:cubicBezTo>
                    <a:cubicBezTo>
                      <a:pt x="1281884" y="60314"/>
                      <a:pt x="1568230" y="385950"/>
                      <a:pt x="1568230" y="778465"/>
                    </a:cubicBezTo>
                    <a:cubicBezTo>
                      <a:pt x="1568230" y="1214640"/>
                      <a:pt x="1214640" y="1568230"/>
                      <a:pt x="778465" y="1568230"/>
                    </a:cubicBezTo>
                    <a:cubicBezTo>
                      <a:pt x="385950" y="1568230"/>
                      <a:pt x="60314" y="1281883"/>
                      <a:pt x="0" y="90653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28575">
                <a:solidFill>
                  <a:srgbClr val="F2F2F2"/>
                </a:solidFill>
              </a:ln>
              <a:effectLst>
                <a:outerShdw blurRad="88900" dist="75434" dir="2699985" rotWithShape="0">
                  <a:scrgbClr r="0" g="0" b="0">
                    <a:alpha val="23000"/>
                  </a:scrgbClr>
                </a:outerShdw>
              </a:effectLst>
            </p:spPr>
            <p:txBody>
              <a:bodyPr/>
              <a:lstStyle/>
              <a:p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0" name="椭圆 25"/>
              <p:cNvSpPr/>
              <p:nvPr/>
            </p:nvSpPr>
            <p:spPr>
              <a:xfrm rot="10800000" flipH="1" flipV="1">
                <a:off x="635483" y="1312682"/>
                <a:ext cx="1568230" cy="1568230"/>
              </a:xfrm>
              <a:custGeom>
                <a:avLst/>
                <a:gdLst>
                  <a:gd name="txL" fmla="*/ 0 w 1568230"/>
                  <a:gd name="txT" fmla="*/ 0 h 1568230"/>
                  <a:gd name="txR" fmla="*/ 1568230 w 1568230"/>
                  <a:gd name="txB" fmla="*/ 1568230 h 1568230"/>
                </a:gdLst>
                <a:ahLst/>
                <a:cxnLst>
                  <a:cxn ang="0">
                    <a:pos x="0" y="906535"/>
                  </a:cxn>
                  <a:cxn ang="0">
                    <a:pos x="128070" y="917835"/>
                  </a:cxn>
                  <a:cxn ang="0">
                    <a:pos x="917835" y="128070"/>
                  </a:cxn>
                  <a:cxn ang="0">
                    <a:pos x="906536" y="0"/>
                  </a:cxn>
                  <a:cxn ang="0">
                    <a:pos x="1568230" y="778465"/>
                  </a:cxn>
                  <a:cxn ang="0">
                    <a:pos x="778465" y="1568230"/>
                  </a:cxn>
                  <a:cxn ang="0">
                    <a:pos x="0" y="906535"/>
                  </a:cxn>
                </a:cxnLst>
                <a:rect l="txL" t="txT" r="txR" b="txB"/>
                <a:pathLst>
                  <a:path w="1568230" h="1568230">
                    <a:moveTo>
                      <a:pt x="0" y="906535"/>
                    </a:moveTo>
                    <a:cubicBezTo>
                      <a:pt x="41578" y="914292"/>
                      <a:pt x="84411" y="917835"/>
                      <a:pt x="128070" y="917835"/>
                    </a:cubicBezTo>
                    <a:cubicBezTo>
                      <a:pt x="564245" y="917835"/>
                      <a:pt x="917835" y="564245"/>
                      <a:pt x="917835" y="128070"/>
                    </a:cubicBezTo>
                    <a:cubicBezTo>
                      <a:pt x="917835" y="84411"/>
                      <a:pt x="914292" y="41579"/>
                      <a:pt x="906536" y="0"/>
                    </a:cubicBezTo>
                    <a:cubicBezTo>
                      <a:pt x="1281884" y="60314"/>
                      <a:pt x="1568230" y="385950"/>
                      <a:pt x="1568230" y="778465"/>
                    </a:cubicBezTo>
                    <a:cubicBezTo>
                      <a:pt x="1568230" y="1214640"/>
                      <a:pt x="1214640" y="1568230"/>
                      <a:pt x="778465" y="1568230"/>
                    </a:cubicBezTo>
                    <a:cubicBezTo>
                      <a:pt x="385950" y="1568230"/>
                      <a:pt x="60314" y="1281883"/>
                      <a:pt x="0" y="90653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rgbClr val="F2F2F2"/>
                </a:solidFill>
              </a:ln>
              <a:effectLst>
                <a:outerShdw blurRad="88900" dist="75434" dir="2699985" rotWithShape="0">
                  <a:scrgbClr r="0" g="0" b="0">
                    <a:alpha val="23000"/>
                  </a:scrgbClr>
                </a:outerShdw>
              </a:effectLst>
            </p:spPr>
            <p:txBody>
              <a:bodyPr/>
              <a:lstStyle/>
              <a:p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1" name="椭圆 25"/>
              <p:cNvSpPr/>
              <p:nvPr/>
            </p:nvSpPr>
            <p:spPr>
              <a:xfrm rot="-5400000">
                <a:off x="1314927" y="677199"/>
                <a:ext cx="1568230" cy="1568230"/>
              </a:xfrm>
              <a:custGeom>
                <a:avLst/>
                <a:gdLst>
                  <a:gd name="txL" fmla="*/ 0 w 1568230"/>
                  <a:gd name="txT" fmla="*/ 0 h 1568230"/>
                  <a:gd name="txR" fmla="*/ 1568230 w 1568230"/>
                  <a:gd name="txB" fmla="*/ 1568230 h 1568230"/>
                </a:gdLst>
                <a:ahLst/>
                <a:cxnLst>
                  <a:cxn ang="0">
                    <a:pos x="0" y="906535"/>
                  </a:cxn>
                  <a:cxn ang="0">
                    <a:pos x="128070" y="917835"/>
                  </a:cxn>
                  <a:cxn ang="0">
                    <a:pos x="917835" y="128070"/>
                  </a:cxn>
                  <a:cxn ang="0">
                    <a:pos x="906536" y="0"/>
                  </a:cxn>
                  <a:cxn ang="0">
                    <a:pos x="1568230" y="778465"/>
                  </a:cxn>
                  <a:cxn ang="0">
                    <a:pos x="778465" y="1568230"/>
                  </a:cxn>
                  <a:cxn ang="0">
                    <a:pos x="0" y="906535"/>
                  </a:cxn>
                </a:cxnLst>
                <a:rect l="txL" t="txT" r="txR" b="txB"/>
                <a:pathLst>
                  <a:path w="1568230" h="1568230">
                    <a:moveTo>
                      <a:pt x="0" y="906535"/>
                    </a:moveTo>
                    <a:cubicBezTo>
                      <a:pt x="41578" y="914292"/>
                      <a:pt x="84411" y="917835"/>
                      <a:pt x="128070" y="917835"/>
                    </a:cubicBezTo>
                    <a:cubicBezTo>
                      <a:pt x="564245" y="917835"/>
                      <a:pt x="917835" y="564245"/>
                      <a:pt x="917835" y="128070"/>
                    </a:cubicBezTo>
                    <a:cubicBezTo>
                      <a:pt x="917835" y="84411"/>
                      <a:pt x="914292" y="41579"/>
                      <a:pt x="906536" y="0"/>
                    </a:cubicBezTo>
                    <a:cubicBezTo>
                      <a:pt x="1281884" y="60314"/>
                      <a:pt x="1568230" y="385950"/>
                      <a:pt x="1568230" y="778465"/>
                    </a:cubicBezTo>
                    <a:cubicBezTo>
                      <a:pt x="1568230" y="1214640"/>
                      <a:pt x="1214640" y="1568230"/>
                      <a:pt x="778465" y="1568230"/>
                    </a:cubicBezTo>
                    <a:cubicBezTo>
                      <a:pt x="385950" y="1568230"/>
                      <a:pt x="60314" y="1281883"/>
                      <a:pt x="0" y="90653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rgbClr val="F2F2F2"/>
                </a:solidFill>
              </a:ln>
              <a:effectLst>
                <a:outerShdw blurRad="88900" dist="75434" dir="2699985" rotWithShape="0">
                  <a:scrgbClr r="0" g="0" b="0">
                    <a:alpha val="23000"/>
                  </a:scrgbClr>
                </a:outerShdw>
              </a:effectLst>
            </p:spPr>
            <p:txBody>
              <a:bodyPr/>
              <a:lstStyle/>
              <a:p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椭圆 25"/>
              <p:cNvSpPr/>
              <p:nvPr/>
            </p:nvSpPr>
            <p:spPr>
              <a:xfrm rot="10800000">
                <a:off x="679443" y="0"/>
                <a:ext cx="1568230" cy="1546155"/>
              </a:xfrm>
              <a:custGeom>
                <a:avLst/>
                <a:gdLst>
                  <a:gd name="txL" fmla="*/ 0 w 1568230"/>
                  <a:gd name="txT" fmla="*/ 0 h 1546155"/>
                  <a:gd name="txR" fmla="*/ 1568230 w 1568230"/>
                  <a:gd name="txB" fmla="*/ 1546155 h 1546155"/>
                </a:gdLst>
                <a:ahLst/>
                <a:cxnLst>
                  <a:cxn ang="0">
                    <a:pos x="778465" y="1546155"/>
                  </a:cxn>
                  <a:cxn ang="0">
                    <a:pos x="0" y="884460"/>
                  </a:cxn>
                  <a:cxn ang="0">
                    <a:pos x="128070" y="895760"/>
                  </a:cxn>
                  <a:cxn ang="0">
                    <a:pos x="917835" y="105995"/>
                  </a:cxn>
                  <a:cxn ang="0">
                    <a:pos x="908484" y="0"/>
                  </a:cxn>
                  <a:cxn ang="0">
                    <a:pos x="1324003" y="189535"/>
                  </a:cxn>
                  <a:cxn ang="0">
                    <a:pos x="1568230" y="756390"/>
                  </a:cxn>
                  <a:cxn ang="0">
                    <a:pos x="778465" y="1546155"/>
                  </a:cxn>
                </a:cxnLst>
                <a:rect l="txL" t="txT" r="txR" b="txB"/>
                <a:pathLst>
                  <a:path w="1568230" h="1546155">
                    <a:moveTo>
                      <a:pt x="778465" y="1546155"/>
                    </a:moveTo>
                    <a:cubicBezTo>
                      <a:pt x="385950" y="1546155"/>
                      <a:pt x="60314" y="1259808"/>
                      <a:pt x="0" y="884460"/>
                    </a:cubicBezTo>
                    <a:cubicBezTo>
                      <a:pt x="41578" y="892217"/>
                      <a:pt x="84411" y="895760"/>
                      <a:pt x="128070" y="895760"/>
                    </a:cubicBezTo>
                    <a:cubicBezTo>
                      <a:pt x="564245" y="895760"/>
                      <a:pt x="917835" y="542170"/>
                      <a:pt x="917835" y="105995"/>
                    </a:cubicBezTo>
                    <a:lnTo>
                      <a:pt x="908484" y="0"/>
                    </a:lnTo>
                    <a:cubicBezTo>
                      <a:pt x="1067344" y="19523"/>
                      <a:pt x="1211374" y="86941"/>
                      <a:pt x="1324003" y="189535"/>
                    </a:cubicBezTo>
                    <a:cubicBezTo>
                      <a:pt x="1475335" y="330953"/>
                      <a:pt x="1568230" y="532823"/>
                      <a:pt x="1568230" y="756390"/>
                    </a:cubicBezTo>
                    <a:cubicBezTo>
                      <a:pt x="1568230" y="1192565"/>
                      <a:pt x="1214640" y="1546155"/>
                      <a:pt x="778465" y="1546155"/>
                    </a:cubicBezTo>
                    <a:close/>
                  </a:path>
                </a:pathLst>
              </a:custGeom>
              <a:solidFill>
                <a:schemeClr val="accent2">
                  <a:lumMod val="100000"/>
                </a:schemeClr>
              </a:solidFill>
              <a:ln w="28575">
                <a:solidFill>
                  <a:srgbClr val="F2F2F2"/>
                </a:solidFill>
              </a:ln>
              <a:effectLst>
                <a:outerShdw blurRad="88900" dist="75434" dir="2699985" rotWithShape="0">
                  <a:scrgbClr r="0" g="0" b="0">
                    <a:alpha val="23000"/>
                  </a:scrgbClr>
                </a:outerShdw>
              </a:effectLst>
            </p:spPr>
            <p:txBody>
              <a:bodyPr/>
              <a:lstStyle/>
              <a:p>
                <a:endParaRPr lang="zh-CN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5" name="图文框 35"/>
            <p:cNvSpPr/>
            <p:nvPr/>
          </p:nvSpPr>
          <p:spPr>
            <a:xfrm>
              <a:off x="1052072" y="346702"/>
              <a:ext cx="458553" cy="425615"/>
            </a:xfrm>
            <a:custGeom>
              <a:avLst/>
              <a:gdLst>
                <a:gd name="txL" fmla="*/ 0 w 790121"/>
                <a:gd name="txT" fmla="*/ 0 h 733367"/>
                <a:gd name="txR" fmla="*/ 790121 w 790121"/>
                <a:gd name="txB" fmla="*/ 733367 h 733367"/>
              </a:gdLst>
              <a:ahLst/>
              <a:cxnLst>
                <a:cxn ang="0">
                  <a:pos x="32175" y="100453"/>
                </a:cxn>
                <a:cxn ang="0">
                  <a:pos x="42900" y="111178"/>
                </a:cxn>
                <a:cxn ang="0">
                  <a:pos x="32175" y="121903"/>
                </a:cxn>
                <a:cxn ang="0">
                  <a:pos x="21450" y="111178"/>
                </a:cxn>
                <a:cxn ang="0">
                  <a:pos x="32175" y="100453"/>
                </a:cxn>
                <a:cxn ang="0">
                  <a:pos x="12726" y="91728"/>
                </a:cxn>
                <a:cxn ang="0">
                  <a:pos x="12726" y="130628"/>
                </a:cxn>
                <a:cxn ang="0">
                  <a:pos x="51625" y="130628"/>
                </a:cxn>
                <a:cxn ang="0">
                  <a:pos x="51625" y="91728"/>
                </a:cxn>
                <a:cxn ang="0">
                  <a:pos x="12726" y="91728"/>
                </a:cxn>
                <a:cxn ang="0">
                  <a:pos x="78651" y="79003"/>
                </a:cxn>
                <a:cxn ang="0">
                  <a:pos x="143001" y="79003"/>
                </a:cxn>
                <a:cxn ang="0">
                  <a:pos x="143001" y="143354"/>
                </a:cxn>
                <a:cxn ang="0">
                  <a:pos x="78651" y="143354"/>
                </a:cxn>
                <a:cxn ang="0">
                  <a:pos x="78651" y="79003"/>
                </a:cxn>
                <a:cxn ang="0">
                  <a:pos x="0" y="79003"/>
                </a:cxn>
                <a:cxn ang="0">
                  <a:pos x="64351" y="79003"/>
                </a:cxn>
                <a:cxn ang="0">
                  <a:pos x="64351" y="143354"/>
                </a:cxn>
                <a:cxn ang="0">
                  <a:pos x="0" y="143354"/>
                </a:cxn>
                <a:cxn ang="0">
                  <a:pos x="0" y="79003"/>
                </a:cxn>
                <a:cxn ang="0">
                  <a:pos x="12726" y="13078"/>
                </a:cxn>
                <a:cxn ang="0">
                  <a:pos x="12726" y="51978"/>
                </a:cxn>
                <a:cxn ang="0">
                  <a:pos x="51625" y="51978"/>
                </a:cxn>
                <a:cxn ang="0">
                  <a:pos x="51625" y="13078"/>
                </a:cxn>
                <a:cxn ang="0">
                  <a:pos x="12726" y="13078"/>
                </a:cxn>
                <a:cxn ang="0">
                  <a:pos x="78651" y="353"/>
                </a:cxn>
                <a:cxn ang="0">
                  <a:pos x="142047" y="353"/>
                </a:cxn>
                <a:cxn ang="0">
                  <a:pos x="130050" y="13078"/>
                </a:cxn>
                <a:cxn ang="0">
                  <a:pos x="91376" y="13078"/>
                </a:cxn>
                <a:cxn ang="0">
                  <a:pos x="91376" y="51978"/>
                </a:cxn>
                <a:cxn ang="0">
                  <a:pos x="130276" y="51978"/>
                </a:cxn>
                <a:cxn ang="0">
                  <a:pos x="130276" y="36818"/>
                </a:cxn>
                <a:cxn ang="0">
                  <a:pos x="143001" y="23321"/>
                </a:cxn>
                <a:cxn ang="0">
                  <a:pos x="143001" y="64703"/>
                </a:cxn>
                <a:cxn ang="0">
                  <a:pos x="78651" y="64703"/>
                </a:cxn>
                <a:cxn ang="0">
                  <a:pos x="78651" y="353"/>
                </a:cxn>
                <a:cxn ang="0">
                  <a:pos x="0" y="353"/>
                </a:cxn>
                <a:cxn ang="0">
                  <a:pos x="64351" y="353"/>
                </a:cxn>
                <a:cxn ang="0">
                  <a:pos x="64351" y="64703"/>
                </a:cxn>
                <a:cxn ang="0">
                  <a:pos x="0" y="64703"/>
                </a:cxn>
                <a:cxn ang="0">
                  <a:pos x="0" y="353"/>
                </a:cxn>
                <a:cxn ang="0">
                  <a:pos x="149424" y="0"/>
                </a:cxn>
                <a:cxn ang="0">
                  <a:pos x="154448" y="5024"/>
                </a:cxn>
                <a:cxn ang="0">
                  <a:pos x="117295" y="42177"/>
                </a:cxn>
                <a:cxn ang="0">
                  <a:pos x="117353" y="42234"/>
                </a:cxn>
                <a:cxn ang="0">
                  <a:pos x="112655" y="46932"/>
                </a:cxn>
                <a:cxn ang="0">
                  <a:pos x="94057" y="28334"/>
                </a:cxn>
                <a:cxn ang="0">
                  <a:pos x="98755" y="23636"/>
                </a:cxn>
                <a:cxn ang="0">
                  <a:pos x="112271" y="37152"/>
                </a:cxn>
                <a:cxn ang="0">
                  <a:pos x="149424" y="0"/>
                </a:cxn>
              </a:cxnLst>
              <a:rect l="txL" t="txT" r="txR" b="txB"/>
              <a:pathLst>
                <a:path w="790121" h="733367">
                  <a:moveTo>
                    <a:pt x="164601" y="513898"/>
                  </a:moveTo>
                  <a:cubicBezTo>
                    <a:pt x="194903" y="513898"/>
                    <a:pt x="219468" y="538463"/>
                    <a:pt x="219468" y="568765"/>
                  </a:cubicBezTo>
                  <a:cubicBezTo>
                    <a:pt x="219468" y="599067"/>
                    <a:pt x="194903" y="623632"/>
                    <a:pt x="164601" y="623632"/>
                  </a:cubicBezTo>
                  <a:cubicBezTo>
                    <a:pt x="134299" y="623632"/>
                    <a:pt x="109734" y="599067"/>
                    <a:pt x="109734" y="568765"/>
                  </a:cubicBezTo>
                  <a:cubicBezTo>
                    <a:pt x="109734" y="538463"/>
                    <a:pt x="134299" y="513898"/>
                    <a:pt x="164601" y="513898"/>
                  </a:cubicBezTo>
                  <a:close/>
                  <a:moveTo>
                    <a:pt x="65100" y="469264"/>
                  </a:moveTo>
                  <a:lnTo>
                    <a:pt x="65100" y="668267"/>
                  </a:lnTo>
                  <a:lnTo>
                    <a:pt x="264103" y="668267"/>
                  </a:lnTo>
                  <a:lnTo>
                    <a:pt x="264103" y="469264"/>
                  </a:lnTo>
                  <a:lnTo>
                    <a:pt x="65100" y="469264"/>
                  </a:lnTo>
                  <a:close/>
                  <a:moveTo>
                    <a:pt x="402359" y="404164"/>
                  </a:moveTo>
                  <a:lnTo>
                    <a:pt x="731562" y="404164"/>
                  </a:lnTo>
                  <a:lnTo>
                    <a:pt x="731562" y="733367"/>
                  </a:lnTo>
                  <a:lnTo>
                    <a:pt x="402359" y="733367"/>
                  </a:lnTo>
                  <a:lnTo>
                    <a:pt x="402359" y="404164"/>
                  </a:lnTo>
                  <a:close/>
                  <a:moveTo>
                    <a:pt x="0" y="404164"/>
                  </a:moveTo>
                  <a:lnTo>
                    <a:pt x="329203" y="404164"/>
                  </a:lnTo>
                  <a:lnTo>
                    <a:pt x="329203" y="733367"/>
                  </a:lnTo>
                  <a:lnTo>
                    <a:pt x="0" y="733367"/>
                  </a:lnTo>
                  <a:lnTo>
                    <a:pt x="0" y="404164"/>
                  </a:lnTo>
                  <a:close/>
                  <a:moveTo>
                    <a:pt x="65100" y="66905"/>
                  </a:moveTo>
                  <a:lnTo>
                    <a:pt x="65100" y="265908"/>
                  </a:lnTo>
                  <a:lnTo>
                    <a:pt x="264103" y="265908"/>
                  </a:lnTo>
                  <a:lnTo>
                    <a:pt x="264103" y="66905"/>
                  </a:lnTo>
                  <a:lnTo>
                    <a:pt x="65100" y="66905"/>
                  </a:lnTo>
                  <a:close/>
                  <a:moveTo>
                    <a:pt x="402359" y="1806"/>
                  </a:moveTo>
                  <a:lnTo>
                    <a:pt x="726682" y="1806"/>
                  </a:lnTo>
                  <a:lnTo>
                    <a:pt x="665305" y="66906"/>
                  </a:lnTo>
                  <a:lnTo>
                    <a:pt x="467459" y="66906"/>
                  </a:lnTo>
                  <a:lnTo>
                    <a:pt x="467459" y="265909"/>
                  </a:lnTo>
                  <a:lnTo>
                    <a:pt x="666462" y="265909"/>
                  </a:lnTo>
                  <a:lnTo>
                    <a:pt x="666462" y="188355"/>
                  </a:lnTo>
                  <a:lnTo>
                    <a:pt x="731562" y="119306"/>
                  </a:lnTo>
                  <a:lnTo>
                    <a:pt x="731562" y="331009"/>
                  </a:lnTo>
                  <a:lnTo>
                    <a:pt x="402359" y="331009"/>
                  </a:lnTo>
                  <a:lnTo>
                    <a:pt x="402359" y="1806"/>
                  </a:lnTo>
                  <a:close/>
                  <a:moveTo>
                    <a:pt x="0" y="1805"/>
                  </a:moveTo>
                  <a:lnTo>
                    <a:pt x="329203" y="1805"/>
                  </a:lnTo>
                  <a:lnTo>
                    <a:pt x="329203" y="331008"/>
                  </a:lnTo>
                  <a:lnTo>
                    <a:pt x="0" y="331008"/>
                  </a:lnTo>
                  <a:lnTo>
                    <a:pt x="0" y="1805"/>
                  </a:lnTo>
                  <a:close/>
                  <a:moveTo>
                    <a:pt x="764419" y="0"/>
                  </a:moveTo>
                  <a:lnTo>
                    <a:pt x="790121" y="25703"/>
                  </a:lnTo>
                  <a:lnTo>
                    <a:pt x="600057" y="215767"/>
                  </a:lnTo>
                  <a:lnTo>
                    <a:pt x="600352" y="216061"/>
                  </a:lnTo>
                  <a:lnTo>
                    <a:pt x="576318" y="240095"/>
                  </a:lnTo>
                  <a:lnTo>
                    <a:pt x="481177" y="144952"/>
                  </a:lnTo>
                  <a:lnTo>
                    <a:pt x="505210" y="120919"/>
                  </a:lnTo>
                  <a:lnTo>
                    <a:pt x="574355" y="190064"/>
                  </a:lnTo>
                  <a:lnTo>
                    <a:pt x="764419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</p:spPr>
          <p:txBody>
            <a:bodyPr/>
            <a:lstStyle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6" name="同侧圆角矩形 42"/>
            <p:cNvSpPr>
              <a:spLocks noChangeAspect="1"/>
            </p:cNvSpPr>
            <p:nvPr/>
          </p:nvSpPr>
          <p:spPr>
            <a:xfrm>
              <a:off x="315211" y="1286094"/>
              <a:ext cx="453982" cy="517080"/>
            </a:xfrm>
            <a:custGeom>
              <a:avLst/>
              <a:gdLst>
                <a:gd name="txL" fmla="*/ 0 w 720080"/>
                <a:gd name="txT" fmla="*/ 0 h 820163"/>
                <a:gd name="txR" fmla="*/ 720080 w 720080"/>
                <a:gd name="txB" fmla="*/ 820163 h 820163"/>
              </a:gdLst>
              <a:ahLst/>
              <a:cxnLst>
                <a:cxn ang="0">
                  <a:pos x="90225" y="101351"/>
                </a:cxn>
                <a:cxn ang="0">
                  <a:pos x="72180" y="119395"/>
                </a:cxn>
                <a:cxn ang="0">
                  <a:pos x="79597" y="133593"/>
                </a:cxn>
                <a:cxn ang="0">
                  <a:pos x="79597" y="162568"/>
                </a:cxn>
                <a:cxn ang="0">
                  <a:pos x="90225" y="173196"/>
                </a:cxn>
                <a:cxn ang="0">
                  <a:pos x="100852" y="162568"/>
                </a:cxn>
                <a:cxn ang="0">
                  <a:pos x="100852" y="133593"/>
                </a:cxn>
                <a:cxn ang="0">
                  <a:pos x="108270" y="119395"/>
                </a:cxn>
                <a:cxn ang="0">
                  <a:pos x="90225" y="101351"/>
                </a:cxn>
                <a:cxn ang="0">
                  <a:pos x="90225" y="0"/>
                </a:cxn>
                <a:cxn ang="0">
                  <a:pos x="146870" y="55970"/>
                </a:cxn>
                <a:cxn ang="0">
                  <a:pos x="124525" y="55970"/>
                </a:cxn>
                <a:cxn ang="0">
                  <a:pos x="90225" y="22357"/>
                </a:cxn>
                <a:cxn ang="0">
                  <a:pos x="55750" y="56831"/>
                </a:cxn>
                <a:cxn ang="0">
                  <a:pos x="55750" y="68551"/>
                </a:cxn>
                <a:cxn ang="0">
                  <a:pos x="157619" y="68551"/>
                </a:cxn>
                <a:cxn ang="0">
                  <a:pos x="180449" y="91381"/>
                </a:cxn>
                <a:cxn ang="0">
                  <a:pos x="180449" y="182699"/>
                </a:cxn>
                <a:cxn ang="0">
                  <a:pos x="157619" y="205529"/>
                </a:cxn>
                <a:cxn ang="0">
                  <a:pos x="22830" y="205529"/>
                </a:cxn>
                <a:cxn ang="0">
                  <a:pos x="0" y="182699"/>
                </a:cxn>
                <a:cxn ang="0">
                  <a:pos x="0" y="91381"/>
                </a:cxn>
                <a:cxn ang="0">
                  <a:pos x="22830" y="68551"/>
                </a:cxn>
                <a:cxn ang="0">
                  <a:pos x="33504" y="68551"/>
                </a:cxn>
                <a:cxn ang="0">
                  <a:pos x="33504" y="56721"/>
                </a:cxn>
                <a:cxn ang="0">
                  <a:pos x="90225" y="0"/>
                </a:cxn>
              </a:cxnLst>
              <a:rect l="txL" t="txT" r="txR" b="txB"/>
              <a:pathLst>
                <a:path w="720080" h="820163">
                  <a:moveTo>
                    <a:pt x="360040" y="404440"/>
                  </a:moveTo>
                  <a:cubicBezTo>
                    <a:pt x="320271" y="404440"/>
                    <a:pt x="288032" y="436679"/>
                    <a:pt x="288032" y="476448"/>
                  </a:cubicBezTo>
                  <a:cubicBezTo>
                    <a:pt x="288032" y="500028"/>
                    <a:pt x="299366" y="520960"/>
                    <a:pt x="317629" y="533101"/>
                  </a:cubicBezTo>
                  <a:lnTo>
                    <a:pt x="317629" y="648728"/>
                  </a:lnTo>
                  <a:cubicBezTo>
                    <a:pt x="317629" y="672150"/>
                    <a:pt x="336617" y="691138"/>
                    <a:pt x="360040" y="691138"/>
                  </a:cubicBezTo>
                  <a:cubicBezTo>
                    <a:pt x="383462" y="691138"/>
                    <a:pt x="402450" y="672150"/>
                    <a:pt x="402450" y="648728"/>
                  </a:cubicBezTo>
                  <a:lnTo>
                    <a:pt x="402450" y="533101"/>
                  </a:lnTo>
                  <a:cubicBezTo>
                    <a:pt x="420714" y="520962"/>
                    <a:pt x="432048" y="500028"/>
                    <a:pt x="432048" y="476448"/>
                  </a:cubicBezTo>
                  <a:cubicBezTo>
                    <a:pt x="432048" y="436679"/>
                    <a:pt x="399809" y="404440"/>
                    <a:pt x="360040" y="404440"/>
                  </a:cubicBezTo>
                  <a:close/>
                  <a:moveTo>
                    <a:pt x="360040" y="0"/>
                  </a:moveTo>
                  <a:cubicBezTo>
                    <a:pt x="484045" y="0"/>
                    <a:pt x="584759" y="99721"/>
                    <a:pt x="586082" y="223348"/>
                  </a:cubicBezTo>
                  <a:lnTo>
                    <a:pt x="496917" y="223348"/>
                  </a:lnTo>
                  <a:cubicBezTo>
                    <a:pt x="495736" y="148950"/>
                    <a:pt x="434865" y="89214"/>
                    <a:pt x="360041" y="89214"/>
                  </a:cubicBezTo>
                  <a:cubicBezTo>
                    <a:pt x="284064" y="89214"/>
                    <a:pt x="222472" y="150806"/>
                    <a:pt x="222472" y="226783"/>
                  </a:cubicBezTo>
                  <a:lnTo>
                    <a:pt x="222472" y="273553"/>
                  </a:lnTo>
                  <a:lnTo>
                    <a:pt x="628977" y="273553"/>
                  </a:lnTo>
                  <a:cubicBezTo>
                    <a:pt x="679292" y="273553"/>
                    <a:pt x="720080" y="314341"/>
                    <a:pt x="720080" y="364656"/>
                  </a:cubicBezTo>
                  <a:lnTo>
                    <a:pt x="720080" y="729060"/>
                  </a:lnTo>
                  <a:cubicBezTo>
                    <a:pt x="720080" y="779375"/>
                    <a:pt x="679292" y="820163"/>
                    <a:pt x="628977" y="820163"/>
                  </a:cubicBezTo>
                  <a:lnTo>
                    <a:pt x="91103" y="820163"/>
                  </a:lnTo>
                  <a:cubicBezTo>
                    <a:pt x="40788" y="820163"/>
                    <a:pt x="0" y="779375"/>
                    <a:pt x="0" y="729060"/>
                  </a:cubicBezTo>
                  <a:lnTo>
                    <a:pt x="0" y="364656"/>
                  </a:lnTo>
                  <a:cubicBezTo>
                    <a:pt x="0" y="314341"/>
                    <a:pt x="40788" y="273553"/>
                    <a:pt x="91103" y="273553"/>
                  </a:cubicBezTo>
                  <a:lnTo>
                    <a:pt x="133696" y="273553"/>
                  </a:lnTo>
                  <a:lnTo>
                    <a:pt x="133696" y="226344"/>
                  </a:lnTo>
                  <a:cubicBezTo>
                    <a:pt x="133696" y="101338"/>
                    <a:pt x="235034" y="0"/>
                    <a:pt x="360040" y="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</p:spPr>
          <p:txBody>
            <a:bodyPr/>
            <a:lstStyle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7" name="圆角矩形 82"/>
            <p:cNvSpPr/>
            <p:nvPr/>
          </p:nvSpPr>
          <p:spPr>
            <a:xfrm>
              <a:off x="1281349" y="2205009"/>
              <a:ext cx="523117" cy="373655"/>
            </a:xfrm>
            <a:custGeom>
              <a:avLst/>
              <a:gdLst>
                <a:gd name="txL" fmla="*/ 0 w 887502"/>
                <a:gd name="txT" fmla="*/ 0 h 633930"/>
                <a:gd name="txR" fmla="*/ 887502 w 887502"/>
                <a:gd name="txB" fmla="*/ 633930 h 633930"/>
              </a:gdLst>
              <a:ahLst/>
              <a:cxnLst>
                <a:cxn ang="0">
                  <a:pos x="51808" y="95885"/>
                </a:cxn>
                <a:cxn ang="0">
                  <a:pos x="93412" y="95885"/>
                </a:cxn>
                <a:cxn ang="0">
                  <a:pos x="93412" y="106220"/>
                </a:cxn>
                <a:cxn ang="0">
                  <a:pos x="51808" y="106220"/>
                </a:cxn>
                <a:cxn ang="0">
                  <a:pos x="51808" y="95885"/>
                </a:cxn>
                <a:cxn ang="0">
                  <a:pos x="27842" y="95885"/>
                </a:cxn>
                <a:cxn ang="0">
                  <a:pos x="41543" y="95885"/>
                </a:cxn>
                <a:cxn ang="0">
                  <a:pos x="41543" y="106220"/>
                </a:cxn>
                <a:cxn ang="0">
                  <a:pos x="27842" y="106220"/>
                </a:cxn>
                <a:cxn ang="0">
                  <a:pos x="27842" y="95885"/>
                </a:cxn>
                <a:cxn ang="0">
                  <a:pos x="17254" y="64908"/>
                </a:cxn>
                <a:cxn ang="0">
                  <a:pos x="17254" y="106640"/>
                </a:cxn>
                <a:cxn ang="0">
                  <a:pos x="25685" y="115071"/>
                </a:cxn>
                <a:cxn ang="0">
                  <a:pos x="156058" y="115071"/>
                </a:cxn>
                <a:cxn ang="0">
                  <a:pos x="164489" y="106640"/>
                </a:cxn>
                <a:cxn ang="0">
                  <a:pos x="164489" y="64908"/>
                </a:cxn>
                <a:cxn ang="0">
                  <a:pos x="17254" y="64908"/>
                </a:cxn>
                <a:cxn ang="0">
                  <a:pos x="25685" y="14746"/>
                </a:cxn>
                <a:cxn ang="0">
                  <a:pos x="17254" y="23177"/>
                </a:cxn>
                <a:cxn ang="0">
                  <a:pos x="17254" y="44238"/>
                </a:cxn>
                <a:cxn ang="0">
                  <a:pos x="164489" y="44238"/>
                </a:cxn>
                <a:cxn ang="0">
                  <a:pos x="164489" y="23177"/>
                </a:cxn>
                <a:cxn ang="0">
                  <a:pos x="156058" y="14746"/>
                </a:cxn>
                <a:cxn ang="0">
                  <a:pos x="25685" y="14746"/>
                </a:cxn>
                <a:cxn ang="0">
                  <a:pos x="21637" y="0"/>
                </a:cxn>
                <a:cxn ang="0">
                  <a:pos x="160106" y="0"/>
                </a:cxn>
                <a:cxn ang="0">
                  <a:pos x="181743" y="21637"/>
                </a:cxn>
                <a:cxn ang="0">
                  <a:pos x="181743" y="108180"/>
                </a:cxn>
                <a:cxn ang="0">
                  <a:pos x="160106" y="129816"/>
                </a:cxn>
                <a:cxn ang="0">
                  <a:pos x="21637" y="129816"/>
                </a:cxn>
                <a:cxn ang="0">
                  <a:pos x="0" y="108180"/>
                </a:cxn>
                <a:cxn ang="0">
                  <a:pos x="0" y="21637"/>
                </a:cxn>
                <a:cxn ang="0">
                  <a:pos x="21637" y="0"/>
                </a:cxn>
              </a:cxnLst>
              <a:rect l="txL" t="txT" r="txR" b="txB"/>
              <a:pathLst>
                <a:path w="887502" h="633930">
                  <a:moveTo>
                    <a:pt x="252991" y="468232"/>
                  </a:moveTo>
                  <a:lnTo>
                    <a:pt x="456157" y="468232"/>
                  </a:lnTo>
                  <a:lnTo>
                    <a:pt x="456157" y="518703"/>
                  </a:lnTo>
                  <a:lnTo>
                    <a:pt x="252991" y="518703"/>
                  </a:lnTo>
                  <a:lnTo>
                    <a:pt x="252991" y="468232"/>
                  </a:lnTo>
                  <a:close/>
                  <a:moveTo>
                    <a:pt x="135958" y="468232"/>
                  </a:moveTo>
                  <a:lnTo>
                    <a:pt x="202865" y="468232"/>
                  </a:lnTo>
                  <a:lnTo>
                    <a:pt x="202865" y="518703"/>
                  </a:lnTo>
                  <a:lnTo>
                    <a:pt x="135958" y="518703"/>
                  </a:lnTo>
                  <a:lnTo>
                    <a:pt x="135958" y="468232"/>
                  </a:lnTo>
                  <a:close/>
                  <a:moveTo>
                    <a:pt x="84254" y="316965"/>
                  </a:moveTo>
                  <a:lnTo>
                    <a:pt x="84254" y="520751"/>
                  </a:lnTo>
                  <a:cubicBezTo>
                    <a:pt x="84254" y="543490"/>
                    <a:pt x="102687" y="561923"/>
                    <a:pt x="125426" y="561923"/>
                  </a:cubicBezTo>
                  <a:lnTo>
                    <a:pt x="762076" y="561923"/>
                  </a:lnTo>
                  <a:cubicBezTo>
                    <a:pt x="784815" y="561923"/>
                    <a:pt x="803248" y="543490"/>
                    <a:pt x="803248" y="520751"/>
                  </a:cubicBezTo>
                  <a:lnTo>
                    <a:pt x="803248" y="316965"/>
                  </a:lnTo>
                  <a:lnTo>
                    <a:pt x="84254" y="316965"/>
                  </a:lnTo>
                  <a:close/>
                  <a:moveTo>
                    <a:pt x="125426" y="72009"/>
                  </a:moveTo>
                  <a:cubicBezTo>
                    <a:pt x="102687" y="72009"/>
                    <a:pt x="84254" y="90442"/>
                    <a:pt x="84254" y="113181"/>
                  </a:cubicBezTo>
                  <a:lnTo>
                    <a:pt x="84254" y="216024"/>
                  </a:lnTo>
                  <a:lnTo>
                    <a:pt x="803248" y="216024"/>
                  </a:lnTo>
                  <a:lnTo>
                    <a:pt x="803248" y="113181"/>
                  </a:lnTo>
                  <a:cubicBezTo>
                    <a:pt x="803248" y="90442"/>
                    <a:pt x="784815" y="72009"/>
                    <a:pt x="762076" y="72009"/>
                  </a:cubicBezTo>
                  <a:lnTo>
                    <a:pt x="125426" y="72009"/>
                  </a:lnTo>
                  <a:close/>
                  <a:moveTo>
                    <a:pt x="105657" y="0"/>
                  </a:moveTo>
                  <a:lnTo>
                    <a:pt x="781845" y="0"/>
                  </a:lnTo>
                  <a:cubicBezTo>
                    <a:pt x="840198" y="0"/>
                    <a:pt x="887502" y="47304"/>
                    <a:pt x="887502" y="105657"/>
                  </a:cubicBezTo>
                  <a:lnTo>
                    <a:pt x="887502" y="528273"/>
                  </a:lnTo>
                  <a:cubicBezTo>
                    <a:pt x="887502" y="586626"/>
                    <a:pt x="840198" y="633930"/>
                    <a:pt x="781845" y="633930"/>
                  </a:cubicBezTo>
                  <a:lnTo>
                    <a:pt x="105657" y="633930"/>
                  </a:lnTo>
                  <a:cubicBezTo>
                    <a:pt x="47304" y="633930"/>
                    <a:pt x="0" y="586626"/>
                    <a:pt x="0" y="528273"/>
                  </a:cubicBezTo>
                  <a:lnTo>
                    <a:pt x="0" y="105657"/>
                  </a:lnTo>
                  <a:cubicBezTo>
                    <a:pt x="0" y="47304"/>
                    <a:pt x="47304" y="0"/>
                    <a:pt x="105657" y="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</p:spPr>
          <p:txBody>
            <a:bodyPr/>
            <a:lstStyle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8" name="等腰三角形 93"/>
            <p:cNvSpPr/>
            <p:nvPr/>
          </p:nvSpPr>
          <p:spPr>
            <a:xfrm flipV="1">
              <a:off x="2101095" y="1039866"/>
              <a:ext cx="495312" cy="442849"/>
            </a:xfrm>
            <a:custGeom>
              <a:avLst/>
              <a:gdLst>
                <a:gd name="txL" fmla="*/ 0 w 2717007"/>
                <a:gd name="txT" fmla="*/ 0 h 2429224"/>
                <a:gd name="txR" fmla="*/ 2717007 w 2717007"/>
                <a:gd name="txB" fmla="*/ 2429224 h 2429224"/>
              </a:gdLst>
              <a:ahLst/>
              <a:cxnLst>
                <a:cxn ang="0">
                  <a:pos x="8231" y="3926"/>
                </a:cxn>
                <a:cxn ang="0">
                  <a:pos x="10194" y="1963"/>
                </a:cxn>
                <a:cxn ang="0">
                  <a:pos x="8231" y="0"/>
                </a:cxn>
                <a:cxn ang="0">
                  <a:pos x="6267" y="1963"/>
                </a:cxn>
                <a:cxn ang="0">
                  <a:pos x="8231" y="3926"/>
                </a:cxn>
                <a:cxn ang="0">
                  <a:pos x="8496" y="6872"/>
                </a:cxn>
                <a:cxn ang="0">
                  <a:pos x="11232" y="6201"/>
                </a:cxn>
                <a:cxn ang="0">
                  <a:pos x="9849" y="4598"/>
                </a:cxn>
                <a:cxn ang="0">
                  <a:pos x="8422" y="4867"/>
                </a:cxn>
                <a:cxn ang="0">
                  <a:pos x="6605" y="4604"/>
                </a:cxn>
                <a:cxn ang="0">
                  <a:pos x="5222" y="6207"/>
                </a:cxn>
                <a:cxn ang="0">
                  <a:pos x="8496" y="6872"/>
                </a:cxn>
                <a:cxn ang="0">
                  <a:pos x="8615" y="10943"/>
                </a:cxn>
                <a:cxn ang="0">
                  <a:pos x="13975" y="9379"/>
                </a:cxn>
                <a:cxn ang="0">
                  <a:pos x="12361" y="7509"/>
                </a:cxn>
                <a:cxn ang="0">
                  <a:pos x="8533" y="8530"/>
                </a:cxn>
                <a:cxn ang="0">
                  <a:pos x="4098" y="7510"/>
                </a:cxn>
                <a:cxn ang="0">
                  <a:pos x="2486" y="9377"/>
                </a:cxn>
                <a:cxn ang="0">
                  <a:pos x="8615" y="10943"/>
                </a:cxn>
                <a:cxn ang="0">
                  <a:pos x="8670" y="14711"/>
                </a:cxn>
                <a:cxn ang="0">
                  <a:pos x="16461" y="12259"/>
                </a:cxn>
                <a:cxn ang="0">
                  <a:pos x="14836" y="10376"/>
                </a:cxn>
                <a:cxn ang="0">
                  <a:pos x="8598" y="12250"/>
                </a:cxn>
                <a:cxn ang="0">
                  <a:pos x="1620" y="10381"/>
                </a:cxn>
                <a:cxn ang="0">
                  <a:pos x="0" y="12258"/>
                </a:cxn>
                <a:cxn ang="0">
                  <a:pos x="8670" y="14711"/>
                </a:cxn>
              </a:cxnLst>
              <a:rect l="txL" t="txT" r="txR" b="txB"/>
              <a:pathLst>
                <a:path w="2717007" h="2429224">
                  <a:moveTo>
                    <a:pt x="1358503" y="648072"/>
                  </a:moveTo>
                  <a:cubicBezTo>
                    <a:pt x="1537463" y="648072"/>
                    <a:pt x="1682539" y="502996"/>
                    <a:pt x="1682539" y="324036"/>
                  </a:cubicBezTo>
                  <a:cubicBezTo>
                    <a:pt x="1682539" y="145076"/>
                    <a:pt x="1537463" y="0"/>
                    <a:pt x="1358503" y="0"/>
                  </a:cubicBezTo>
                  <a:cubicBezTo>
                    <a:pt x="1179543" y="0"/>
                    <a:pt x="1034467" y="145076"/>
                    <a:pt x="1034467" y="324036"/>
                  </a:cubicBezTo>
                  <a:cubicBezTo>
                    <a:pt x="1034467" y="502996"/>
                    <a:pt x="1179543" y="648072"/>
                    <a:pt x="1358503" y="648072"/>
                  </a:cubicBezTo>
                  <a:close/>
                  <a:moveTo>
                    <a:pt x="1402262" y="1134334"/>
                  </a:moveTo>
                  <a:cubicBezTo>
                    <a:pt x="1562756" y="1128436"/>
                    <a:pt x="1716101" y="1090717"/>
                    <a:pt x="1854002" y="1023451"/>
                  </a:cubicBezTo>
                  <a:lnTo>
                    <a:pt x="1625691" y="758896"/>
                  </a:lnTo>
                  <a:cubicBezTo>
                    <a:pt x="1551421" y="785877"/>
                    <a:pt x="1472051" y="800371"/>
                    <a:pt x="1390101" y="803383"/>
                  </a:cubicBezTo>
                  <a:cubicBezTo>
                    <a:pt x="1285979" y="807209"/>
                    <a:pt x="1184650" y="792244"/>
                    <a:pt x="1090254" y="759948"/>
                  </a:cubicBezTo>
                  <a:lnTo>
                    <a:pt x="861920" y="1024529"/>
                  </a:lnTo>
                  <a:cubicBezTo>
                    <a:pt x="1026514" y="1102571"/>
                    <a:pt x="1210983" y="1141364"/>
                    <a:pt x="1402262" y="1134334"/>
                  </a:cubicBezTo>
                  <a:close/>
                  <a:moveTo>
                    <a:pt x="1421965" y="1806188"/>
                  </a:moveTo>
                  <a:cubicBezTo>
                    <a:pt x="1742263" y="1795273"/>
                    <a:pt x="2044583" y="1703242"/>
                    <a:pt x="2306703" y="1548017"/>
                  </a:cubicBezTo>
                  <a:lnTo>
                    <a:pt x="2040348" y="1239380"/>
                  </a:lnTo>
                  <a:cubicBezTo>
                    <a:pt x="1849899" y="1340878"/>
                    <a:pt x="1634860" y="1400163"/>
                    <a:pt x="1408392" y="1407879"/>
                  </a:cubicBezTo>
                  <a:cubicBezTo>
                    <a:pt x="1146898" y="1416790"/>
                    <a:pt x="895927" y="1356070"/>
                    <a:pt x="676387" y="1239515"/>
                  </a:cubicBezTo>
                  <a:lnTo>
                    <a:pt x="410321" y="1547819"/>
                  </a:lnTo>
                  <a:cubicBezTo>
                    <a:pt x="708332" y="1724445"/>
                    <a:pt x="1057093" y="1818621"/>
                    <a:pt x="1421965" y="1806188"/>
                  </a:cubicBezTo>
                  <a:close/>
                  <a:moveTo>
                    <a:pt x="1431094" y="2428153"/>
                  </a:moveTo>
                  <a:cubicBezTo>
                    <a:pt x="1901625" y="2414402"/>
                    <a:pt x="2343755" y="2269246"/>
                    <a:pt x="2717007" y="2023457"/>
                  </a:cubicBezTo>
                  <a:lnTo>
                    <a:pt x="2448778" y="1712646"/>
                  </a:lnTo>
                  <a:cubicBezTo>
                    <a:pt x="2146604" y="1900630"/>
                    <a:pt x="1793663" y="2011031"/>
                    <a:pt x="1419227" y="2021974"/>
                  </a:cubicBezTo>
                  <a:cubicBezTo>
                    <a:pt x="1002050" y="2034166"/>
                    <a:pt x="604300" y="1921550"/>
                    <a:pt x="267412" y="1713414"/>
                  </a:cubicBezTo>
                  <a:lnTo>
                    <a:pt x="0" y="2023278"/>
                  </a:lnTo>
                  <a:cubicBezTo>
                    <a:pt x="413380" y="2295422"/>
                    <a:pt x="909534" y="2443395"/>
                    <a:pt x="1431094" y="2428153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</p:spPr>
          <p:txBody>
            <a:bodyPr/>
            <a:lstStyle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7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4"/>
            <a:ext cx="551932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课题研究的国内外理论基础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588881" y="2009922"/>
            <a:ext cx="4005943" cy="1582058"/>
            <a:chOff x="1588879" y="2009922"/>
            <a:chExt cx="4005943" cy="1582058"/>
          </a:xfrm>
        </p:grpSpPr>
        <p:grpSp>
          <p:nvGrpSpPr>
            <p:cNvPr id="18" name="组合 17"/>
            <p:cNvGrpSpPr/>
            <p:nvPr/>
          </p:nvGrpSpPr>
          <p:grpSpPr>
            <a:xfrm>
              <a:off x="1588879" y="2009922"/>
              <a:ext cx="4005943" cy="1582058"/>
              <a:chOff x="1464128" y="1520824"/>
              <a:chExt cx="4005943" cy="1582058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1464128" y="1520824"/>
                <a:ext cx="4005943" cy="1582058"/>
                <a:chOff x="1464128" y="1520824"/>
                <a:chExt cx="4005943" cy="1582058"/>
              </a:xfrm>
            </p:grpSpPr>
            <p:sp>
              <p:nvSpPr>
                <p:cNvPr id="23" name="圆角矩形 20"/>
                <p:cNvSpPr/>
                <p:nvPr/>
              </p:nvSpPr>
              <p:spPr>
                <a:xfrm>
                  <a:off x="1464128" y="1520825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gradFill>
                  <a:gsLst>
                    <a:gs pos="100000">
                      <a:srgbClr val="D1D1D1"/>
                    </a:gs>
                    <a:gs pos="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292100" dist="127000" dir="2700000" algn="tl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圆角矩形 21"/>
                <p:cNvSpPr/>
                <p:nvPr/>
              </p:nvSpPr>
              <p:spPr>
                <a:xfrm>
                  <a:off x="1464128" y="1520824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softEdge rad="3175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1" name="圆角矩形 18"/>
              <p:cNvSpPr/>
              <p:nvPr/>
            </p:nvSpPr>
            <p:spPr>
              <a:xfrm>
                <a:off x="2572431" y="1708653"/>
                <a:ext cx="1684020" cy="400314"/>
              </a:xfrm>
              <a:prstGeom prst="roundRect">
                <a:avLst/>
              </a:prstGeom>
              <a:solidFill>
                <a:schemeClr val="accent2">
                  <a:lumMod val="100000"/>
                </a:schemeClr>
              </a:solidFill>
              <a:ln w="190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762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652441" y="1708652"/>
                <a:ext cx="152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RAG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技术</a:t>
                </a:r>
              </a:p>
            </p:txBody>
          </p:sp>
        </p:grpSp>
        <p:sp>
          <p:nvSpPr>
            <p:cNvPr id="19" name="矩形 47"/>
            <p:cNvSpPr>
              <a:spLocks noChangeArrowheads="1"/>
            </p:cNvSpPr>
            <p:nvPr/>
          </p:nvSpPr>
          <p:spPr bwMode="auto">
            <a:xfrm>
              <a:off x="1680303" y="2683934"/>
              <a:ext cx="3823094" cy="715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3" tIns="34287" rIns="68573" bIns="34287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引入外部知识库，让回答基于真实可靠的信息，从源头有效抑制大模型的幻觉问题，提升输出内容的准确性与可信度。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490854" y="2009922"/>
            <a:ext cx="4005943" cy="1582058"/>
            <a:chOff x="6490853" y="2009922"/>
            <a:chExt cx="4005943" cy="1582058"/>
          </a:xfrm>
        </p:grpSpPr>
        <p:grpSp>
          <p:nvGrpSpPr>
            <p:cNvPr id="26" name="组合 25"/>
            <p:cNvGrpSpPr/>
            <p:nvPr/>
          </p:nvGrpSpPr>
          <p:grpSpPr>
            <a:xfrm>
              <a:off x="6490853" y="2009922"/>
              <a:ext cx="4005943" cy="1582058"/>
              <a:chOff x="1464128" y="1520824"/>
              <a:chExt cx="4005943" cy="1582058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464128" y="1520824"/>
                <a:ext cx="4005943" cy="1582058"/>
                <a:chOff x="1464128" y="1520824"/>
                <a:chExt cx="4005943" cy="1582058"/>
              </a:xfrm>
            </p:grpSpPr>
            <p:sp>
              <p:nvSpPr>
                <p:cNvPr id="31" name="圆角矩形 28"/>
                <p:cNvSpPr/>
                <p:nvPr/>
              </p:nvSpPr>
              <p:spPr>
                <a:xfrm>
                  <a:off x="1464128" y="1520825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gradFill>
                  <a:gsLst>
                    <a:gs pos="100000">
                      <a:srgbClr val="D1D1D1"/>
                    </a:gs>
                    <a:gs pos="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292100" dist="127000" dir="2700000" algn="tl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圆角矩形 29"/>
                <p:cNvSpPr/>
                <p:nvPr/>
              </p:nvSpPr>
              <p:spPr>
                <a:xfrm>
                  <a:off x="1464128" y="1520824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softEdge rad="3175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圆角矩形 26"/>
              <p:cNvSpPr/>
              <p:nvPr/>
            </p:nvSpPr>
            <p:spPr>
              <a:xfrm>
                <a:off x="2518410" y="1708653"/>
                <a:ext cx="1684020" cy="400314"/>
              </a:xfrm>
              <a:prstGeom prst="roundRect">
                <a:avLst/>
              </a:prstGeom>
              <a:solidFill>
                <a:schemeClr val="accent4"/>
              </a:solidFill>
              <a:ln w="190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762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2440874" y="1692253"/>
                <a:ext cx="18696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幻觉抑制理论</a:t>
                </a:r>
              </a:p>
            </p:txBody>
          </p:sp>
        </p:grpSp>
        <p:sp>
          <p:nvSpPr>
            <p:cNvPr id="27" name="矩形 47"/>
            <p:cNvSpPr>
              <a:spLocks noChangeArrowheads="1"/>
            </p:cNvSpPr>
            <p:nvPr/>
          </p:nvSpPr>
          <p:spPr bwMode="auto">
            <a:xfrm>
              <a:off x="6582277" y="2690846"/>
              <a:ext cx="3823094" cy="715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3" tIns="34287" rIns="68573" bIns="34287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通过知识约束、</a:t>
              </a:r>
              <a:r>
                <a:rPr lang="en-US" altLang="zh-CN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prompt </a:t>
              </a: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自检、结果校验多重机制限制模型虚构内容，及时修正定理误用、条件遗漏等典型知识性错误幻觉。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588881" y="4158039"/>
            <a:ext cx="4005943" cy="1582059"/>
            <a:chOff x="1588879" y="4158037"/>
            <a:chExt cx="4005943" cy="1582058"/>
          </a:xfrm>
        </p:grpSpPr>
        <p:grpSp>
          <p:nvGrpSpPr>
            <p:cNvPr id="34" name="组合 33"/>
            <p:cNvGrpSpPr/>
            <p:nvPr/>
          </p:nvGrpSpPr>
          <p:grpSpPr>
            <a:xfrm>
              <a:off x="1588879" y="4158037"/>
              <a:ext cx="4005943" cy="1582058"/>
              <a:chOff x="1464128" y="1520824"/>
              <a:chExt cx="4005943" cy="1582058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1464128" y="1520824"/>
                <a:ext cx="4005943" cy="1582058"/>
                <a:chOff x="1464128" y="1520824"/>
                <a:chExt cx="4005943" cy="1582058"/>
              </a:xfrm>
            </p:grpSpPr>
            <p:sp>
              <p:nvSpPr>
                <p:cNvPr id="39" name="圆角矩形 36"/>
                <p:cNvSpPr/>
                <p:nvPr/>
              </p:nvSpPr>
              <p:spPr>
                <a:xfrm>
                  <a:off x="1464128" y="1520825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gradFill>
                  <a:gsLst>
                    <a:gs pos="100000">
                      <a:srgbClr val="D1D1D1"/>
                    </a:gs>
                    <a:gs pos="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292100" dist="127000" dir="2700000" algn="tl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圆角矩形 37"/>
                <p:cNvSpPr/>
                <p:nvPr/>
              </p:nvSpPr>
              <p:spPr>
                <a:xfrm>
                  <a:off x="1464128" y="1520824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softEdge rad="3175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7" name="圆角矩形 34"/>
              <p:cNvSpPr/>
              <p:nvPr/>
            </p:nvSpPr>
            <p:spPr>
              <a:xfrm>
                <a:off x="2572431" y="1687743"/>
                <a:ext cx="1684020" cy="379338"/>
              </a:xfrm>
              <a:prstGeom prst="roundRect">
                <a:avLst/>
              </a:prstGeom>
              <a:solidFill>
                <a:schemeClr val="accent3">
                  <a:lumMod val="100000"/>
                </a:schemeClr>
              </a:solidFill>
              <a:ln w="190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762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22723" y="1666970"/>
                <a:ext cx="23834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向量检索理论</a:t>
                </a:r>
              </a:p>
            </p:txBody>
          </p:sp>
        </p:grpSp>
        <p:sp>
          <p:nvSpPr>
            <p:cNvPr id="35" name="矩形 47"/>
            <p:cNvSpPr>
              <a:spLocks noChangeArrowheads="1"/>
            </p:cNvSpPr>
            <p:nvPr/>
          </p:nvSpPr>
          <p:spPr bwMode="auto">
            <a:xfrm>
              <a:off x="1680303" y="4800599"/>
              <a:ext cx="3823094" cy="715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3" tIns="34287" rIns="68573" bIns="34287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将文本转换为高维空间中的向量，通过计算向量间的余弦相似度度量语义关联，快速定位知识库中最相关的数学知识点，实现语义级别的精准检索。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490854" y="4158039"/>
            <a:ext cx="4005943" cy="1582059"/>
            <a:chOff x="6490853" y="4158037"/>
            <a:chExt cx="4005943" cy="1582058"/>
          </a:xfrm>
        </p:grpSpPr>
        <p:grpSp>
          <p:nvGrpSpPr>
            <p:cNvPr id="42" name="组合 41"/>
            <p:cNvGrpSpPr/>
            <p:nvPr/>
          </p:nvGrpSpPr>
          <p:grpSpPr>
            <a:xfrm>
              <a:off x="6490853" y="4158037"/>
              <a:ext cx="4005943" cy="1582058"/>
              <a:chOff x="1464128" y="1520824"/>
              <a:chExt cx="4005943" cy="1582058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1464128" y="1520824"/>
                <a:ext cx="4005943" cy="1582058"/>
                <a:chOff x="1464128" y="1520824"/>
                <a:chExt cx="4005943" cy="1582058"/>
              </a:xfrm>
            </p:grpSpPr>
            <p:sp>
              <p:nvSpPr>
                <p:cNvPr id="47" name="圆角矩形 44"/>
                <p:cNvSpPr/>
                <p:nvPr/>
              </p:nvSpPr>
              <p:spPr>
                <a:xfrm>
                  <a:off x="1464128" y="1520825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gradFill>
                  <a:gsLst>
                    <a:gs pos="100000">
                      <a:srgbClr val="D1D1D1"/>
                    </a:gs>
                    <a:gs pos="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292100" dist="127000" dir="2700000" algn="tl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圆角矩形 45"/>
                <p:cNvSpPr/>
                <p:nvPr/>
              </p:nvSpPr>
              <p:spPr>
                <a:xfrm>
                  <a:off x="1464128" y="1520824"/>
                  <a:ext cx="4005943" cy="1582057"/>
                </a:xfrm>
                <a:prstGeom prst="roundRect">
                  <a:avLst>
                    <a:gd name="adj" fmla="val 13915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softEdge rad="3175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5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圆角矩形 42"/>
              <p:cNvSpPr/>
              <p:nvPr/>
            </p:nvSpPr>
            <p:spPr>
              <a:xfrm>
                <a:off x="2292200" y="1687741"/>
                <a:ext cx="2167018" cy="387669"/>
              </a:xfrm>
              <a:prstGeom prst="roundRect">
                <a:avLst/>
              </a:prstGeom>
              <a:solidFill>
                <a:schemeClr val="accent5"/>
              </a:solidFill>
              <a:ln w="19050">
                <a:noFill/>
              </a:ln>
              <a:effectLst>
                <a:innerShdw blurRad="762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3" name="矩形 47"/>
            <p:cNvSpPr>
              <a:spLocks noChangeArrowheads="1"/>
            </p:cNvSpPr>
            <p:nvPr/>
          </p:nvSpPr>
          <p:spPr bwMode="auto">
            <a:xfrm>
              <a:off x="6629399" y="4800599"/>
              <a:ext cx="3823094" cy="715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3" tIns="34287" rIns="68573" bIns="34287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采用“先粗筛、后精排”的二阶段策略，对初步召回的文档块进行二次排序，将定义、定理等核心知识前置，确保关键信息优先被模型用于生成回答。</a:t>
              </a:r>
            </a:p>
          </p:txBody>
        </p:sp>
      </p:grpSp>
      <p:sp>
        <p:nvSpPr>
          <p:cNvPr id="49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7F6A06-43A3-8315-65ED-37D67229AD27}"/>
              </a:ext>
            </a:extLst>
          </p:cNvPr>
          <p:cNvSpPr txBox="1"/>
          <p:nvPr/>
        </p:nvSpPr>
        <p:spPr>
          <a:xfrm>
            <a:off x="7268502" y="4304184"/>
            <a:ext cx="2256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重排序与检索优化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4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4140200" y="1536700"/>
            <a:ext cx="8046720" cy="3189731"/>
          </a:xfrm>
          <a:custGeom>
            <a:avLst/>
            <a:gdLst/>
            <a:ahLst/>
            <a:cxnLst/>
            <a:rect l="l" t="t" r="r" b="b"/>
            <a:pathLst>
              <a:path w="8046720" h="3189731">
                <a:moveTo>
                  <a:pt x="0" y="3189731"/>
                </a:moveTo>
                <a:lnTo>
                  <a:pt x="8046720" y="3189731"/>
                </a:lnTo>
                <a:lnTo>
                  <a:pt x="8046720" y="0"/>
                </a:lnTo>
                <a:lnTo>
                  <a:pt x="0" y="0"/>
                </a:lnTo>
                <a:lnTo>
                  <a:pt x="0" y="3189731"/>
                </a:lnTo>
                <a:close/>
              </a:path>
            </a:pathLst>
          </a:custGeom>
          <a:noFill/>
          <a:ln w="12700" cap="flat" cmpd="sng">
            <a:solidFill>
              <a:srgbClr val="F1F1F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67200" y="2260600"/>
            <a:ext cx="7747000" cy="259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4521200"/>
            <a:ext cx="39370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28600" y="50800"/>
            <a:ext cx="21717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6045200"/>
            <a:ext cx="12166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470400" y="3136900"/>
            <a:ext cx="32639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BE3223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研究内容与方法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75100" y="51308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zh-CN" altLang="en-US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课题</a:t>
            </a: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研究内容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172200" y="51308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主要研究方法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975100" y="56134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技术路线规划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172200" y="5613400"/>
            <a:ext cx="22987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71500" indent="-228600"/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marL="342900" indent="-342900" algn="l">
              <a:lnSpc>
                <a:spcPct val="100000"/>
              </a:lnSpc>
              <a:buClr>
                <a:srgbClr val="4F81BD"/>
              </a:buClr>
              <a:buSzPct val="100000"/>
              <a:buFont typeface="Wingdings"/>
              <a:buChar char="ü"/>
              <a:defRPr/>
            </a:pPr>
            <a:r>
              <a:rPr 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zh-CN" altLang="en-US" sz="1800" b="0" i="0" u="none" strike="noStrike" dirty="0">
                <a:solidFill>
                  <a:srgbClr val="4F81BD"/>
                </a:solidFill>
                <a:latin typeface="微软雅黑"/>
                <a:ea typeface="微软雅黑"/>
                <a:cs typeface="微软雅黑"/>
                <a:sym typeface="微软雅黑"/>
              </a:rPr>
              <a:t>创新价值挖掘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156200" y="952500"/>
            <a:ext cx="1879600" cy="1892300"/>
          </a:xfrm>
          <a:prstGeom prst="ellipse">
            <a:avLst/>
          </a:prstGeom>
          <a:noFill/>
          <a:ln w="50800" cap="flat" cmpd="sng">
            <a:solidFill>
              <a:srgbClr val="C00000">
                <a:alpha val="100000"/>
              </a:srgbClr>
            </a:solidFill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500" b="1" i="0" u="none" strike="noStrike" spc="-300">
                <a:solidFill>
                  <a:srgbClr val="C0504D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36EA-AFBD-A7F3-7250-1FDFB8C83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951620-8A2F-1B8B-6EC6-B66B55874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9" y="70814"/>
            <a:ext cx="43490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课题研究的主要内容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1066F893-B1C0-C16B-281F-254474140C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13327" y="1870120"/>
            <a:ext cx="4094874" cy="4093354"/>
            <a:chOff x="943" y="1000"/>
            <a:chExt cx="2696" cy="2695"/>
          </a:xfrm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06DCE30F-3BFA-0B52-6C01-CD61BD2A0EAA}"/>
                </a:ext>
              </a:extLst>
            </p:cNvPr>
            <p:cNvSpPr/>
            <p:nvPr/>
          </p:nvSpPr>
          <p:spPr bwMode="auto">
            <a:xfrm>
              <a:off x="2362" y="1002"/>
              <a:ext cx="1277" cy="1544"/>
            </a:xfrm>
            <a:custGeom>
              <a:avLst/>
              <a:gdLst>
                <a:gd name="T0" fmla="*/ 0 w 539"/>
                <a:gd name="T1" fmla="*/ 322 h 652"/>
                <a:gd name="T2" fmla="*/ 218 w 539"/>
                <a:gd name="T3" fmla="*/ 564 h 652"/>
                <a:gd name="T4" fmla="*/ 379 w 539"/>
                <a:gd name="T5" fmla="*/ 652 h 652"/>
                <a:gd name="T6" fmla="*/ 539 w 539"/>
                <a:gd name="T7" fmla="*/ 564 h 652"/>
                <a:gd name="T8" fmla="*/ 2 w 539"/>
                <a:gd name="T9" fmla="*/ 0 h 652"/>
                <a:gd name="T10" fmla="*/ 89 w 539"/>
                <a:gd name="T11" fmla="*/ 158 h 652"/>
                <a:gd name="T12" fmla="*/ 0 w 539"/>
                <a:gd name="T13" fmla="*/ 32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652">
                  <a:moveTo>
                    <a:pt x="0" y="322"/>
                  </a:moveTo>
                  <a:cubicBezTo>
                    <a:pt x="122" y="337"/>
                    <a:pt x="216" y="439"/>
                    <a:pt x="218" y="564"/>
                  </a:cubicBezTo>
                  <a:cubicBezTo>
                    <a:pt x="379" y="652"/>
                    <a:pt x="379" y="652"/>
                    <a:pt x="379" y="652"/>
                  </a:cubicBezTo>
                  <a:cubicBezTo>
                    <a:pt x="539" y="564"/>
                    <a:pt x="539" y="564"/>
                    <a:pt x="539" y="564"/>
                  </a:cubicBezTo>
                  <a:cubicBezTo>
                    <a:pt x="536" y="263"/>
                    <a:pt x="300" y="17"/>
                    <a:pt x="2" y="0"/>
                  </a:cubicBezTo>
                  <a:cubicBezTo>
                    <a:pt x="89" y="158"/>
                    <a:pt x="89" y="158"/>
                    <a:pt x="89" y="158"/>
                  </a:cubicBezTo>
                  <a:lnTo>
                    <a:pt x="0" y="3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DD1F5CEF-1A94-3140-E63F-C82D398A45C4}"/>
                </a:ext>
              </a:extLst>
            </p:cNvPr>
            <p:cNvSpPr/>
            <p:nvPr/>
          </p:nvSpPr>
          <p:spPr bwMode="auto">
            <a:xfrm>
              <a:off x="943" y="1000"/>
              <a:ext cx="1545" cy="1276"/>
            </a:xfrm>
            <a:custGeom>
              <a:avLst/>
              <a:gdLst>
                <a:gd name="T0" fmla="*/ 322 w 652"/>
                <a:gd name="T1" fmla="*/ 539 h 539"/>
                <a:gd name="T2" fmla="*/ 564 w 652"/>
                <a:gd name="T3" fmla="*/ 321 h 539"/>
                <a:gd name="T4" fmla="*/ 652 w 652"/>
                <a:gd name="T5" fmla="*/ 160 h 539"/>
                <a:gd name="T6" fmla="*/ 564 w 652"/>
                <a:gd name="T7" fmla="*/ 0 h 539"/>
                <a:gd name="T8" fmla="*/ 0 w 652"/>
                <a:gd name="T9" fmla="*/ 537 h 539"/>
                <a:gd name="T10" fmla="*/ 159 w 652"/>
                <a:gd name="T11" fmla="*/ 450 h 539"/>
                <a:gd name="T12" fmla="*/ 322 w 652"/>
                <a:gd name="T13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539">
                  <a:moveTo>
                    <a:pt x="322" y="539"/>
                  </a:moveTo>
                  <a:cubicBezTo>
                    <a:pt x="337" y="417"/>
                    <a:pt x="439" y="323"/>
                    <a:pt x="564" y="321"/>
                  </a:cubicBezTo>
                  <a:cubicBezTo>
                    <a:pt x="652" y="160"/>
                    <a:pt x="652" y="160"/>
                    <a:pt x="652" y="160"/>
                  </a:cubicBezTo>
                  <a:cubicBezTo>
                    <a:pt x="564" y="0"/>
                    <a:pt x="564" y="0"/>
                    <a:pt x="564" y="0"/>
                  </a:cubicBezTo>
                  <a:cubicBezTo>
                    <a:pt x="263" y="3"/>
                    <a:pt x="17" y="239"/>
                    <a:pt x="0" y="537"/>
                  </a:cubicBezTo>
                  <a:cubicBezTo>
                    <a:pt x="159" y="450"/>
                    <a:pt x="159" y="450"/>
                    <a:pt x="159" y="450"/>
                  </a:cubicBezTo>
                  <a:lnTo>
                    <a:pt x="322" y="5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88D73B05-7FA8-88B1-D8E6-A42AF8203228}"/>
                </a:ext>
              </a:extLst>
            </p:cNvPr>
            <p:cNvSpPr/>
            <p:nvPr/>
          </p:nvSpPr>
          <p:spPr bwMode="auto">
            <a:xfrm>
              <a:off x="2092" y="2421"/>
              <a:ext cx="1544" cy="1274"/>
            </a:xfrm>
            <a:custGeom>
              <a:avLst/>
              <a:gdLst>
                <a:gd name="T0" fmla="*/ 652 w 652"/>
                <a:gd name="T1" fmla="*/ 2 h 538"/>
                <a:gd name="T2" fmla="*/ 494 w 652"/>
                <a:gd name="T3" fmla="*/ 89 h 538"/>
                <a:gd name="T4" fmla="*/ 330 w 652"/>
                <a:gd name="T5" fmla="*/ 0 h 538"/>
                <a:gd name="T6" fmla="*/ 88 w 652"/>
                <a:gd name="T7" fmla="*/ 218 h 538"/>
                <a:gd name="T8" fmla="*/ 0 w 652"/>
                <a:gd name="T9" fmla="*/ 379 h 538"/>
                <a:gd name="T10" fmla="*/ 88 w 652"/>
                <a:gd name="T11" fmla="*/ 538 h 538"/>
                <a:gd name="T12" fmla="*/ 652 w 652"/>
                <a:gd name="T13" fmla="*/ 2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538">
                  <a:moveTo>
                    <a:pt x="652" y="2"/>
                  </a:moveTo>
                  <a:cubicBezTo>
                    <a:pt x="494" y="89"/>
                    <a:pt x="494" y="89"/>
                    <a:pt x="494" y="89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15" y="122"/>
                    <a:pt x="213" y="216"/>
                    <a:pt x="88" y="21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88" y="538"/>
                    <a:pt x="88" y="538"/>
                    <a:pt x="88" y="538"/>
                  </a:cubicBezTo>
                  <a:cubicBezTo>
                    <a:pt x="389" y="536"/>
                    <a:pt x="635" y="300"/>
                    <a:pt x="652" y="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08BC916-D68D-9B8E-9ED1-85AF23FED527}"/>
                </a:ext>
              </a:extLst>
            </p:cNvPr>
            <p:cNvSpPr/>
            <p:nvPr/>
          </p:nvSpPr>
          <p:spPr bwMode="auto">
            <a:xfrm>
              <a:off x="943" y="2151"/>
              <a:ext cx="1275" cy="1544"/>
            </a:xfrm>
            <a:custGeom>
              <a:avLst/>
              <a:gdLst>
                <a:gd name="T0" fmla="*/ 538 w 538"/>
                <a:gd name="T1" fmla="*/ 330 h 652"/>
                <a:gd name="T2" fmla="*/ 320 w 538"/>
                <a:gd name="T3" fmla="*/ 88 h 652"/>
                <a:gd name="T4" fmla="*/ 159 w 538"/>
                <a:gd name="T5" fmla="*/ 0 h 652"/>
                <a:gd name="T6" fmla="*/ 0 w 538"/>
                <a:gd name="T7" fmla="*/ 88 h 652"/>
                <a:gd name="T8" fmla="*/ 536 w 538"/>
                <a:gd name="T9" fmla="*/ 652 h 652"/>
                <a:gd name="T10" fmla="*/ 449 w 538"/>
                <a:gd name="T11" fmla="*/ 493 h 652"/>
                <a:gd name="T12" fmla="*/ 538 w 538"/>
                <a:gd name="T13" fmla="*/ 33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8" h="652">
                  <a:moveTo>
                    <a:pt x="538" y="330"/>
                  </a:moveTo>
                  <a:cubicBezTo>
                    <a:pt x="416" y="315"/>
                    <a:pt x="322" y="213"/>
                    <a:pt x="320" y="88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2" y="389"/>
                    <a:pt x="238" y="635"/>
                    <a:pt x="536" y="652"/>
                  </a:cubicBezTo>
                  <a:cubicBezTo>
                    <a:pt x="449" y="493"/>
                    <a:pt x="449" y="493"/>
                    <a:pt x="449" y="493"/>
                  </a:cubicBezTo>
                  <a:lnTo>
                    <a:pt x="538" y="33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54" name="Group 22">
            <a:extLst>
              <a:ext uri="{FF2B5EF4-FFF2-40B4-BE49-F238E27FC236}">
                <a16:creationId xmlns:a16="http://schemas.microsoft.com/office/drawing/2014/main" id="{33CD950B-A6CB-4ACB-20DD-F63343889AA6}"/>
              </a:ext>
            </a:extLst>
          </p:cNvPr>
          <p:cNvGrpSpPr/>
          <p:nvPr/>
        </p:nvGrpSpPr>
        <p:grpSpPr>
          <a:xfrm>
            <a:off x="2139160" y="2509125"/>
            <a:ext cx="2465796" cy="302521"/>
            <a:chOff x="1582038" y="2697524"/>
            <a:chExt cx="2577213" cy="316190"/>
          </a:xfrm>
        </p:grpSpPr>
        <p:cxnSp>
          <p:nvCxnSpPr>
            <p:cNvPr id="55" name="Straight Connector 23">
              <a:extLst>
                <a:ext uri="{FF2B5EF4-FFF2-40B4-BE49-F238E27FC236}">
                  <a16:creationId xmlns:a16="http://schemas.microsoft.com/office/drawing/2014/main" id="{35A68412-5087-0FD0-5FFC-F46F2A0510F1}"/>
                </a:ext>
              </a:extLst>
            </p:cNvPr>
            <p:cNvCxnSpPr/>
            <p:nvPr/>
          </p:nvCxnSpPr>
          <p:spPr>
            <a:xfrm flipH="1" flipV="1">
              <a:off x="3661285" y="2697524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24">
              <a:extLst>
                <a:ext uri="{FF2B5EF4-FFF2-40B4-BE49-F238E27FC236}">
                  <a16:creationId xmlns:a16="http://schemas.microsoft.com/office/drawing/2014/main" id="{1D8BD4C4-F484-8853-B7EC-3BD2CE6DEF45}"/>
                </a:ext>
              </a:extLst>
            </p:cNvPr>
            <p:cNvCxnSpPr/>
            <p:nvPr/>
          </p:nvCxnSpPr>
          <p:spPr>
            <a:xfrm flipH="1">
              <a:off x="1582038" y="2697524"/>
              <a:ext cx="207924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26">
            <a:extLst>
              <a:ext uri="{FF2B5EF4-FFF2-40B4-BE49-F238E27FC236}">
                <a16:creationId xmlns:a16="http://schemas.microsoft.com/office/drawing/2014/main" id="{66CB9675-52AE-B6AC-35F1-013BF302E1D5}"/>
              </a:ext>
            </a:extLst>
          </p:cNvPr>
          <p:cNvGrpSpPr/>
          <p:nvPr/>
        </p:nvGrpSpPr>
        <p:grpSpPr>
          <a:xfrm>
            <a:off x="2248913" y="4882261"/>
            <a:ext cx="2385936" cy="302521"/>
            <a:chOff x="1804697" y="4994858"/>
            <a:chExt cx="2493744" cy="316190"/>
          </a:xfrm>
        </p:grpSpPr>
        <p:cxnSp>
          <p:nvCxnSpPr>
            <p:cNvPr id="58" name="Straight Connector 27">
              <a:extLst>
                <a:ext uri="{FF2B5EF4-FFF2-40B4-BE49-F238E27FC236}">
                  <a16:creationId xmlns:a16="http://schemas.microsoft.com/office/drawing/2014/main" id="{73D2C99F-71C2-A372-E8DE-1D923CAB8A3A}"/>
                </a:ext>
              </a:extLst>
            </p:cNvPr>
            <p:cNvCxnSpPr/>
            <p:nvPr/>
          </p:nvCxnSpPr>
          <p:spPr>
            <a:xfrm flipH="1">
              <a:off x="3800475" y="4994858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8">
              <a:extLst>
                <a:ext uri="{FF2B5EF4-FFF2-40B4-BE49-F238E27FC236}">
                  <a16:creationId xmlns:a16="http://schemas.microsoft.com/office/drawing/2014/main" id="{0EE0AA54-95B7-9DA2-0A49-CFEA244A2D91}"/>
                </a:ext>
              </a:extLst>
            </p:cNvPr>
            <p:cNvCxnSpPr/>
            <p:nvPr/>
          </p:nvCxnSpPr>
          <p:spPr>
            <a:xfrm flipH="1">
              <a:off x="1804697" y="5311048"/>
              <a:ext cx="199577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29">
            <a:extLst>
              <a:ext uri="{FF2B5EF4-FFF2-40B4-BE49-F238E27FC236}">
                <a16:creationId xmlns:a16="http://schemas.microsoft.com/office/drawing/2014/main" id="{C8FA8880-EACD-2000-EDB3-DC526A7A25CE}"/>
              </a:ext>
            </a:extLst>
          </p:cNvPr>
          <p:cNvGrpSpPr/>
          <p:nvPr/>
        </p:nvGrpSpPr>
        <p:grpSpPr>
          <a:xfrm>
            <a:off x="7189149" y="2312482"/>
            <a:ext cx="2682070" cy="302521"/>
            <a:chOff x="7528087" y="2680840"/>
            <a:chExt cx="2803259" cy="316190"/>
          </a:xfrm>
        </p:grpSpPr>
        <p:cxnSp>
          <p:nvCxnSpPr>
            <p:cNvPr id="61" name="Straight Connector 30">
              <a:extLst>
                <a:ext uri="{FF2B5EF4-FFF2-40B4-BE49-F238E27FC236}">
                  <a16:creationId xmlns:a16="http://schemas.microsoft.com/office/drawing/2014/main" id="{D03901D8-86F7-3DE1-6159-280F7A72BEE0}"/>
                </a:ext>
              </a:extLst>
            </p:cNvPr>
            <p:cNvCxnSpPr/>
            <p:nvPr/>
          </p:nvCxnSpPr>
          <p:spPr>
            <a:xfrm flipV="1">
              <a:off x="7528087" y="2680840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31">
              <a:extLst>
                <a:ext uri="{FF2B5EF4-FFF2-40B4-BE49-F238E27FC236}">
                  <a16:creationId xmlns:a16="http://schemas.microsoft.com/office/drawing/2014/main" id="{D46A4BEE-5882-8953-2D05-5E99A08717E4}"/>
                </a:ext>
              </a:extLst>
            </p:cNvPr>
            <p:cNvCxnSpPr/>
            <p:nvPr/>
          </p:nvCxnSpPr>
          <p:spPr>
            <a:xfrm>
              <a:off x="8026053" y="2680840"/>
              <a:ext cx="230529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32">
            <a:extLst>
              <a:ext uri="{FF2B5EF4-FFF2-40B4-BE49-F238E27FC236}">
                <a16:creationId xmlns:a16="http://schemas.microsoft.com/office/drawing/2014/main" id="{DEF6934C-8527-9A60-C8EA-81859055BF3F}"/>
              </a:ext>
            </a:extLst>
          </p:cNvPr>
          <p:cNvGrpSpPr/>
          <p:nvPr/>
        </p:nvGrpSpPr>
        <p:grpSpPr>
          <a:xfrm>
            <a:off x="7763940" y="4936393"/>
            <a:ext cx="2286290" cy="194256"/>
            <a:chOff x="8125333" y="4745260"/>
            <a:chExt cx="2389596" cy="203034"/>
          </a:xfrm>
        </p:grpSpPr>
        <p:cxnSp>
          <p:nvCxnSpPr>
            <p:cNvPr id="64" name="Straight Connector 33">
              <a:extLst>
                <a:ext uri="{FF2B5EF4-FFF2-40B4-BE49-F238E27FC236}">
                  <a16:creationId xmlns:a16="http://schemas.microsoft.com/office/drawing/2014/main" id="{321229B6-35B7-346C-C0D9-9C925AE1DD4F}"/>
                </a:ext>
              </a:extLst>
            </p:cNvPr>
            <p:cNvCxnSpPr/>
            <p:nvPr/>
          </p:nvCxnSpPr>
          <p:spPr>
            <a:xfrm>
              <a:off x="8125333" y="4745260"/>
              <a:ext cx="522140" cy="2030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34">
              <a:extLst>
                <a:ext uri="{FF2B5EF4-FFF2-40B4-BE49-F238E27FC236}">
                  <a16:creationId xmlns:a16="http://schemas.microsoft.com/office/drawing/2014/main" id="{E2A02E98-4448-1E18-372B-672286D44BBB}"/>
                </a:ext>
              </a:extLst>
            </p:cNvPr>
            <p:cNvCxnSpPr/>
            <p:nvPr/>
          </p:nvCxnSpPr>
          <p:spPr>
            <a:xfrm>
              <a:off x="8647472" y="4948294"/>
              <a:ext cx="186745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8">
            <a:extLst>
              <a:ext uri="{FF2B5EF4-FFF2-40B4-BE49-F238E27FC236}">
                <a16:creationId xmlns:a16="http://schemas.microsoft.com/office/drawing/2014/main" id="{2AF3A302-7376-8B30-F6E8-F91125D66E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59590" y="4688943"/>
            <a:ext cx="747283" cy="745764"/>
            <a:chOff x="2183" y="3253"/>
            <a:chExt cx="492" cy="491"/>
          </a:xfrm>
          <a:solidFill>
            <a:schemeClr val="accent3"/>
          </a:solidFill>
        </p:grpSpPr>
        <p:sp>
          <p:nvSpPr>
            <p:cNvPr id="67" name="Freeform 9">
              <a:extLst>
                <a:ext uri="{FF2B5EF4-FFF2-40B4-BE49-F238E27FC236}">
                  <a16:creationId xmlns:a16="http://schemas.microsoft.com/office/drawing/2014/main" id="{A374ADC6-513A-0A14-4F85-2E1CCBCDB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3" y="3298"/>
              <a:ext cx="444" cy="446"/>
            </a:xfrm>
            <a:custGeom>
              <a:avLst/>
              <a:gdLst>
                <a:gd name="T0" fmla="*/ 93 w 185"/>
                <a:gd name="T1" fmla="*/ 186 h 186"/>
                <a:gd name="T2" fmla="*/ 185 w 185"/>
                <a:gd name="T3" fmla="*/ 93 h 186"/>
                <a:gd name="T4" fmla="*/ 175 w 185"/>
                <a:gd name="T5" fmla="*/ 49 h 186"/>
                <a:gd name="T6" fmla="*/ 172 w 185"/>
                <a:gd name="T7" fmla="*/ 49 h 186"/>
                <a:gd name="T8" fmla="*/ 171 w 185"/>
                <a:gd name="T9" fmla="*/ 49 h 186"/>
                <a:gd name="T10" fmla="*/ 159 w 185"/>
                <a:gd name="T11" fmla="*/ 48 h 186"/>
                <a:gd name="T12" fmla="*/ 151 w 185"/>
                <a:gd name="T13" fmla="*/ 57 h 186"/>
                <a:gd name="T14" fmla="*/ 161 w 185"/>
                <a:gd name="T15" fmla="*/ 93 h 186"/>
                <a:gd name="T16" fmla="*/ 93 w 185"/>
                <a:gd name="T17" fmla="*/ 161 h 186"/>
                <a:gd name="T18" fmla="*/ 25 w 185"/>
                <a:gd name="T19" fmla="*/ 93 h 186"/>
                <a:gd name="T20" fmla="*/ 93 w 185"/>
                <a:gd name="T21" fmla="*/ 25 h 186"/>
                <a:gd name="T22" fmla="*/ 129 w 185"/>
                <a:gd name="T23" fmla="*/ 35 h 186"/>
                <a:gd name="T24" fmla="*/ 136 w 185"/>
                <a:gd name="T25" fmla="*/ 27 h 186"/>
                <a:gd name="T26" fmla="*/ 135 w 185"/>
                <a:gd name="T27" fmla="*/ 14 h 186"/>
                <a:gd name="T28" fmla="*/ 135 w 185"/>
                <a:gd name="T29" fmla="*/ 11 h 186"/>
                <a:gd name="T30" fmla="*/ 93 w 185"/>
                <a:gd name="T31" fmla="*/ 0 h 186"/>
                <a:gd name="T32" fmla="*/ 0 w 185"/>
                <a:gd name="T33" fmla="*/ 93 h 186"/>
                <a:gd name="T34" fmla="*/ 93 w 185"/>
                <a:gd name="T35" fmla="*/ 186 h 186"/>
                <a:gd name="T36" fmla="*/ 93 w 185"/>
                <a:gd name="T37" fmla="*/ 186 h 186"/>
                <a:gd name="T38" fmla="*/ 93 w 185"/>
                <a:gd name="T3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5" h="186">
                  <a:moveTo>
                    <a:pt x="93" y="186"/>
                  </a:moveTo>
                  <a:cubicBezTo>
                    <a:pt x="144" y="186"/>
                    <a:pt x="185" y="144"/>
                    <a:pt x="185" y="93"/>
                  </a:cubicBezTo>
                  <a:cubicBezTo>
                    <a:pt x="185" y="77"/>
                    <a:pt x="181" y="62"/>
                    <a:pt x="175" y="49"/>
                  </a:cubicBezTo>
                  <a:cubicBezTo>
                    <a:pt x="174" y="49"/>
                    <a:pt x="173" y="49"/>
                    <a:pt x="172" y="49"/>
                  </a:cubicBezTo>
                  <a:cubicBezTo>
                    <a:pt x="172" y="49"/>
                    <a:pt x="171" y="49"/>
                    <a:pt x="171" y="49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51" y="57"/>
                    <a:pt x="151" y="57"/>
                    <a:pt x="151" y="57"/>
                  </a:cubicBezTo>
                  <a:cubicBezTo>
                    <a:pt x="157" y="67"/>
                    <a:pt x="161" y="80"/>
                    <a:pt x="161" y="93"/>
                  </a:cubicBezTo>
                  <a:cubicBezTo>
                    <a:pt x="161" y="130"/>
                    <a:pt x="130" y="161"/>
                    <a:pt x="93" y="161"/>
                  </a:cubicBezTo>
                  <a:cubicBezTo>
                    <a:pt x="55" y="161"/>
                    <a:pt x="25" y="130"/>
                    <a:pt x="25" y="93"/>
                  </a:cubicBezTo>
                  <a:cubicBezTo>
                    <a:pt x="25" y="55"/>
                    <a:pt x="55" y="25"/>
                    <a:pt x="93" y="25"/>
                  </a:cubicBezTo>
                  <a:cubicBezTo>
                    <a:pt x="106" y="25"/>
                    <a:pt x="118" y="28"/>
                    <a:pt x="129" y="35"/>
                  </a:cubicBezTo>
                  <a:cubicBezTo>
                    <a:pt x="136" y="27"/>
                    <a:pt x="136" y="27"/>
                    <a:pt x="136" y="27"/>
                  </a:cubicBezTo>
                  <a:cubicBezTo>
                    <a:pt x="135" y="14"/>
                    <a:pt x="135" y="14"/>
                    <a:pt x="135" y="14"/>
                  </a:cubicBezTo>
                  <a:cubicBezTo>
                    <a:pt x="135" y="13"/>
                    <a:pt x="135" y="12"/>
                    <a:pt x="135" y="11"/>
                  </a:cubicBezTo>
                  <a:cubicBezTo>
                    <a:pt x="123" y="4"/>
                    <a:pt x="108" y="0"/>
                    <a:pt x="93" y="0"/>
                  </a:cubicBezTo>
                  <a:cubicBezTo>
                    <a:pt x="41" y="0"/>
                    <a:pt x="0" y="42"/>
                    <a:pt x="0" y="93"/>
                  </a:cubicBezTo>
                  <a:cubicBezTo>
                    <a:pt x="0" y="144"/>
                    <a:pt x="41" y="186"/>
                    <a:pt x="93" y="186"/>
                  </a:cubicBezTo>
                  <a:close/>
                  <a:moveTo>
                    <a:pt x="93" y="186"/>
                  </a:moveTo>
                  <a:cubicBezTo>
                    <a:pt x="93" y="186"/>
                    <a:pt x="93" y="186"/>
                    <a:pt x="93" y="18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8" name="Freeform 10">
              <a:extLst>
                <a:ext uri="{FF2B5EF4-FFF2-40B4-BE49-F238E27FC236}">
                  <a16:creationId xmlns:a16="http://schemas.microsoft.com/office/drawing/2014/main" id="{A4754C68-1041-361A-5673-A284FE8F50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6" y="3411"/>
              <a:ext cx="218" cy="218"/>
            </a:xfrm>
            <a:custGeom>
              <a:avLst/>
              <a:gdLst>
                <a:gd name="T0" fmla="*/ 46 w 91"/>
                <a:gd name="T1" fmla="*/ 22 h 91"/>
                <a:gd name="T2" fmla="*/ 48 w 91"/>
                <a:gd name="T3" fmla="*/ 22 h 91"/>
                <a:gd name="T4" fmla="*/ 65 w 91"/>
                <a:gd name="T5" fmla="*/ 5 h 91"/>
                <a:gd name="T6" fmla="*/ 65 w 91"/>
                <a:gd name="T7" fmla="*/ 4 h 91"/>
                <a:gd name="T8" fmla="*/ 46 w 91"/>
                <a:gd name="T9" fmla="*/ 0 h 91"/>
                <a:gd name="T10" fmla="*/ 0 w 91"/>
                <a:gd name="T11" fmla="*/ 46 h 91"/>
                <a:gd name="T12" fmla="*/ 46 w 91"/>
                <a:gd name="T13" fmla="*/ 91 h 91"/>
                <a:gd name="T14" fmla="*/ 91 w 91"/>
                <a:gd name="T15" fmla="*/ 46 h 91"/>
                <a:gd name="T16" fmla="*/ 87 w 91"/>
                <a:gd name="T17" fmla="*/ 27 h 91"/>
                <a:gd name="T18" fmla="*/ 87 w 91"/>
                <a:gd name="T19" fmla="*/ 27 h 91"/>
                <a:gd name="T20" fmla="*/ 70 w 91"/>
                <a:gd name="T21" fmla="*/ 44 h 91"/>
                <a:gd name="T22" fmla="*/ 70 w 91"/>
                <a:gd name="T23" fmla="*/ 46 h 91"/>
                <a:gd name="T24" fmla="*/ 46 w 91"/>
                <a:gd name="T25" fmla="*/ 70 h 91"/>
                <a:gd name="T26" fmla="*/ 22 w 91"/>
                <a:gd name="T27" fmla="*/ 46 h 91"/>
                <a:gd name="T28" fmla="*/ 46 w 91"/>
                <a:gd name="T29" fmla="*/ 22 h 91"/>
                <a:gd name="T30" fmla="*/ 46 w 91"/>
                <a:gd name="T31" fmla="*/ 22 h 91"/>
                <a:gd name="T32" fmla="*/ 46 w 91"/>
                <a:gd name="T33" fmla="*/ 2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" h="91">
                  <a:moveTo>
                    <a:pt x="46" y="22"/>
                  </a:moveTo>
                  <a:cubicBezTo>
                    <a:pt x="46" y="22"/>
                    <a:pt x="47" y="22"/>
                    <a:pt x="48" y="22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59" y="2"/>
                    <a:pt x="53" y="0"/>
                    <a:pt x="46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71"/>
                    <a:pt x="20" y="91"/>
                    <a:pt x="46" y="91"/>
                  </a:cubicBezTo>
                  <a:cubicBezTo>
                    <a:pt x="71" y="91"/>
                    <a:pt x="91" y="71"/>
                    <a:pt x="91" y="46"/>
                  </a:cubicBezTo>
                  <a:cubicBezTo>
                    <a:pt x="91" y="39"/>
                    <a:pt x="90" y="32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70" y="45"/>
                    <a:pt x="70" y="45"/>
                    <a:pt x="70" y="46"/>
                  </a:cubicBezTo>
                  <a:cubicBezTo>
                    <a:pt x="70" y="59"/>
                    <a:pt x="59" y="70"/>
                    <a:pt x="46" y="70"/>
                  </a:cubicBezTo>
                  <a:cubicBezTo>
                    <a:pt x="32" y="70"/>
                    <a:pt x="22" y="59"/>
                    <a:pt x="22" y="46"/>
                  </a:cubicBezTo>
                  <a:cubicBezTo>
                    <a:pt x="22" y="33"/>
                    <a:pt x="32" y="22"/>
                    <a:pt x="46" y="22"/>
                  </a:cubicBezTo>
                  <a:close/>
                  <a:moveTo>
                    <a:pt x="46" y="22"/>
                  </a:moveTo>
                  <a:cubicBezTo>
                    <a:pt x="46" y="22"/>
                    <a:pt x="46" y="22"/>
                    <a:pt x="46" y="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9" name="Freeform 11">
              <a:extLst>
                <a:ext uri="{FF2B5EF4-FFF2-40B4-BE49-F238E27FC236}">
                  <a16:creationId xmlns:a16="http://schemas.microsoft.com/office/drawing/2014/main" id="{C6669B47-8225-CE02-D571-F8AA845E7A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5" y="3253"/>
              <a:ext cx="250" cy="246"/>
            </a:xfrm>
            <a:custGeom>
              <a:avLst/>
              <a:gdLst>
                <a:gd name="T0" fmla="*/ 87 w 104"/>
                <a:gd name="T1" fmla="*/ 28 h 103"/>
                <a:gd name="T2" fmla="*/ 92 w 104"/>
                <a:gd name="T3" fmla="*/ 23 h 103"/>
                <a:gd name="T4" fmla="*/ 92 w 104"/>
                <a:gd name="T5" fmla="*/ 14 h 103"/>
                <a:gd name="T6" fmla="*/ 89 w 104"/>
                <a:gd name="T7" fmla="*/ 11 h 103"/>
                <a:gd name="T8" fmla="*/ 85 w 104"/>
                <a:gd name="T9" fmla="*/ 9 h 103"/>
                <a:gd name="T10" fmla="*/ 81 w 104"/>
                <a:gd name="T11" fmla="*/ 11 h 103"/>
                <a:gd name="T12" fmla="*/ 75 w 104"/>
                <a:gd name="T13" fmla="*/ 17 h 103"/>
                <a:gd name="T14" fmla="*/ 74 w 104"/>
                <a:gd name="T15" fmla="*/ 1 h 103"/>
                <a:gd name="T16" fmla="*/ 72 w 104"/>
                <a:gd name="T17" fmla="*/ 0 h 103"/>
                <a:gd name="T18" fmla="*/ 70 w 104"/>
                <a:gd name="T19" fmla="*/ 0 h 103"/>
                <a:gd name="T20" fmla="*/ 48 w 104"/>
                <a:gd name="T21" fmla="*/ 23 h 103"/>
                <a:gd name="T22" fmla="*/ 45 w 104"/>
                <a:gd name="T23" fmla="*/ 31 h 103"/>
                <a:gd name="T24" fmla="*/ 45 w 104"/>
                <a:gd name="T25" fmla="*/ 31 h 103"/>
                <a:gd name="T26" fmla="*/ 46 w 104"/>
                <a:gd name="T27" fmla="*/ 46 h 103"/>
                <a:gd name="T28" fmla="*/ 38 w 104"/>
                <a:gd name="T29" fmla="*/ 54 h 103"/>
                <a:gd name="T30" fmla="*/ 23 w 104"/>
                <a:gd name="T31" fmla="*/ 68 h 103"/>
                <a:gd name="T32" fmla="*/ 23 w 104"/>
                <a:gd name="T33" fmla="*/ 69 h 103"/>
                <a:gd name="T34" fmla="*/ 9 w 104"/>
                <a:gd name="T35" fmla="*/ 83 h 103"/>
                <a:gd name="T36" fmla="*/ 2 w 104"/>
                <a:gd name="T37" fmla="*/ 89 h 103"/>
                <a:gd name="T38" fmla="*/ 1 w 104"/>
                <a:gd name="T39" fmla="*/ 92 h 103"/>
                <a:gd name="T40" fmla="*/ 1 w 104"/>
                <a:gd name="T41" fmla="*/ 97 h 103"/>
                <a:gd name="T42" fmla="*/ 5 w 104"/>
                <a:gd name="T43" fmla="*/ 103 h 103"/>
                <a:gd name="T44" fmla="*/ 6 w 104"/>
                <a:gd name="T45" fmla="*/ 103 h 103"/>
                <a:gd name="T46" fmla="*/ 11 w 104"/>
                <a:gd name="T47" fmla="*/ 102 h 103"/>
                <a:gd name="T48" fmla="*/ 14 w 104"/>
                <a:gd name="T49" fmla="*/ 101 h 103"/>
                <a:gd name="T50" fmla="*/ 59 w 104"/>
                <a:gd name="T51" fmla="*/ 57 h 103"/>
                <a:gd name="T52" fmla="*/ 72 w 104"/>
                <a:gd name="T53" fmla="*/ 58 h 103"/>
                <a:gd name="T54" fmla="*/ 72 w 104"/>
                <a:gd name="T55" fmla="*/ 58 h 103"/>
                <a:gd name="T56" fmla="*/ 73 w 104"/>
                <a:gd name="T57" fmla="*/ 58 h 103"/>
                <a:gd name="T58" fmla="*/ 80 w 104"/>
                <a:gd name="T59" fmla="*/ 55 h 103"/>
                <a:gd name="T60" fmla="*/ 102 w 104"/>
                <a:gd name="T61" fmla="*/ 32 h 103"/>
                <a:gd name="T62" fmla="*/ 101 w 104"/>
                <a:gd name="T63" fmla="*/ 29 h 103"/>
                <a:gd name="T64" fmla="*/ 87 w 104"/>
                <a:gd name="T65" fmla="*/ 28 h 103"/>
                <a:gd name="T66" fmla="*/ 87 w 104"/>
                <a:gd name="T67" fmla="*/ 28 h 103"/>
                <a:gd name="T68" fmla="*/ 87 w 104"/>
                <a:gd name="T69" fmla="*/ 2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03">
                  <a:moveTo>
                    <a:pt x="87" y="28"/>
                  </a:moveTo>
                  <a:cubicBezTo>
                    <a:pt x="92" y="23"/>
                    <a:pt x="92" y="23"/>
                    <a:pt x="92" y="23"/>
                  </a:cubicBezTo>
                  <a:cubicBezTo>
                    <a:pt x="95" y="20"/>
                    <a:pt x="95" y="17"/>
                    <a:pt x="92" y="14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8" y="10"/>
                    <a:pt x="86" y="9"/>
                    <a:pt x="85" y="9"/>
                  </a:cubicBezTo>
                  <a:cubicBezTo>
                    <a:pt x="83" y="9"/>
                    <a:pt x="82" y="10"/>
                    <a:pt x="81" y="11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0"/>
                    <a:pt x="73" y="0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6" y="25"/>
                    <a:pt x="45" y="28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2" y="90"/>
                    <a:pt x="1" y="91"/>
                    <a:pt x="1" y="92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0" y="100"/>
                    <a:pt x="3" y="103"/>
                    <a:pt x="5" y="103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12" y="102"/>
                    <a:pt x="13" y="102"/>
                    <a:pt x="14" y="101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2" y="58"/>
                    <a:pt x="73" y="58"/>
                    <a:pt x="73" y="58"/>
                  </a:cubicBezTo>
                  <a:cubicBezTo>
                    <a:pt x="75" y="58"/>
                    <a:pt x="78" y="57"/>
                    <a:pt x="80" y="55"/>
                  </a:cubicBezTo>
                  <a:cubicBezTo>
                    <a:pt x="102" y="32"/>
                    <a:pt x="102" y="32"/>
                    <a:pt x="102" y="32"/>
                  </a:cubicBezTo>
                  <a:cubicBezTo>
                    <a:pt x="104" y="31"/>
                    <a:pt x="103" y="29"/>
                    <a:pt x="101" y="29"/>
                  </a:cubicBezTo>
                  <a:lnTo>
                    <a:pt x="87" y="28"/>
                  </a:lnTo>
                  <a:close/>
                  <a:moveTo>
                    <a:pt x="87" y="28"/>
                  </a:moveTo>
                  <a:cubicBezTo>
                    <a:pt x="87" y="28"/>
                    <a:pt x="87" y="28"/>
                    <a:pt x="87" y="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70" name="Group 22">
            <a:extLst>
              <a:ext uri="{FF2B5EF4-FFF2-40B4-BE49-F238E27FC236}">
                <a16:creationId xmlns:a16="http://schemas.microsoft.com/office/drawing/2014/main" id="{668F7FE7-8828-221C-C91E-504B3489D1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00526" y="2229751"/>
            <a:ext cx="656152" cy="551350"/>
            <a:chOff x="4092" y="3320"/>
            <a:chExt cx="432" cy="363"/>
          </a:xfrm>
          <a:solidFill>
            <a:schemeClr val="accent1"/>
          </a:solidFill>
        </p:grpSpPr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FA8CB404-59B0-0143-8731-79B6E6B98609}"/>
                </a:ext>
              </a:extLst>
            </p:cNvPr>
            <p:cNvSpPr/>
            <p:nvPr/>
          </p:nvSpPr>
          <p:spPr bwMode="auto">
            <a:xfrm>
              <a:off x="4200" y="3365"/>
              <a:ext cx="214" cy="12"/>
            </a:xfrm>
            <a:custGeom>
              <a:avLst/>
              <a:gdLst>
                <a:gd name="T0" fmla="*/ 86 w 89"/>
                <a:gd name="T1" fmla="*/ 5 h 5"/>
                <a:gd name="T2" fmla="*/ 3 w 89"/>
                <a:gd name="T3" fmla="*/ 5 h 5"/>
                <a:gd name="T4" fmla="*/ 0 w 89"/>
                <a:gd name="T5" fmla="*/ 2 h 5"/>
                <a:gd name="T6" fmla="*/ 3 w 89"/>
                <a:gd name="T7" fmla="*/ 0 h 5"/>
                <a:gd name="T8" fmla="*/ 86 w 89"/>
                <a:gd name="T9" fmla="*/ 0 h 5"/>
                <a:gd name="T10" fmla="*/ 89 w 89"/>
                <a:gd name="T11" fmla="*/ 2 h 5"/>
                <a:gd name="T12" fmla="*/ 86 w 89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5">
                  <a:moveTo>
                    <a:pt x="86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7" y="0"/>
                    <a:pt x="89" y="1"/>
                    <a:pt x="89" y="2"/>
                  </a:cubicBezTo>
                  <a:cubicBezTo>
                    <a:pt x="89" y="4"/>
                    <a:pt x="87" y="5"/>
                    <a:pt x="8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2" name="Line 24">
              <a:extLst>
                <a:ext uri="{FF2B5EF4-FFF2-40B4-BE49-F238E27FC236}">
                  <a16:creationId xmlns:a16="http://schemas.microsoft.com/office/drawing/2014/main" id="{B4503B8B-89B0-1C81-9999-FFA5D9A5F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3387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3" name="Line 25">
              <a:extLst>
                <a:ext uri="{FF2B5EF4-FFF2-40B4-BE49-F238E27FC236}">
                  <a16:creationId xmlns:a16="http://schemas.microsoft.com/office/drawing/2014/main" id="{63D5F574-3278-3D02-E459-2B48C6A40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3387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4" name="Line 26">
              <a:extLst>
                <a:ext uri="{FF2B5EF4-FFF2-40B4-BE49-F238E27FC236}">
                  <a16:creationId xmlns:a16="http://schemas.microsoft.com/office/drawing/2014/main" id="{4C55AC12-512A-3DC6-AC57-524C3DF16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3387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CEB886B6-5DB0-CD68-0AA7-416D14E9E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3387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22B5CBBD-1B97-F50D-A3C8-313A2593D765}"/>
                </a:ext>
              </a:extLst>
            </p:cNvPr>
            <p:cNvSpPr/>
            <p:nvPr/>
          </p:nvSpPr>
          <p:spPr bwMode="auto">
            <a:xfrm>
              <a:off x="4200" y="3413"/>
              <a:ext cx="214" cy="12"/>
            </a:xfrm>
            <a:custGeom>
              <a:avLst/>
              <a:gdLst>
                <a:gd name="T0" fmla="*/ 86 w 89"/>
                <a:gd name="T1" fmla="*/ 5 h 5"/>
                <a:gd name="T2" fmla="*/ 3 w 89"/>
                <a:gd name="T3" fmla="*/ 5 h 5"/>
                <a:gd name="T4" fmla="*/ 0 w 89"/>
                <a:gd name="T5" fmla="*/ 3 h 5"/>
                <a:gd name="T6" fmla="*/ 3 w 89"/>
                <a:gd name="T7" fmla="*/ 0 h 5"/>
                <a:gd name="T8" fmla="*/ 86 w 89"/>
                <a:gd name="T9" fmla="*/ 0 h 5"/>
                <a:gd name="T10" fmla="*/ 89 w 89"/>
                <a:gd name="T11" fmla="*/ 3 h 5"/>
                <a:gd name="T12" fmla="*/ 86 w 89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5">
                  <a:moveTo>
                    <a:pt x="86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7" y="0"/>
                    <a:pt x="89" y="1"/>
                    <a:pt x="89" y="3"/>
                  </a:cubicBezTo>
                  <a:cubicBezTo>
                    <a:pt x="89" y="4"/>
                    <a:pt x="87" y="5"/>
                    <a:pt x="8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7" name="Line 29">
              <a:extLst>
                <a:ext uri="{FF2B5EF4-FFF2-40B4-BE49-F238E27FC236}">
                  <a16:creationId xmlns:a16="http://schemas.microsoft.com/office/drawing/2014/main" id="{6DA22CA3-0858-C1AE-1D8F-48E8F9129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3452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8" name="Line 30">
              <a:extLst>
                <a:ext uri="{FF2B5EF4-FFF2-40B4-BE49-F238E27FC236}">
                  <a16:creationId xmlns:a16="http://schemas.microsoft.com/office/drawing/2014/main" id="{8013C910-2402-7503-28B7-FCD6EBDC1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3452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9" name="Line 31">
              <a:extLst>
                <a:ext uri="{FF2B5EF4-FFF2-40B4-BE49-F238E27FC236}">
                  <a16:creationId xmlns:a16="http://schemas.microsoft.com/office/drawing/2014/main" id="{BA0FDC78-E090-0355-3F5B-1DA9171E0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3452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0" name="Line 32">
              <a:extLst>
                <a:ext uri="{FF2B5EF4-FFF2-40B4-BE49-F238E27FC236}">
                  <a16:creationId xmlns:a16="http://schemas.microsoft.com/office/drawing/2014/main" id="{250F45D9-E072-402E-19A6-4790031E1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3452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8D3AB14F-23BB-70B3-4188-A5345DDABCA9}"/>
                </a:ext>
              </a:extLst>
            </p:cNvPr>
            <p:cNvSpPr/>
            <p:nvPr/>
          </p:nvSpPr>
          <p:spPr bwMode="auto">
            <a:xfrm>
              <a:off x="4162" y="3320"/>
              <a:ext cx="290" cy="146"/>
            </a:xfrm>
            <a:custGeom>
              <a:avLst/>
              <a:gdLst>
                <a:gd name="T0" fmla="*/ 117 w 121"/>
                <a:gd name="T1" fmla="*/ 61 h 61"/>
                <a:gd name="T2" fmla="*/ 114 w 121"/>
                <a:gd name="T3" fmla="*/ 58 h 61"/>
                <a:gd name="T4" fmla="*/ 114 w 121"/>
                <a:gd name="T5" fmla="*/ 10 h 61"/>
                <a:gd name="T6" fmla="*/ 110 w 121"/>
                <a:gd name="T7" fmla="*/ 7 h 61"/>
                <a:gd name="T8" fmla="*/ 11 w 121"/>
                <a:gd name="T9" fmla="*/ 7 h 61"/>
                <a:gd name="T10" fmla="*/ 7 w 121"/>
                <a:gd name="T11" fmla="*/ 10 h 61"/>
                <a:gd name="T12" fmla="*/ 7 w 121"/>
                <a:gd name="T13" fmla="*/ 58 h 61"/>
                <a:gd name="T14" fmla="*/ 4 w 121"/>
                <a:gd name="T15" fmla="*/ 61 h 61"/>
                <a:gd name="T16" fmla="*/ 0 w 121"/>
                <a:gd name="T17" fmla="*/ 58 h 61"/>
                <a:gd name="T18" fmla="*/ 0 w 121"/>
                <a:gd name="T19" fmla="*/ 10 h 61"/>
                <a:gd name="T20" fmla="*/ 11 w 121"/>
                <a:gd name="T21" fmla="*/ 0 h 61"/>
                <a:gd name="T22" fmla="*/ 110 w 121"/>
                <a:gd name="T23" fmla="*/ 0 h 61"/>
                <a:gd name="T24" fmla="*/ 121 w 121"/>
                <a:gd name="T25" fmla="*/ 10 h 61"/>
                <a:gd name="T26" fmla="*/ 121 w 121"/>
                <a:gd name="T27" fmla="*/ 58 h 61"/>
                <a:gd name="T28" fmla="*/ 117 w 121"/>
                <a:gd name="T2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" h="61">
                  <a:moveTo>
                    <a:pt x="117" y="61"/>
                  </a:moveTo>
                  <a:cubicBezTo>
                    <a:pt x="115" y="61"/>
                    <a:pt x="114" y="60"/>
                    <a:pt x="114" y="58"/>
                  </a:cubicBezTo>
                  <a:cubicBezTo>
                    <a:pt x="114" y="10"/>
                    <a:pt x="114" y="10"/>
                    <a:pt x="114" y="10"/>
                  </a:cubicBezTo>
                  <a:cubicBezTo>
                    <a:pt x="114" y="8"/>
                    <a:pt x="112" y="7"/>
                    <a:pt x="1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9" y="7"/>
                    <a:pt x="7" y="8"/>
                    <a:pt x="7" y="10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60"/>
                    <a:pt x="6" y="61"/>
                    <a:pt x="4" y="61"/>
                  </a:cubicBezTo>
                  <a:cubicBezTo>
                    <a:pt x="2" y="61"/>
                    <a:pt x="0" y="60"/>
                    <a:pt x="0" y="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6" y="0"/>
                    <a:pt x="121" y="4"/>
                    <a:pt x="121" y="10"/>
                  </a:cubicBezTo>
                  <a:cubicBezTo>
                    <a:pt x="121" y="58"/>
                    <a:pt x="121" y="58"/>
                    <a:pt x="121" y="58"/>
                  </a:cubicBezTo>
                  <a:cubicBezTo>
                    <a:pt x="121" y="60"/>
                    <a:pt x="119" y="61"/>
                    <a:pt x="117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AF4FBFB0-9907-48E8-4C41-315D15CDEB56}"/>
                </a:ext>
              </a:extLst>
            </p:cNvPr>
            <p:cNvSpPr/>
            <p:nvPr/>
          </p:nvSpPr>
          <p:spPr bwMode="auto">
            <a:xfrm>
              <a:off x="4095" y="3368"/>
              <a:ext cx="57" cy="82"/>
            </a:xfrm>
            <a:custGeom>
              <a:avLst/>
              <a:gdLst>
                <a:gd name="T0" fmla="*/ 0 w 24"/>
                <a:gd name="T1" fmla="*/ 16 h 34"/>
                <a:gd name="T2" fmla="*/ 21 w 24"/>
                <a:gd name="T3" fmla="*/ 0 h 34"/>
                <a:gd name="T4" fmla="*/ 24 w 24"/>
                <a:gd name="T5" fmla="*/ 1 h 34"/>
                <a:gd name="T6" fmla="*/ 24 w 24"/>
                <a:gd name="T7" fmla="*/ 33 h 34"/>
                <a:gd name="T8" fmla="*/ 21 w 24"/>
                <a:gd name="T9" fmla="*/ 34 h 34"/>
                <a:gd name="T10" fmla="*/ 0 w 24"/>
                <a:gd name="T11" fmla="*/ 18 h 34"/>
                <a:gd name="T12" fmla="*/ 0 w 24"/>
                <a:gd name="T13" fmla="*/ 1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4">
                  <a:moveTo>
                    <a:pt x="0" y="16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2" y="0"/>
                    <a:pt x="24" y="0"/>
                    <a:pt x="24" y="1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2" y="34"/>
                    <a:pt x="21" y="3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7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40F73D74-DEF2-A5F2-6C9F-710054BB86DB}"/>
                </a:ext>
              </a:extLst>
            </p:cNvPr>
            <p:cNvSpPr/>
            <p:nvPr/>
          </p:nvSpPr>
          <p:spPr bwMode="auto">
            <a:xfrm>
              <a:off x="4464" y="3370"/>
              <a:ext cx="58" cy="80"/>
            </a:xfrm>
            <a:custGeom>
              <a:avLst/>
              <a:gdLst>
                <a:gd name="T0" fmla="*/ 2 w 24"/>
                <a:gd name="T1" fmla="*/ 0 h 33"/>
                <a:gd name="T2" fmla="*/ 23 w 24"/>
                <a:gd name="T3" fmla="*/ 15 h 33"/>
                <a:gd name="T4" fmla="*/ 23 w 24"/>
                <a:gd name="T5" fmla="*/ 17 h 33"/>
                <a:gd name="T6" fmla="*/ 2 w 24"/>
                <a:gd name="T7" fmla="*/ 33 h 33"/>
                <a:gd name="T8" fmla="*/ 0 w 24"/>
                <a:gd name="T9" fmla="*/ 32 h 33"/>
                <a:gd name="T10" fmla="*/ 0 w 24"/>
                <a:gd name="T11" fmla="*/ 2 h 33"/>
                <a:gd name="T12" fmla="*/ 2 w 24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3">
                  <a:moveTo>
                    <a:pt x="2" y="0"/>
                  </a:moveTo>
                  <a:cubicBezTo>
                    <a:pt x="23" y="15"/>
                    <a:pt x="23" y="15"/>
                    <a:pt x="23" y="15"/>
                  </a:cubicBezTo>
                  <a:cubicBezTo>
                    <a:pt x="24" y="16"/>
                    <a:pt x="24" y="17"/>
                    <a:pt x="23" y="17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33"/>
                    <a:pt x="0" y="33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136B67BE-F730-1B65-8973-BE4F4499D66F}"/>
                </a:ext>
              </a:extLst>
            </p:cNvPr>
            <p:cNvSpPr/>
            <p:nvPr/>
          </p:nvSpPr>
          <p:spPr bwMode="auto">
            <a:xfrm>
              <a:off x="4092" y="3430"/>
              <a:ext cx="140" cy="248"/>
            </a:xfrm>
            <a:custGeom>
              <a:avLst/>
              <a:gdLst>
                <a:gd name="T0" fmla="*/ 0 w 58"/>
                <a:gd name="T1" fmla="*/ 2 h 103"/>
                <a:gd name="T2" fmla="*/ 0 w 58"/>
                <a:gd name="T3" fmla="*/ 101 h 103"/>
                <a:gd name="T4" fmla="*/ 2 w 58"/>
                <a:gd name="T5" fmla="*/ 102 h 103"/>
                <a:gd name="T6" fmla="*/ 58 w 58"/>
                <a:gd name="T7" fmla="*/ 44 h 103"/>
                <a:gd name="T8" fmla="*/ 57 w 58"/>
                <a:gd name="T9" fmla="*/ 42 h 103"/>
                <a:gd name="T10" fmla="*/ 2 w 58"/>
                <a:gd name="T11" fmla="*/ 1 h 103"/>
                <a:gd name="T12" fmla="*/ 0 w 58"/>
                <a:gd name="T13" fmla="*/ 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03">
                  <a:moveTo>
                    <a:pt x="0" y="2"/>
                  </a:moveTo>
                  <a:cubicBezTo>
                    <a:pt x="0" y="101"/>
                    <a:pt x="0" y="101"/>
                    <a:pt x="0" y="101"/>
                  </a:cubicBezTo>
                  <a:cubicBezTo>
                    <a:pt x="0" y="102"/>
                    <a:pt x="1" y="103"/>
                    <a:pt x="2" y="102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3"/>
                    <a:pt x="58" y="42"/>
                    <a:pt x="57" y="4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5DAF8483-C1AF-6B34-22C7-C08A6234E813}"/>
                </a:ext>
              </a:extLst>
            </p:cNvPr>
            <p:cNvSpPr/>
            <p:nvPr/>
          </p:nvSpPr>
          <p:spPr bwMode="auto">
            <a:xfrm>
              <a:off x="4383" y="3430"/>
              <a:ext cx="141" cy="248"/>
            </a:xfrm>
            <a:custGeom>
              <a:avLst/>
              <a:gdLst>
                <a:gd name="T0" fmla="*/ 59 w 59"/>
                <a:gd name="T1" fmla="*/ 2 h 103"/>
                <a:gd name="T2" fmla="*/ 59 w 59"/>
                <a:gd name="T3" fmla="*/ 101 h 103"/>
                <a:gd name="T4" fmla="*/ 56 w 59"/>
                <a:gd name="T5" fmla="*/ 102 h 103"/>
                <a:gd name="T6" fmla="*/ 1 w 59"/>
                <a:gd name="T7" fmla="*/ 44 h 103"/>
                <a:gd name="T8" fmla="*/ 1 w 59"/>
                <a:gd name="T9" fmla="*/ 42 h 103"/>
                <a:gd name="T10" fmla="*/ 56 w 59"/>
                <a:gd name="T11" fmla="*/ 1 h 103"/>
                <a:gd name="T12" fmla="*/ 59 w 59"/>
                <a:gd name="T13" fmla="*/ 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103">
                  <a:moveTo>
                    <a:pt x="59" y="2"/>
                  </a:moveTo>
                  <a:cubicBezTo>
                    <a:pt x="59" y="101"/>
                    <a:pt x="59" y="101"/>
                    <a:pt x="59" y="101"/>
                  </a:cubicBezTo>
                  <a:cubicBezTo>
                    <a:pt x="59" y="102"/>
                    <a:pt x="57" y="103"/>
                    <a:pt x="56" y="102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3"/>
                    <a:pt x="0" y="42"/>
                    <a:pt x="1" y="42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7" y="0"/>
                    <a:pt x="59" y="1"/>
                    <a:pt x="5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6" name="Line 38">
              <a:extLst>
                <a:ext uri="{FF2B5EF4-FFF2-40B4-BE49-F238E27FC236}">
                  <a16:creationId xmlns:a16="http://schemas.microsoft.com/office/drawing/2014/main" id="{7CF20C9F-7B78-A70D-FDF7-37786EE87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" y="368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93036640-16EB-8F7F-00CA-9A6E3D767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" y="368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8" name="Freeform 40">
              <a:extLst>
                <a:ext uri="{FF2B5EF4-FFF2-40B4-BE49-F238E27FC236}">
                  <a16:creationId xmlns:a16="http://schemas.microsoft.com/office/drawing/2014/main" id="{C7441D88-8A19-EC85-179C-5A17854A64F0}"/>
                </a:ext>
              </a:extLst>
            </p:cNvPr>
            <p:cNvSpPr/>
            <p:nvPr/>
          </p:nvSpPr>
          <p:spPr bwMode="auto">
            <a:xfrm>
              <a:off x="4116" y="3481"/>
              <a:ext cx="380" cy="202"/>
            </a:xfrm>
            <a:custGeom>
              <a:avLst/>
              <a:gdLst>
                <a:gd name="T0" fmla="*/ 78 w 158"/>
                <a:gd name="T1" fmla="*/ 0 h 84"/>
                <a:gd name="T2" fmla="*/ 0 w 158"/>
                <a:gd name="T3" fmla="*/ 81 h 84"/>
                <a:gd name="T4" fmla="*/ 2 w 158"/>
                <a:gd name="T5" fmla="*/ 84 h 84"/>
                <a:gd name="T6" fmla="*/ 156 w 158"/>
                <a:gd name="T7" fmla="*/ 84 h 84"/>
                <a:gd name="T8" fmla="*/ 158 w 158"/>
                <a:gd name="T9" fmla="*/ 81 h 84"/>
                <a:gd name="T10" fmla="*/ 80 w 158"/>
                <a:gd name="T11" fmla="*/ 0 h 84"/>
                <a:gd name="T12" fmla="*/ 78 w 158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84">
                  <a:moveTo>
                    <a:pt x="78" y="0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82"/>
                    <a:pt x="0" y="84"/>
                    <a:pt x="2" y="84"/>
                  </a:cubicBezTo>
                  <a:cubicBezTo>
                    <a:pt x="156" y="84"/>
                    <a:pt x="156" y="84"/>
                    <a:pt x="156" y="84"/>
                  </a:cubicBezTo>
                  <a:cubicBezTo>
                    <a:pt x="158" y="84"/>
                    <a:pt x="158" y="82"/>
                    <a:pt x="158" y="81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89" name="Group 47">
            <a:extLst>
              <a:ext uri="{FF2B5EF4-FFF2-40B4-BE49-F238E27FC236}">
                <a16:creationId xmlns:a16="http://schemas.microsoft.com/office/drawing/2014/main" id="{F6FA9FD7-433C-7A41-2DC9-D62FA838D64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76297" y="1936609"/>
            <a:ext cx="713869" cy="622737"/>
            <a:chOff x="6040" y="3231"/>
            <a:chExt cx="470" cy="410"/>
          </a:xfrm>
          <a:solidFill>
            <a:schemeClr val="accent2"/>
          </a:solidFill>
        </p:grpSpPr>
        <p:sp>
          <p:nvSpPr>
            <p:cNvPr id="90" name="Rectangle 48">
              <a:extLst>
                <a:ext uri="{FF2B5EF4-FFF2-40B4-BE49-F238E27FC236}">
                  <a16:creationId xmlns:a16="http://schemas.microsoft.com/office/drawing/2014/main" id="{3EA9A08A-4ACB-30E5-89F2-CB25316F5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" y="3313"/>
              <a:ext cx="225" cy="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1" name="Rectangle 49">
              <a:extLst>
                <a:ext uri="{FF2B5EF4-FFF2-40B4-BE49-F238E27FC236}">
                  <a16:creationId xmlns:a16="http://schemas.microsoft.com/office/drawing/2014/main" id="{62B3A0D6-0F3B-8A5D-A472-0493FDF8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" y="3313"/>
              <a:ext cx="223" cy="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2" name="Rectangle 50">
              <a:extLst>
                <a:ext uri="{FF2B5EF4-FFF2-40B4-BE49-F238E27FC236}">
                  <a16:creationId xmlns:a16="http://schemas.microsoft.com/office/drawing/2014/main" id="{A7184899-17A4-27F6-AEC1-8910F7A0A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5" y="3424"/>
              <a:ext cx="180" cy="2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3" name="Rectangle 51">
              <a:extLst>
                <a:ext uri="{FF2B5EF4-FFF2-40B4-BE49-F238E27FC236}">
                  <a16:creationId xmlns:a16="http://schemas.microsoft.com/office/drawing/2014/main" id="{1FEF0FF7-F656-0BDC-BBF8-511D8242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" y="3424"/>
              <a:ext cx="180" cy="2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4" name="Freeform 52">
              <a:extLst>
                <a:ext uri="{FF2B5EF4-FFF2-40B4-BE49-F238E27FC236}">
                  <a16:creationId xmlns:a16="http://schemas.microsoft.com/office/drawing/2014/main" id="{CD3250D0-7BBA-0156-CE30-2AAF934128F6}"/>
                </a:ext>
              </a:extLst>
            </p:cNvPr>
            <p:cNvSpPr/>
            <p:nvPr/>
          </p:nvSpPr>
          <p:spPr bwMode="auto">
            <a:xfrm>
              <a:off x="6282" y="3231"/>
              <a:ext cx="108" cy="63"/>
            </a:xfrm>
            <a:custGeom>
              <a:avLst/>
              <a:gdLst>
                <a:gd name="T0" fmla="*/ 25 w 45"/>
                <a:gd name="T1" fmla="*/ 0 h 26"/>
                <a:gd name="T2" fmla="*/ 0 w 45"/>
                <a:gd name="T3" fmla="*/ 26 h 26"/>
                <a:gd name="T4" fmla="*/ 45 w 45"/>
                <a:gd name="T5" fmla="*/ 26 h 26"/>
                <a:gd name="T6" fmla="*/ 25 w 45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26">
                  <a:moveTo>
                    <a:pt x="25" y="0"/>
                  </a:moveTo>
                  <a:cubicBezTo>
                    <a:pt x="11" y="0"/>
                    <a:pt x="0" y="26"/>
                    <a:pt x="0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12"/>
                    <a:pt x="38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6F2227F6-25B6-FAEA-7CEF-2C022B1942AC}"/>
                </a:ext>
              </a:extLst>
            </p:cNvPr>
            <p:cNvSpPr/>
            <p:nvPr/>
          </p:nvSpPr>
          <p:spPr bwMode="auto">
            <a:xfrm>
              <a:off x="6162" y="3231"/>
              <a:ext cx="108" cy="63"/>
            </a:xfrm>
            <a:custGeom>
              <a:avLst/>
              <a:gdLst>
                <a:gd name="T0" fmla="*/ 20 w 45"/>
                <a:gd name="T1" fmla="*/ 0 h 26"/>
                <a:gd name="T2" fmla="*/ 0 w 45"/>
                <a:gd name="T3" fmla="*/ 26 h 26"/>
                <a:gd name="T4" fmla="*/ 45 w 45"/>
                <a:gd name="T5" fmla="*/ 26 h 26"/>
                <a:gd name="T6" fmla="*/ 20 w 45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26">
                  <a:moveTo>
                    <a:pt x="20" y="0"/>
                  </a:moveTo>
                  <a:cubicBezTo>
                    <a:pt x="6" y="0"/>
                    <a:pt x="0" y="12"/>
                    <a:pt x="0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34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96" name="Freeform 5">
            <a:extLst>
              <a:ext uri="{FF2B5EF4-FFF2-40B4-BE49-F238E27FC236}">
                <a16:creationId xmlns:a16="http://schemas.microsoft.com/office/drawing/2014/main" id="{A0A169A0-D8DA-96AF-511E-CD64C0A0F18B}"/>
              </a:ext>
            </a:extLst>
          </p:cNvPr>
          <p:cNvSpPr>
            <a:spLocks noEditPoints="1"/>
          </p:cNvSpPr>
          <p:nvPr/>
        </p:nvSpPr>
        <p:spPr bwMode="auto">
          <a:xfrm>
            <a:off x="1279262" y="4834682"/>
            <a:ext cx="698680" cy="700198"/>
          </a:xfrm>
          <a:custGeom>
            <a:avLst/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122 w 192"/>
              <a:gd name="T11" fmla="*/ 133 h 192"/>
              <a:gd name="T12" fmla="*/ 101 w 192"/>
              <a:gd name="T13" fmla="*/ 142 h 192"/>
              <a:gd name="T14" fmla="*/ 101 w 192"/>
              <a:gd name="T15" fmla="*/ 156 h 192"/>
              <a:gd name="T16" fmla="*/ 96 w 192"/>
              <a:gd name="T17" fmla="*/ 156 h 192"/>
              <a:gd name="T18" fmla="*/ 90 w 192"/>
              <a:gd name="T19" fmla="*/ 156 h 192"/>
              <a:gd name="T20" fmla="*/ 90 w 192"/>
              <a:gd name="T21" fmla="*/ 143 h 192"/>
              <a:gd name="T22" fmla="*/ 62 w 192"/>
              <a:gd name="T23" fmla="*/ 117 h 192"/>
              <a:gd name="T24" fmla="*/ 80 w 192"/>
              <a:gd name="T25" fmla="*/ 112 h 192"/>
              <a:gd name="T26" fmla="*/ 96 w 192"/>
              <a:gd name="T27" fmla="*/ 127 h 192"/>
              <a:gd name="T28" fmla="*/ 96 w 192"/>
              <a:gd name="T29" fmla="*/ 127 h 192"/>
              <a:gd name="T30" fmla="*/ 106 w 192"/>
              <a:gd name="T31" fmla="*/ 124 h 192"/>
              <a:gd name="T32" fmla="*/ 109 w 192"/>
              <a:gd name="T33" fmla="*/ 116 h 192"/>
              <a:gd name="T34" fmla="*/ 106 w 192"/>
              <a:gd name="T35" fmla="*/ 109 h 192"/>
              <a:gd name="T36" fmla="*/ 96 w 192"/>
              <a:gd name="T37" fmla="*/ 104 h 192"/>
              <a:gd name="T38" fmla="*/ 92 w 192"/>
              <a:gd name="T39" fmla="*/ 103 h 192"/>
              <a:gd name="T40" fmla="*/ 77 w 192"/>
              <a:gd name="T41" fmla="*/ 96 h 192"/>
              <a:gd name="T42" fmla="*/ 69 w 192"/>
              <a:gd name="T43" fmla="*/ 88 h 192"/>
              <a:gd name="T44" fmla="*/ 66 w 192"/>
              <a:gd name="T45" fmla="*/ 74 h 192"/>
              <a:gd name="T46" fmla="*/ 72 w 192"/>
              <a:gd name="T47" fmla="*/ 56 h 192"/>
              <a:gd name="T48" fmla="*/ 90 w 192"/>
              <a:gd name="T49" fmla="*/ 47 h 192"/>
              <a:gd name="T50" fmla="*/ 90 w 192"/>
              <a:gd name="T51" fmla="*/ 36 h 192"/>
              <a:gd name="T52" fmla="*/ 96 w 192"/>
              <a:gd name="T53" fmla="*/ 36 h 192"/>
              <a:gd name="T54" fmla="*/ 101 w 192"/>
              <a:gd name="T55" fmla="*/ 36 h 192"/>
              <a:gd name="T56" fmla="*/ 101 w 192"/>
              <a:gd name="T57" fmla="*/ 47 h 192"/>
              <a:gd name="T58" fmla="*/ 126 w 192"/>
              <a:gd name="T59" fmla="*/ 68 h 192"/>
              <a:gd name="T60" fmla="*/ 110 w 192"/>
              <a:gd name="T61" fmla="*/ 75 h 192"/>
              <a:gd name="T62" fmla="*/ 96 w 192"/>
              <a:gd name="T63" fmla="*/ 61 h 192"/>
              <a:gd name="T64" fmla="*/ 96 w 192"/>
              <a:gd name="T65" fmla="*/ 61 h 192"/>
              <a:gd name="T66" fmla="*/ 88 w 192"/>
              <a:gd name="T67" fmla="*/ 64 h 192"/>
              <a:gd name="T68" fmla="*/ 86 w 192"/>
              <a:gd name="T69" fmla="*/ 71 h 192"/>
              <a:gd name="T70" fmla="*/ 88 w 192"/>
              <a:gd name="T71" fmla="*/ 78 h 192"/>
              <a:gd name="T72" fmla="*/ 96 w 192"/>
              <a:gd name="T73" fmla="*/ 82 h 192"/>
              <a:gd name="T74" fmla="*/ 100 w 192"/>
              <a:gd name="T75" fmla="*/ 84 h 192"/>
              <a:gd name="T76" fmla="*/ 116 w 192"/>
              <a:gd name="T77" fmla="*/ 91 h 192"/>
              <a:gd name="T78" fmla="*/ 125 w 192"/>
              <a:gd name="T79" fmla="*/ 100 h 192"/>
              <a:gd name="T80" fmla="*/ 129 w 192"/>
              <a:gd name="T81" fmla="*/ 113 h 192"/>
              <a:gd name="T82" fmla="*/ 122 w 192"/>
              <a:gd name="T83" fmla="*/ 13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122" y="133"/>
                </a:moveTo>
                <a:cubicBezTo>
                  <a:pt x="117" y="138"/>
                  <a:pt x="110" y="142"/>
                  <a:pt x="101" y="142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96" y="156"/>
                  <a:pt x="96" y="156"/>
                  <a:pt x="96" y="156"/>
                </a:cubicBezTo>
                <a:cubicBezTo>
                  <a:pt x="90" y="156"/>
                  <a:pt x="90" y="156"/>
                  <a:pt x="90" y="156"/>
                </a:cubicBezTo>
                <a:cubicBezTo>
                  <a:pt x="90" y="143"/>
                  <a:pt x="90" y="143"/>
                  <a:pt x="90" y="143"/>
                </a:cubicBezTo>
                <a:cubicBezTo>
                  <a:pt x="75" y="141"/>
                  <a:pt x="66" y="132"/>
                  <a:pt x="62" y="117"/>
                </a:cubicBezTo>
                <a:cubicBezTo>
                  <a:pt x="80" y="112"/>
                  <a:pt x="80" y="112"/>
                  <a:pt x="80" y="112"/>
                </a:cubicBezTo>
                <a:cubicBezTo>
                  <a:pt x="82" y="122"/>
                  <a:pt x="87" y="127"/>
                  <a:pt x="96" y="127"/>
                </a:cubicBezTo>
                <a:cubicBezTo>
                  <a:pt x="96" y="127"/>
                  <a:pt x="96" y="127"/>
                  <a:pt x="96" y="127"/>
                </a:cubicBezTo>
                <a:cubicBezTo>
                  <a:pt x="100" y="127"/>
                  <a:pt x="104" y="126"/>
                  <a:pt x="106" y="124"/>
                </a:cubicBezTo>
                <a:cubicBezTo>
                  <a:pt x="108" y="122"/>
                  <a:pt x="109" y="119"/>
                  <a:pt x="109" y="116"/>
                </a:cubicBezTo>
                <a:cubicBezTo>
                  <a:pt x="109" y="113"/>
                  <a:pt x="108" y="111"/>
                  <a:pt x="106" y="109"/>
                </a:cubicBezTo>
                <a:cubicBezTo>
                  <a:pt x="104" y="108"/>
                  <a:pt x="101" y="106"/>
                  <a:pt x="96" y="104"/>
                </a:cubicBezTo>
                <a:cubicBezTo>
                  <a:pt x="95" y="104"/>
                  <a:pt x="93" y="103"/>
                  <a:pt x="92" y="103"/>
                </a:cubicBezTo>
                <a:cubicBezTo>
                  <a:pt x="86" y="101"/>
                  <a:pt x="81" y="99"/>
                  <a:pt x="77" y="96"/>
                </a:cubicBezTo>
                <a:cubicBezTo>
                  <a:pt x="74" y="94"/>
                  <a:pt x="71" y="91"/>
                  <a:pt x="69" y="88"/>
                </a:cubicBezTo>
                <a:cubicBezTo>
                  <a:pt x="67" y="84"/>
                  <a:pt x="66" y="79"/>
                  <a:pt x="66" y="74"/>
                </a:cubicBezTo>
                <a:cubicBezTo>
                  <a:pt x="66" y="68"/>
                  <a:pt x="68" y="62"/>
                  <a:pt x="72" y="56"/>
                </a:cubicBezTo>
                <a:cubicBezTo>
                  <a:pt x="75" y="51"/>
                  <a:pt x="82" y="48"/>
                  <a:pt x="90" y="47"/>
                </a:cubicBezTo>
                <a:cubicBezTo>
                  <a:pt x="90" y="36"/>
                  <a:pt x="90" y="36"/>
                  <a:pt x="90" y="36"/>
                </a:cubicBezTo>
                <a:cubicBezTo>
                  <a:pt x="96" y="36"/>
                  <a:pt x="96" y="36"/>
                  <a:pt x="96" y="36"/>
                </a:cubicBezTo>
                <a:cubicBezTo>
                  <a:pt x="101" y="36"/>
                  <a:pt x="101" y="36"/>
                  <a:pt x="101" y="36"/>
                </a:cubicBezTo>
                <a:cubicBezTo>
                  <a:pt x="101" y="47"/>
                  <a:pt x="101" y="47"/>
                  <a:pt x="101" y="47"/>
                </a:cubicBezTo>
                <a:cubicBezTo>
                  <a:pt x="114" y="48"/>
                  <a:pt x="122" y="55"/>
                  <a:pt x="126" y="68"/>
                </a:cubicBezTo>
                <a:cubicBezTo>
                  <a:pt x="110" y="75"/>
                  <a:pt x="110" y="75"/>
                  <a:pt x="110" y="75"/>
                </a:cubicBezTo>
                <a:cubicBezTo>
                  <a:pt x="107" y="66"/>
                  <a:pt x="103" y="61"/>
                  <a:pt x="96" y="61"/>
                </a:cubicBezTo>
                <a:cubicBezTo>
                  <a:pt x="96" y="61"/>
                  <a:pt x="96" y="61"/>
                  <a:pt x="96" y="61"/>
                </a:cubicBezTo>
                <a:cubicBezTo>
                  <a:pt x="93" y="61"/>
                  <a:pt x="90" y="62"/>
                  <a:pt x="88" y="64"/>
                </a:cubicBezTo>
                <a:cubicBezTo>
                  <a:pt x="87" y="66"/>
                  <a:pt x="86" y="69"/>
                  <a:pt x="86" y="71"/>
                </a:cubicBezTo>
                <a:cubicBezTo>
                  <a:pt x="86" y="74"/>
                  <a:pt x="87" y="76"/>
                  <a:pt x="88" y="78"/>
                </a:cubicBezTo>
                <a:cubicBezTo>
                  <a:pt x="90" y="79"/>
                  <a:pt x="92" y="80"/>
                  <a:pt x="96" y="82"/>
                </a:cubicBezTo>
                <a:cubicBezTo>
                  <a:pt x="97" y="82"/>
                  <a:pt x="99" y="83"/>
                  <a:pt x="100" y="84"/>
                </a:cubicBezTo>
                <a:cubicBezTo>
                  <a:pt x="107" y="86"/>
                  <a:pt x="112" y="88"/>
                  <a:pt x="116" y="91"/>
                </a:cubicBezTo>
                <a:cubicBezTo>
                  <a:pt x="120" y="93"/>
                  <a:pt x="123" y="96"/>
                  <a:pt x="125" y="100"/>
                </a:cubicBezTo>
                <a:cubicBezTo>
                  <a:pt x="128" y="104"/>
                  <a:pt x="129" y="108"/>
                  <a:pt x="129" y="113"/>
                </a:cubicBezTo>
                <a:cubicBezTo>
                  <a:pt x="129" y="121"/>
                  <a:pt x="127" y="128"/>
                  <a:pt x="122" y="1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7" name="TextBox 66">
            <a:extLst>
              <a:ext uri="{FF2B5EF4-FFF2-40B4-BE49-F238E27FC236}">
                <a16:creationId xmlns:a16="http://schemas.microsoft.com/office/drawing/2014/main" id="{CDD1A297-19FC-9E15-62BC-056326022509}"/>
              </a:ext>
            </a:extLst>
          </p:cNvPr>
          <p:cNvSpPr txBox="1"/>
          <p:nvPr/>
        </p:nvSpPr>
        <p:spPr>
          <a:xfrm>
            <a:off x="8105149" y="5271023"/>
            <a:ext cx="1945081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对接大语言模型，搭建问题检索、知识注入与智能答案生成的完整链路。</a:t>
            </a:r>
          </a:p>
        </p:txBody>
      </p:sp>
      <p:sp>
        <p:nvSpPr>
          <p:cNvPr id="98" name="TextBox 67">
            <a:extLst>
              <a:ext uri="{FF2B5EF4-FFF2-40B4-BE49-F238E27FC236}">
                <a16:creationId xmlns:a16="http://schemas.microsoft.com/office/drawing/2014/main" id="{BD677406-2BFF-3C21-6E6B-D2D174E88DB9}"/>
              </a:ext>
            </a:extLst>
          </p:cNvPr>
          <p:cNvSpPr txBox="1"/>
          <p:nvPr/>
        </p:nvSpPr>
        <p:spPr>
          <a:xfrm>
            <a:off x="2183465" y="2608341"/>
            <a:ext cx="1898229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收集高中数学课本，完成课本知识提取，并进行结构化整理。</a:t>
            </a:r>
          </a:p>
        </p:txBody>
      </p:sp>
      <p:sp>
        <p:nvSpPr>
          <p:cNvPr id="99" name="TextBox 68">
            <a:extLst>
              <a:ext uri="{FF2B5EF4-FFF2-40B4-BE49-F238E27FC236}">
                <a16:creationId xmlns:a16="http://schemas.microsoft.com/office/drawing/2014/main" id="{6243A030-68F2-4C56-2CB1-B87DAAADCC1B}"/>
              </a:ext>
            </a:extLst>
          </p:cNvPr>
          <p:cNvSpPr txBox="1"/>
          <p:nvPr/>
        </p:nvSpPr>
        <p:spPr>
          <a:xfrm>
            <a:off x="1977942" y="5302534"/>
            <a:ext cx="2312335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选取典型数学问题案例，对比分析结构化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RAG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与通用大模型在回答准确性、上的差异。</a:t>
            </a:r>
          </a:p>
        </p:txBody>
      </p:sp>
      <p:sp>
        <p:nvSpPr>
          <p:cNvPr id="100" name="TextBox 69">
            <a:extLst>
              <a:ext uri="{FF2B5EF4-FFF2-40B4-BE49-F238E27FC236}">
                <a16:creationId xmlns:a16="http://schemas.microsoft.com/office/drawing/2014/main" id="{682D1BA0-D9AD-15F4-19A8-E76E61FF603E}"/>
              </a:ext>
            </a:extLst>
          </p:cNvPr>
          <p:cNvSpPr txBox="1"/>
          <p:nvPr/>
        </p:nvSpPr>
        <p:spPr>
          <a:xfrm>
            <a:off x="8113505" y="2438619"/>
            <a:ext cx="1936725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增加定义、公式、例题等标签，将文本转化为向量数据，构建专业知识库。</a:t>
            </a:r>
          </a:p>
        </p:txBody>
      </p:sp>
      <p:sp>
        <p:nvSpPr>
          <p:cNvPr id="101" name="TextBox 70">
            <a:extLst>
              <a:ext uri="{FF2B5EF4-FFF2-40B4-BE49-F238E27FC236}">
                <a16:creationId xmlns:a16="http://schemas.microsoft.com/office/drawing/2014/main" id="{8910E71B-F746-459C-74EF-AFE746D7273E}"/>
              </a:ext>
            </a:extLst>
          </p:cNvPr>
          <p:cNvSpPr txBox="1"/>
          <p:nvPr/>
        </p:nvSpPr>
        <p:spPr>
          <a:xfrm>
            <a:off x="2183465" y="2006612"/>
            <a:ext cx="1693092" cy="396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01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数据预处理</a:t>
            </a:r>
          </a:p>
        </p:txBody>
      </p:sp>
      <p:sp>
        <p:nvSpPr>
          <p:cNvPr id="102" name="TextBox 71">
            <a:extLst>
              <a:ext uri="{FF2B5EF4-FFF2-40B4-BE49-F238E27FC236}">
                <a16:creationId xmlns:a16="http://schemas.microsoft.com/office/drawing/2014/main" id="{2589F137-ADB2-9A44-4CE2-165C4D956576}"/>
              </a:ext>
            </a:extLst>
          </p:cNvPr>
          <p:cNvSpPr txBox="1"/>
          <p:nvPr/>
        </p:nvSpPr>
        <p:spPr>
          <a:xfrm>
            <a:off x="2183465" y="4688942"/>
            <a:ext cx="1462260" cy="396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04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效果验证</a:t>
            </a:r>
          </a:p>
        </p:txBody>
      </p:sp>
      <p:sp>
        <p:nvSpPr>
          <p:cNvPr id="103" name="TextBox 72">
            <a:extLst>
              <a:ext uri="{FF2B5EF4-FFF2-40B4-BE49-F238E27FC236}">
                <a16:creationId xmlns:a16="http://schemas.microsoft.com/office/drawing/2014/main" id="{E6AF2F68-DC6F-1639-6854-36EDF2BC6EF0}"/>
              </a:ext>
            </a:extLst>
          </p:cNvPr>
          <p:cNvSpPr txBox="1"/>
          <p:nvPr/>
        </p:nvSpPr>
        <p:spPr>
          <a:xfrm>
            <a:off x="8126305" y="1878673"/>
            <a:ext cx="1693092" cy="396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02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知识库搭建</a:t>
            </a:r>
          </a:p>
        </p:txBody>
      </p:sp>
      <p:sp>
        <p:nvSpPr>
          <p:cNvPr id="104" name="TextBox 73">
            <a:extLst>
              <a:ext uri="{FF2B5EF4-FFF2-40B4-BE49-F238E27FC236}">
                <a16:creationId xmlns:a16="http://schemas.microsoft.com/office/drawing/2014/main" id="{33F842EA-2E64-4989-100C-6BC1E417A636}"/>
              </a:ext>
            </a:extLst>
          </p:cNvPr>
          <p:cNvSpPr txBox="1"/>
          <p:nvPr/>
        </p:nvSpPr>
        <p:spPr>
          <a:xfrm>
            <a:off x="8126305" y="4688943"/>
            <a:ext cx="1923925" cy="396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03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问答系统搭建</a:t>
            </a:r>
          </a:p>
        </p:txBody>
      </p:sp>
      <p:grpSp>
        <p:nvGrpSpPr>
          <p:cNvPr id="105" name="Group 74">
            <a:extLst>
              <a:ext uri="{FF2B5EF4-FFF2-40B4-BE49-F238E27FC236}">
                <a16:creationId xmlns:a16="http://schemas.microsoft.com/office/drawing/2014/main" id="{6862D89A-F29E-0894-08B8-9829ADD62D64}"/>
              </a:ext>
            </a:extLst>
          </p:cNvPr>
          <p:cNvGrpSpPr/>
          <p:nvPr/>
        </p:nvGrpSpPr>
        <p:grpSpPr>
          <a:xfrm>
            <a:off x="4696329" y="4517204"/>
            <a:ext cx="476765" cy="475665"/>
            <a:chOff x="6294438" y="-201613"/>
            <a:chExt cx="687387" cy="685801"/>
          </a:xfrm>
          <a:solidFill>
            <a:schemeClr val="bg1"/>
          </a:solidFill>
        </p:grpSpPr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83E32C94-318E-402B-3FB5-416EA116E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94438" y="-201613"/>
              <a:ext cx="687387" cy="685801"/>
            </a:xfrm>
            <a:custGeom>
              <a:avLst/>
              <a:gdLst>
                <a:gd name="T0" fmla="*/ 163 w 180"/>
                <a:gd name="T1" fmla="*/ 0 h 180"/>
                <a:gd name="T2" fmla="*/ 39 w 180"/>
                <a:gd name="T3" fmla="*/ 0 h 180"/>
                <a:gd name="T4" fmla="*/ 23 w 180"/>
                <a:gd name="T5" fmla="*/ 17 h 180"/>
                <a:gd name="T6" fmla="*/ 23 w 180"/>
                <a:gd name="T7" fmla="*/ 28 h 180"/>
                <a:gd name="T8" fmla="*/ 17 w 180"/>
                <a:gd name="T9" fmla="*/ 28 h 180"/>
                <a:gd name="T10" fmla="*/ 0 w 180"/>
                <a:gd name="T11" fmla="*/ 45 h 180"/>
                <a:gd name="T12" fmla="*/ 0 w 180"/>
                <a:gd name="T13" fmla="*/ 158 h 180"/>
                <a:gd name="T14" fmla="*/ 23 w 180"/>
                <a:gd name="T15" fmla="*/ 180 h 180"/>
                <a:gd name="T16" fmla="*/ 158 w 180"/>
                <a:gd name="T17" fmla="*/ 180 h 180"/>
                <a:gd name="T18" fmla="*/ 180 w 180"/>
                <a:gd name="T19" fmla="*/ 158 h 180"/>
                <a:gd name="T20" fmla="*/ 180 w 180"/>
                <a:gd name="T21" fmla="*/ 17 h 180"/>
                <a:gd name="T22" fmla="*/ 163 w 180"/>
                <a:gd name="T23" fmla="*/ 0 h 180"/>
                <a:gd name="T24" fmla="*/ 169 w 180"/>
                <a:gd name="T25" fmla="*/ 158 h 180"/>
                <a:gd name="T26" fmla="*/ 158 w 180"/>
                <a:gd name="T27" fmla="*/ 169 h 180"/>
                <a:gd name="T28" fmla="*/ 23 w 180"/>
                <a:gd name="T29" fmla="*/ 169 h 180"/>
                <a:gd name="T30" fmla="*/ 11 w 180"/>
                <a:gd name="T31" fmla="*/ 158 h 180"/>
                <a:gd name="T32" fmla="*/ 11 w 180"/>
                <a:gd name="T33" fmla="*/ 45 h 180"/>
                <a:gd name="T34" fmla="*/ 17 w 180"/>
                <a:gd name="T35" fmla="*/ 39 h 180"/>
                <a:gd name="T36" fmla="*/ 23 w 180"/>
                <a:gd name="T37" fmla="*/ 39 h 180"/>
                <a:gd name="T38" fmla="*/ 23 w 180"/>
                <a:gd name="T39" fmla="*/ 152 h 180"/>
                <a:gd name="T40" fmla="*/ 28 w 180"/>
                <a:gd name="T41" fmla="*/ 158 h 180"/>
                <a:gd name="T42" fmla="*/ 34 w 180"/>
                <a:gd name="T43" fmla="*/ 152 h 180"/>
                <a:gd name="T44" fmla="*/ 34 w 180"/>
                <a:gd name="T45" fmla="*/ 17 h 180"/>
                <a:gd name="T46" fmla="*/ 39 w 180"/>
                <a:gd name="T47" fmla="*/ 11 h 180"/>
                <a:gd name="T48" fmla="*/ 163 w 180"/>
                <a:gd name="T49" fmla="*/ 11 h 180"/>
                <a:gd name="T50" fmla="*/ 169 w 180"/>
                <a:gd name="T51" fmla="*/ 17 h 180"/>
                <a:gd name="T52" fmla="*/ 169 w 180"/>
                <a:gd name="T53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0" h="180">
                  <a:moveTo>
                    <a:pt x="16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0" y="0"/>
                    <a:pt x="23" y="8"/>
                    <a:pt x="23" y="17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8" y="28"/>
                    <a:pt x="0" y="36"/>
                    <a:pt x="0" y="45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0"/>
                    <a:pt x="10" y="180"/>
                    <a:pt x="23" y="180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70" y="180"/>
                    <a:pt x="180" y="170"/>
                    <a:pt x="180" y="158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80" y="8"/>
                    <a:pt x="172" y="0"/>
                    <a:pt x="163" y="0"/>
                  </a:cubicBezTo>
                  <a:close/>
                  <a:moveTo>
                    <a:pt x="169" y="158"/>
                  </a:moveTo>
                  <a:cubicBezTo>
                    <a:pt x="169" y="164"/>
                    <a:pt x="164" y="169"/>
                    <a:pt x="158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16" y="169"/>
                    <a:pt x="11" y="164"/>
                    <a:pt x="11" y="158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1" y="42"/>
                    <a:pt x="14" y="39"/>
                    <a:pt x="17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3" y="155"/>
                    <a:pt x="25" y="158"/>
                    <a:pt x="28" y="158"/>
                  </a:cubicBezTo>
                  <a:cubicBezTo>
                    <a:pt x="31" y="158"/>
                    <a:pt x="34" y="155"/>
                    <a:pt x="34" y="152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4"/>
                    <a:pt x="36" y="11"/>
                    <a:pt x="39" y="11"/>
                  </a:cubicBezTo>
                  <a:cubicBezTo>
                    <a:pt x="163" y="11"/>
                    <a:pt x="163" y="11"/>
                    <a:pt x="163" y="11"/>
                  </a:cubicBezTo>
                  <a:cubicBezTo>
                    <a:pt x="166" y="11"/>
                    <a:pt x="169" y="14"/>
                    <a:pt x="169" y="17"/>
                  </a:cubicBezTo>
                  <a:lnTo>
                    <a:pt x="169" y="1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261E7F9C-CA0D-F821-58FB-F6B04FB84CBB}"/>
                </a:ext>
              </a:extLst>
            </p:cNvPr>
            <p:cNvSpPr/>
            <p:nvPr/>
          </p:nvSpPr>
          <p:spPr bwMode="auto">
            <a:xfrm>
              <a:off x="6702425" y="58737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2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2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5D7376-5143-6774-3FE9-6A48ECE4214E}"/>
                </a:ext>
              </a:extLst>
            </p:cNvPr>
            <p:cNvSpPr/>
            <p:nvPr/>
          </p:nvSpPr>
          <p:spPr bwMode="auto">
            <a:xfrm>
              <a:off x="6702425" y="-6350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2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2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B1A50ECC-EB97-94BF-A48F-7EB08ED171B0}"/>
                </a:ext>
              </a:extLst>
            </p:cNvPr>
            <p:cNvSpPr/>
            <p:nvPr/>
          </p:nvSpPr>
          <p:spPr bwMode="auto">
            <a:xfrm>
              <a:off x="6702425" y="-71438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3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3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3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4AD882A5-877E-260C-A6F3-B198D15F7D21}"/>
                </a:ext>
              </a:extLst>
            </p:cNvPr>
            <p:cNvSpPr/>
            <p:nvPr/>
          </p:nvSpPr>
          <p:spPr bwMode="auto">
            <a:xfrm>
              <a:off x="6465888" y="377825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1" name="Freeform 15">
              <a:extLst>
                <a:ext uri="{FF2B5EF4-FFF2-40B4-BE49-F238E27FC236}">
                  <a16:creationId xmlns:a16="http://schemas.microsoft.com/office/drawing/2014/main" id="{CB882223-713E-C49C-37B2-F3E7A2E4249A}"/>
                </a:ext>
              </a:extLst>
            </p:cNvPr>
            <p:cNvSpPr/>
            <p:nvPr/>
          </p:nvSpPr>
          <p:spPr bwMode="auto">
            <a:xfrm>
              <a:off x="6465888" y="312738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DCF6D00C-D982-9978-BDFB-2AFD463743C6}"/>
                </a:ext>
              </a:extLst>
            </p:cNvPr>
            <p:cNvSpPr/>
            <p:nvPr/>
          </p:nvSpPr>
          <p:spPr bwMode="auto">
            <a:xfrm>
              <a:off x="6465888" y="249238"/>
              <a:ext cx="195262" cy="22225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5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A056CF4A-F42B-1851-EC8C-42CA485A7FEB}"/>
                </a:ext>
              </a:extLst>
            </p:cNvPr>
            <p:cNvSpPr/>
            <p:nvPr/>
          </p:nvSpPr>
          <p:spPr bwMode="auto">
            <a:xfrm>
              <a:off x="6702425" y="377825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67AD64D3-E19C-D3F4-26A0-DBE5DEBB342D}"/>
                </a:ext>
              </a:extLst>
            </p:cNvPr>
            <p:cNvSpPr/>
            <p:nvPr/>
          </p:nvSpPr>
          <p:spPr bwMode="auto">
            <a:xfrm>
              <a:off x="6702425" y="312738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FDD760B1-0552-579E-5DD6-8BA29D719294}"/>
                </a:ext>
              </a:extLst>
            </p:cNvPr>
            <p:cNvSpPr/>
            <p:nvPr/>
          </p:nvSpPr>
          <p:spPr bwMode="auto">
            <a:xfrm>
              <a:off x="6702425" y="249238"/>
              <a:ext cx="195262" cy="22225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5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F96BCDAE-A818-ECE7-624E-05BDFBD47F1A}"/>
                </a:ext>
              </a:extLst>
            </p:cNvPr>
            <p:cNvSpPr/>
            <p:nvPr/>
          </p:nvSpPr>
          <p:spPr bwMode="auto">
            <a:xfrm>
              <a:off x="6465888" y="119062"/>
              <a:ext cx="431800" cy="22225"/>
            </a:xfrm>
            <a:custGeom>
              <a:avLst/>
              <a:gdLst>
                <a:gd name="T0" fmla="*/ 110 w 113"/>
                <a:gd name="T1" fmla="*/ 0 h 6"/>
                <a:gd name="T2" fmla="*/ 3 w 113"/>
                <a:gd name="T3" fmla="*/ 0 h 6"/>
                <a:gd name="T4" fmla="*/ 0 w 113"/>
                <a:gd name="T5" fmla="*/ 3 h 6"/>
                <a:gd name="T6" fmla="*/ 3 w 113"/>
                <a:gd name="T7" fmla="*/ 6 h 6"/>
                <a:gd name="T8" fmla="*/ 110 w 113"/>
                <a:gd name="T9" fmla="*/ 6 h 6"/>
                <a:gd name="T10" fmla="*/ 113 w 113"/>
                <a:gd name="T11" fmla="*/ 3 h 6"/>
                <a:gd name="T12" fmla="*/ 110 w 11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">
                  <a:moveTo>
                    <a:pt x="1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1" y="6"/>
                    <a:pt x="113" y="5"/>
                    <a:pt x="113" y="3"/>
                  </a:cubicBezTo>
                  <a:cubicBezTo>
                    <a:pt x="113" y="2"/>
                    <a:pt x="111" y="0"/>
                    <a:pt x="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07D72994-E1AD-490C-38EB-591E83DF9F28}"/>
                </a:ext>
              </a:extLst>
            </p:cNvPr>
            <p:cNvSpPr/>
            <p:nvPr/>
          </p:nvSpPr>
          <p:spPr bwMode="auto">
            <a:xfrm>
              <a:off x="6465888" y="184150"/>
              <a:ext cx="431800" cy="22225"/>
            </a:xfrm>
            <a:custGeom>
              <a:avLst/>
              <a:gdLst>
                <a:gd name="T0" fmla="*/ 110 w 113"/>
                <a:gd name="T1" fmla="*/ 0 h 6"/>
                <a:gd name="T2" fmla="*/ 3 w 113"/>
                <a:gd name="T3" fmla="*/ 0 h 6"/>
                <a:gd name="T4" fmla="*/ 0 w 113"/>
                <a:gd name="T5" fmla="*/ 3 h 6"/>
                <a:gd name="T6" fmla="*/ 3 w 113"/>
                <a:gd name="T7" fmla="*/ 6 h 6"/>
                <a:gd name="T8" fmla="*/ 110 w 113"/>
                <a:gd name="T9" fmla="*/ 6 h 6"/>
                <a:gd name="T10" fmla="*/ 113 w 113"/>
                <a:gd name="T11" fmla="*/ 3 h 6"/>
                <a:gd name="T12" fmla="*/ 110 w 11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">
                  <a:moveTo>
                    <a:pt x="1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1" y="6"/>
                    <a:pt x="113" y="5"/>
                    <a:pt x="113" y="3"/>
                  </a:cubicBezTo>
                  <a:cubicBezTo>
                    <a:pt x="113" y="2"/>
                    <a:pt x="111" y="0"/>
                    <a:pt x="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B260C35B-55F1-4273-32BD-0FCE3FBC2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65888" y="-112713"/>
              <a:ext cx="195262" cy="190500"/>
            </a:xfrm>
            <a:custGeom>
              <a:avLst/>
              <a:gdLst>
                <a:gd name="T0" fmla="*/ 6 w 51"/>
                <a:gd name="T1" fmla="*/ 50 h 50"/>
                <a:gd name="T2" fmla="*/ 45 w 51"/>
                <a:gd name="T3" fmla="*/ 50 h 50"/>
                <a:gd name="T4" fmla="*/ 51 w 51"/>
                <a:gd name="T5" fmla="*/ 44 h 50"/>
                <a:gd name="T6" fmla="*/ 51 w 51"/>
                <a:gd name="T7" fmla="*/ 5 h 50"/>
                <a:gd name="T8" fmla="*/ 45 w 51"/>
                <a:gd name="T9" fmla="*/ 0 h 50"/>
                <a:gd name="T10" fmla="*/ 6 w 51"/>
                <a:gd name="T11" fmla="*/ 0 h 50"/>
                <a:gd name="T12" fmla="*/ 0 w 51"/>
                <a:gd name="T13" fmla="*/ 5 h 50"/>
                <a:gd name="T14" fmla="*/ 0 w 51"/>
                <a:gd name="T15" fmla="*/ 44 h 50"/>
                <a:gd name="T16" fmla="*/ 6 w 51"/>
                <a:gd name="T17" fmla="*/ 50 h 50"/>
                <a:gd name="T18" fmla="*/ 11 w 51"/>
                <a:gd name="T19" fmla="*/ 11 h 50"/>
                <a:gd name="T20" fmla="*/ 39 w 51"/>
                <a:gd name="T21" fmla="*/ 11 h 50"/>
                <a:gd name="T22" fmla="*/ 39 w 51"/>
                <a:gd name="T23" fmla="*/ 39 h 50"/>
                <a:gd name="T24" fmla="*/ 11 w 51"/>
                <a:gd name="T25" fmla="*/ 39 h 50"/>
                <a:gd name="T26" fmla="*/ 11 w 51"/>
                <a:gd name="T27" fmla="*/ 1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0">
                  <a:moveTo>
                    <a:pt x="6" y="50"/>
                  </a:moveTo>
                  <a:cubicBezTo>
                    <a:pt x="45" y="50"/>
                    <a:pt x="45" y="50"/>
                    <a:pt x="45" y="50"/>
                  </a:cubicBezTo>
                  <a:cubicBezTo>
                    <a:pt x="48" y="50"/>
                    <a:pt x="51" y="48"/>
                    <a:pt x="51" y="44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2"/>
                    <a:pt x="48" y="0"/>
                    <a:pt x="4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3" y="50"/>
                    <a:pt x="6" y="50"/>
                  </a:cubicBezTo>
                  <a:close/>
                  <a:moveTo>
                    <a:pt x="11" y="11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11" y="39"/>
                    <a:pt x="11" y="39"/>
                    <a:pt x="11" y="39"/>
                  </a:cubicBezTo>
                  <a:lnTo>
                    <a:pt x="11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19" name="Freeform 26">
            <a:extLst>
              <a:ext uri="{FF2B5EF4-FFF2-40B4-BE49-F238E27FC236}">
                <a16:creationId xmlns:a16="http://schemas.microsoft.com/office/drawing/2014/main" id="{D687CFC3-000C-54D3-90FA-54685FF78C13}"/>
              </a:ext>
            </a:extLst>
          </p:cNvPr>
          <p:cNvSpPr>
            <a:spLocks noEditPoints="1"/>
          </p:cNvSpPr>
          <p:nvPr/>
        </p:nvSpPr>
        <p:spPr bwMode="auto">
          <a:xfrm>
            <a:off x="4994523" y="2477014"/>
            <a:ext cx="604003" cy="586718"/>
          </a:xfrm>
          <a:custGeom>
            <a:avLst/>
            <a:gdLst>
              <a:gd name="T0" fmla="*/ 188 w 263"/>
              <a:gd name="T1" fmla="*/ 0 h 256"/>
              <a:gd name="T2" fmla="*/ 111 w 263"/>
              <a:gd name="T3" fmla="*/ 54 h 256"/>
              <a:gd name="T4" fmla="*/ 111 w 263"/>
              <a:gd name="T5" fmla="*/ 55 h 256"/>
              <a:gd name="T6" fmla="*/ 28 w 263"/>
              <a:gd name="T7" fmla="*/ 138 h 256"/>
              <a:gd name="T8" fmla="*/ 1 w 263"/>
              <a:gd name="T9" fmla="*/ 220 h 256"/>
              <a:gd name="T10" fmla="*/ 28 w 263"/>
              <a:gd name="T11" fmla="*/ 256 h 256"/>
              <a:gd name="T12" fmla="*/ 105 w 263"/>
              <a:gd name="T13" fmla="*/ 237 h 256"/>
              <a:gd name="T14" fmla="*/ 241 w 263"/>
              <a:gd name="T15" fmla="*/ 105 h 256"/>
              <a:gd name="T16" fmla="*/ 128 w 263"/>
              <a:gd name="T17" fmla="*/ 190 h 256"/>
              <a:gd name="T18" fmla="*/ 198 w 263"/>
              <a:gd name="T19" fmla="*/ 94 h 256"/>
              <a:gd name="T20" fmla="*/ 190 w 263"/>
              <a:gd name="T21" fmla="*/ 134 h 256"/>
              <a:gd name="T22" fmla="*/ 128 w 263"/>
              <a:gd name="T23" fmla="*/ 196 h 256"/>
              <a:gd name="T24" fmla="*/ 118 w 263"/>
              <a:gd name="T25" fmla="*/ 162 h 256"/>
              <a:gd name="T26" fmla="*/ 91 w 263"/>
              <a:gd name="T27" fmla="*/ 136 h 256"/>
              <a:gd name="T28" fmla="*/ 184 w 263"/>
              <a:gd name="T29" fmla="*/ 72 h 256"/>
              <a:gd name="T30" fmla="*/ 118 w 263"/>
              <a:gd name="T31" fmla="*/ 162 h 256"/>
              <a:gd name="T32" fmla="*/ 61 w 263"/>
              <a:gd name="T33" fmla="*/ 128 h 256"/>
              <a:gd name="T34" fmla="*/ 159 w 263"/>
              <a:gd name="T35" fmla="*/ 57 h 256"/>
              <a:gd name="T36" fmla="*/ 33 w 263"/>
              <a:gd name="T37" fmla="*/ 239 h 256"/>
              <a:gd name="T38" fmla="*/ 16 w 263"/>
              <a:gd name="T39" fmla="*/ 228 h 256"/>
              <a:gd name="T40" fmla="*/ 25 w 263"/>
              <a:gd name="T41" fmla="*/ 193 h 256"/>
              <a:gd name="T42" fmla="*/ 63 w 263"/>
              <a:gd name="T43" fmla="*/ 231 h 256"/>
              <a:gd name="T44" fmla="*/ 71 w 263"/>
              <a:gd name="T45" fmla="*/ 229 h 256"/>
              <a:gd name="T46" fmla="*/ 27 w 263"/>
              <a:gd name="T47" fmla="*/ 185 h 256"/>
              <a:gd name="T48" fmla="*/ 39 w 263"/>
              <a:gd name="T49" fmla="*/ 150 h 256"/>
              <a:gd name="T50" fmla="*/ 103 w 263"/>
              <a:gd name="T51" fmla="*/ 220 h 256"/>
              <a:gd name="T52" fmla="*/ 71 w 263"/>
              <a:gd name="T53" fmla="*/ 229 h 256"/>
              <a:gd name="T54" fmla="*/ 216 w 263"/>
              <a:gd name="T55" fmla="*/ 108 h 256"/>
              <a:gd name="T56" fmla="*/ 196 w 263"/>
              <a:gd name="T57" fmla="*/ 60 h 256"/>
              <a:gd name="T58" fmla="*/ 162 w 263"/>
              <a:gd name="T59" fmla="*/ 26 h 256"/>
              <a:gd name="T60" fmla="*/ 224 w 263"/>
              <a:gd name="T61" fmla="*/ 32 h 256"/>
              <a:gd name="T62" fmla="*/ 230 w 263"/>
              <a:gd name="T63" fmla="*/ 94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63" h="256">
                <a:moveTo>
                  <a:pt x="235" y="21"/>
                </a:moveTo>
                <a:cubicBezTo>
                  <a:pt x="222" y="8"/>
                  <a:pt x="205" y="0"/>
                  <a:pt x="188" y="0"/>
                </a:cubicBezTo>
                <a:cubicBezTo>
                  <a:pt x="173" y="0"/>
                  <a:pt x="160" y="5"/>
                  <a:pt x="150" y="15"/>
                </a:cubicBezTo>
                <a:cubicBezTo>
                  <a:pt x="111" y="54"/>
                  <a:pt x="111" y="54"/>
                  <a:pt x="111" y="54"/>
                </a:cubicBezTo>
                <a:cubicBezTo>
                  <a:pt x="111" y="54"/>
                  <a:pt x="111" y="54"/>
                  <a:pt x="111" y="55"/>
                </a:cubicBezTo>
                <a:cubicBezTo>
                  <a:pt x="111" y="55"/>
                  <a:pt x="111" y="55"/>
                  <a:pt x="111" y="55"/>
                </a:cubicBezTo>
                <a:cubicBezTo>
                  <a:pt x="111" y="55"/>
                  <a:pt x="111" y="55"/>
                  <a:pt x="111" y="55"/>
                </a:cubicBezTo>
                <a:cubicBezTo>
                  <a:pt x="28" y="138"/>
                  <a:pt x="28" y="138"/>
                  <a:pt x="28" y="138"/>
                </a:cubicBezTo>
                <a:cubicBezTo>
                  <a:pt x="24" y="142"/>
                  <a:pt x="22" y="147"/>
                  <a:pt x="20" y="152"/>
                </a:cubicBezTo>
                <a:cubicBezTo>
                  <a:pt x="1" y="220"/>
                  <a:pt x="1" y="220"/>
                  <a:pt x="1" y="220"/>
                </a:cubicBezTo>
                <a:cubicBezTo>
                  <a:pt x="1" y="220"/>
                  <a:pt x="0" y="225"/>
                  <a:pt x="0" y="228"/>
                </a:cubicBezTo>
                <a:cubicBezTo>
                  <a:pt x="0" y="243"/>
                  <a:pt x="13" y="256"/>
                  <a:pt x="28" y="256"/>
                </a:cubicBezTo>
                <a:cubicBezTo>
                  <a:pt x="31" y="256"/>
                  <a:pt x="37" y="255"/>
                  <a:pt x="37" y="255"/>
                </a:cubicBezTo>
                <a:cubicBezTo>
                  <a:pt x="105" y="237"/>
                  <a:pt x="105" y="237"/>
                  <a:pt x="105" y="237"/>
                </a:cubicBezTo>
                <a:cubicBezTo>
                  <a:pt x="110" y="235"/>
                  <a:pt x="115" y="232"/>
                  <a:pt x="119" y="229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63" y="83"/>
                  <a:pt x="261" y="46"/>
                  <a:pt x="235" y="21"/>
                </a:cubicBezTo>
                <a:close/>
                <a:moveTo>
                  <a:pt x="128" y="190"/>
                </a:moveTo>
                <a:cubicBezTo>
                  <a:pt x="127" y="183"/>
                  <a:pt x="125" y="176"/>
                  <a:pt x="122" y="169"/>
                </a:cubicBezTo>
                <a:cubicBezTo>
                  <a:pt x="198" y="94"/>
                  <a:pt x="198" y="94"/>
                  <a:pt x="198" y="94"/>
                </a:cubicBezTo>
                <a:cubicBezTo>
                  <a:pt x="203" y="108"/>
                  <a:pt x="200" y="124"/>
                  <a:pt x="190" y="134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4"/>
                  <a:pt x="128" y="192"/>
                  <a:pt x="128" y="190"/>
                </a:cubicBezTo>
                <a:close/>
                <a:moveTo>
                  <a:pt x="118" y="162"/>
                </a:moveTo>
                <a:cubicBezTo>
                  <a:pt x="115" y="157"/>
                  <a:pt x="112" y="152"/>
                  <a:pt x="108" y="148"/>
                </a:cubicBezTo>
                <a:cubicBezTo>
                  <a:pt x="103" y="143"/>
                  <a:pt x="97" y="140"/>
                  <a:pt x="91" y="136"/>
                </a:cubicBezTo>
                <a:cubicBezTo>
                  <a:pt x="168" y="60"/>
                  <a:pt x="168" y="60"/>
                  <a:pt x="168" y="60"/>
                </a:cubicBezTo>
                <a:cubicBezTo>
                  <a:pt x="174" y="63"/>
                  <a:pt x="179" y="66"/>
                  <a:pt x="184" y="72"/>
                </a:cubicBezTo>
                <a:cubicBezTo>
                  <a:pt x="189" y="76"/>
                  <a:pt x="192" y="81"/>
                  <a:pt x="195" y="86"/>
                </a:cubicBezTo>
                <a:lnTo>
                  <a:pt x="118" y="162"/>
                </a:lnTo>
                <a:close/>
                <a:moveTo>
                  <a:pt x="84" y="133"/>
                </a:moveTo>
                <a:cubicBezTo>
                  <a:pt x="76" y="130"/>
                  <a:pt x="69" y="128"/>
                  <a:pt x="61" y="128"/>
                </a:cubicBezTo>
                <a:cubicBezTo>
                  <a:pt x="123" y="66"/>
                  <a:pt x="123" y="66"/>
                  <a:pt x="123" y="66"/>
                </a:cubicBezTo>
                <a:cubicBezTo>
                  <a:pt x="132" y="56"/>
                  <a:pt x="146" y="54"/>
                  <a:pt x="159" y="57"/>
                </a:cubicBezTo>
                <a:lnTo>
                  <a:pt x="84" y="133"/>
                </a:lnTo>
                <a:close/>
                <a:moveTo>
                  <a:pt x="33" y="239"/>
                </a:moveTo>
                <a:cubicBezTo>
                  <a:pt x="32" y="239"/>
                  <a:pt x="30" y="240"/>
                  <a:pt x="28" y="240"/>
                </a:cubicBezTo>
                <a:cubicBezTo>
                  <a:pt x="21" y="240"/>
                  <a:pt x="16" y="235"/>
                  <a:pt x="16" y="228"/>
                </a:cubicBezTo>
                <a:cubicBezTo>
                  <a:pt x="16" y="227"/>
                  <a:pt x="17" y="224"/>
                  <a:pt x="17" y="224"/>
                </a:cubicBezTo>
                <a:cubicBezTo>
                  <a:pt x="25" y="193"/>
                  <a:pt x="25" y="193"/>
                  <a:pt x="25" y="193"/>
                </a:cubicBezTo>
                <a:cubicBezTo>
                  <a:pt x="34" y="193"/>
                  <a:pt x="44" y="196"/>
                  <a:pt x="52" y="204"/>
                </a:cubicBezTo>
                <a:cubicBezTo>
                  <a:pt x="60" y="212"/>
                  <a:pt x="64" y="222"/>
                  <a:pt x="63" y="231"/>
                </a:cubicBezTo>
                <a:lnTo>
                  <a:pt x="33" y="239"/>
                </a:lnTo>
                <a:close/>
                <a:moveTo>
                  <a:pt x="71" y="229"/>
                </a:moveTo>
                <a:cubicBezTo>
                  <a:pt x="71" y="218"/>
                  <a:pt x="66" y="207"/>
                  <a:pt x="58" y="198"/>
                </a:cubicBezTo>
                <a:cubicBezTo>
                  <a:pt x="49" y="190"/>
                  <a:pt x="38" y="185"/>
                  <a:pt x="27" y="185"/>
                </a:cubicBezTo>
                <a:cubicBezTo>
                  <a:pt x="35" y="156"/>
                  <a:pt x="35" y="156"/>
                  <a:pt x="35" y="156"/>
                </a:cubicBezTo>
                <a:cubicBezTo>
                  <a:pt x="36" y="154"/>
                  <a:pt x="37" y="152"/>
                  <a:pt x="39" y="150"/>
                </a:cubicBezTo>
                <a:cubicBezTo>
                  <a:pt x="55" y="139"/>
                  <a:pt x="79" y="142"/>
                  <a:pt x="96" y="160"/>
                </a:cubicBezTo>
                <a:cubicBezTo>
                  <a:pt x="115" y="178"/>
                  <a:pt x="117" y="204"/>
                  <a:pt x="103" y="220"/>
                </a:cubicBezTo>
                <a:cubicBezTo>
                  <a:pt x="103" y="221"/>
                  <a:pt x="102" y="221"/>
                  <a:pt x="101" y="221"/>
                </a:cubicBezTo>
                <a:lnTo>
                  <a:pt x="71" y="229"/>
                </a:lnTo>
                <a:close/>
                <a:moveTo>
                  <a:pt x="230" y="94"/>
                </a:moveTo>
                <a:cubicBezTo>
                  <a:pt x="216" y="108"/>
                  <a:pt x="216" y="108"/>
                  <a:pt x="216" y="108"/>
                </a:cubicBezTo>
                <a:cubicBezTo>
                  <a:pt x="216" y="106"/>
                  <a:pt x="216" y="104"/>
                  <a:pt x="216" y="102"/>
                </a:cubicBezTo>
                <a:cubicBezTo>
                  <a:pt x="215" y="87"/>
                  <a:pt x="207" y="72"/>
                  <a:pt x="196" y="60"/>
                </a:cubicBezTo>
                <a:cubicBezTo>
                  <a:pt x="183" y="47"/>
                  <a:pt x="165" y="40"/>
                  <a:pt x="148" y="40"/>
                </a:cubicBezTo>
                <a:cubicBezTo>
                  <a:pt x="162" y="26"/>
                  <a:pt x="162" y="26"/>
                  <a:pt x="162" y="26"/>
                </a:cubicBezTo>
                <a:cubicBezTo>
                  <a:pt x="168" y="20"/>
                  <a:pt x="177" y="16"/>
                  <a:pt x="188" y="16"/>
                </a:cubicBezTo>
                <a:cubicBezTo>
                  <a:pt x="200" y="16"/>
                  <a:pt x="214" y="22"/>
                  <a:pt x="224" y="32"/>
                </a:cubicBezTo>
                <a:cubicBezTo>
                  <a:pt x="233" y="41"/>
                  <a:pt x="239" y="53"/>
                  <a:pt x="240" y="65"/>
                </a:cubicBezTo>
                <a:cubicBezTo>
                  <a:pt x="241" y="76"/>
                  <a:pt x="237" y="87"/>
                  <a:pt x="230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20" name="Group 89">
            <a:extLst>
              <a:ext uri="{FF2B5EF4-FFF2-40B4-BE49-F238E27FC236}">
                <a16:creationId xmlns:a16="http://schemas.microsoft.com/office/drawing/2014/main" id="{341350D3-EBF7-A869-DBB7-D88C0D62F877}"/>
              </a:ext>
            </a:extLst>
          </p:cNvPr>
          <p:cNvGrpSpPr/>
          <p:nvPr/>
        </p:nvGrpSpPr>
        <p:grpSpPr>
          <a:xfrm>
            <a:off x="6995329" y="2872412"/>
            <a:ext cx="551212" cy="604151"/>
            <a:chOff x="6980238" y="-342900"/>
            <a:chExt cx="1150937" cy="1311275"/>
          </a:xfrm>
          <a:solidFill>
            <a:schemeClr val="bg1"/>
          </a:solidFill>
        </p:grpSpPr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18BDB2BA-3B38-C4D5-26C7-E423FEBE6B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0238" y="-342900"/>
              <a:ext cx="1150937" cy="1311275"/>
            </a:xfrm>
            <a:custGeom>
              <a:avLst/>
              <a:gdLst>
                <a:gd name="T0" fmla="*/ 152 w 304"/>
                <a:gd name="T1" fmla="*/ 0 h 347"/>
                <a:gd name="T2" fmla="*/ 0 w 304"/>
                <a:gd name="T3" fmla="*/ 71 h 347"/>
                <a:gd name="T4" fmla="*/ 0 w 304"/>
                <a:gd name="T5" fmla="*/ 277 h 347"/>
                <a:gd name="T6" fmla="*/ 152 w 304"/>
                <a:gd name="T7" fmla="*/ 347 h 347"/>
                <a:gd name="T8" fmla="*/ 304 w 304"/>
                <a:gd name="T9" fmla="*/ 277 h 347"/>
                <a:gd name="T10" fmla="*/ 304 w 304"/>
                <a:gd name="T11" fmla="*/ 71 h 347"/>
                <a:gd name="T12" fmla="*/ 152 w 304"/>
                <a:gd name="T13" fmla="*/ 0 h 347"/>
                <a:gd name="T14" fmla="*/ 282 w 304"/>
                <a:gd name="T15" fmla="*/ 277 h 347"/>
                <a:gd name="T16" fmla="*/ 152 w 304"/>
                <a:gd name="T17" fmla="*/ 326 h 347"/>
                <a:gd name="T18" fmla="*/ 22 w 304"/>
                <a:gd name="T19" fmla="*/ 277 h 347"/>
                <a:gd name="T20" fmla="*/ 22 w 304"/>
                <a:gd name="T21" fmla="*/ 236 h 347"/>
                <a:gd name="T22" fmla="*/ 152 w 304"/>
                <a:gd name="T23" fmla="*/ 271 h 347"/>
                <a:gd name="T24" fmla="*/ 282 w 304"/>
                <a:gd name="T25" fmla="*/ 236 h 347"/>
                <a:gd name="T26" fmla="*/ 282 w 304"/>
                <a:gd name="T27" fmla="*/ 277 h 347"/>
                <a:gd name="T28" fmla="*/ 282 w 304"/>
                <a:gd name="T29" fmla="*/ 212 h 347"/>
                <a:gd name="T30" fmla="*/ 282 w 304"/>
                <a:gd name="T31" fmla="*/ 212 h 347"/>
                <a:gd name="T32" fmla="*/ 282 w 304"/>
                <a:gd name="T33" fmla="*/ 212 h 347"/>
                <a:gd name="T34" fmla="*/ 152 w 304"/>
                <a:gd name="T35" fmla="*/ 261 h 347"/>
                <a:gd name="T36" fmla="*/ 22 w 304"/>
                <a:gd name="T37" fmla="*/ 212 h 347"/>
                <a:gd name="T38" fmla="*/ 22 w 304"/>
                <a:gd name="T39" fmla="*/ 212 h 347"/>
                <a:gd name="T40" fmla="*/ 22 w 304"/>
                <a:gd name="T41" fmla="*/ 212 h 347"/>
                <a:gd name="T42" fmla="*/ 22 w 304"/>
                <a:gd name="T43" fmla="*/ 171 h 347"/>
                <a:gd name="T44" fmla="*/ 152 w 304"/>
                <a:gd name="T45" fmla="*/ 206 h 347"/>
                <a:gd name="T46" fmla="*/ 282 w 304"/>
                <a:gd name="T47" fmla="*/ 171 h 347"/>
                <a:gd name="T48" fmla="*/ 282 w 304"/>
                <a:gd name="T49" fmla="*/ 212 h 347"/>
                <a:gd name="T50" fmla="*/ 282 w 304"/>
                <a:gd name="T51" fmla="*/ 147 h 347"/>
                <a:gd name="T52" fmla="*/ 282 w 304"/>
                <a:gd name="T53" fmla="*/ 147 h 347"/>
                <a:gd name="T54" fmla="*/ 282 w 304"/>
                <a:gd name="T55" fmla="*/ 147 h 347"/>
                <a:gd name="T56" fmla="*/ 152 w 304"/>
                <a:gd name="T57" fmla="*/ 195 h 347"/>
                <a:gd name="T58" fmla="*/ 22 w 304"/>
                <a:gd name="T59" fmla="*/ 147 h 347"/>
                <a:gd name="T60" fmla="*/ 22 w 304"/>
                <a:gd name="T61" fmla="*/ 147 h 347"/>
                <a:gd name="T62" fmla="*/ 22 w 304"/>
                <a:gd name="T63" fmla="*/ 147 h 347"/>
                <a:gd name="T64" fmla="*/ 22 w 304"/>
                <a:gd name="T65" fmla="*/ 109 h 347"/>
                <a:gd name="T66" fmla="*/ 152 w 304"/>
                <a:gd name="T67" fmla="*/ 141 h 347"/>
                <a:gd name="T68" fmla="*/ 282 w 304"/>
                <a:gd name="T69" fmla="*/ 109 h 347"/>
                <a:gd name="T70" fmla="*/ 282 w 304"/>
                <a:gd name="T71" fmla="*/ 147 h 347"/>
                <a:gd name="T72" fmla="*/ 152 w 304"/>
                <a:gd name="T73" fmla="*/ 119 h 347"/>
                <a:gd name="T74" fmla="*/ 22 w 304"/>
                <a:gd name="T75" fmla="*/ 71 h 347"/>
                <a:gd name="T76" fmla="*/ 152 w 304"/>
                <a:gd name="T77" fmla="*/ 22 h 347"/>
                <a:gd name="T78" fmla="*/ 282 w 304"/>
                <a:gd name="T79" fmla="*/ 71 h 347"/>
                <a:gd name="T80" fmla="*/ 152 w 304"/>
                <a:gd name="T81" fmla="*/ 11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4" h="347">
                  <a:moveTo>
                    <a:pt x="152" y="0"/>
                  </a:moveTo>
                  <a:cubicBezTo>
                    <a:pt x="79" y="0"/>
                    <a:pt x="0" y="22"/>
                    <a:pt x="0" y="71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325"/>
                    <a:pt x="79" y="347"/>
                    <a:pt x="152" y="347"/>
                  </a:cubicBezTo>
                  <a:cubicBezTo>
                    <a:pt x="225" y="347"/>
                    <a:pt x="304" y="325"/>
                    <a:pt x="304" y="277"/>
                  </a:cubicBezTo>
                  <a:cubicBezTo>
                    <a:pt x="304" y="71"/>
                    <a:pt x="304" y="71"/>
                    <a:pt x="304" y="71"/>
                  </a:cubicBezTo>
                  <a:cubicBezTo>
                    <a:pt x="304" y="22"/>
                    <a:pt x="225" y="0"/>
                    <a:pt x="152" y="0"/>
                  </a:cubicBezTo>
                  <a:close/>
                  <a:moveTo>
                    <a:pt x="282" y="277"/>
                  </a:moveTo>
                  <a:cubicBezTo>
                    <a:pt x="282" y="304"/>
                    <a:pt x="224" y="326"/>
                    <a:pt x="152" y="326"/>
                  </a:cubicBezTo>
                  <a:cubicBezTo>
                    <a:pt x="80" y="326"/>
                    <a:pt x="22" y="304"/>
                    <a:pt x="22" y="277"/>
                  </a:cubicBezTo>
                  <a:cubicBezTo>
                    <a:pt x="22" y="236"/>
                    <a:pt x="22" y="236"/>
                    <a:pt x="22" y="236"/>
                  </a:cubicBezTo>
                  <a:cubicBezTo>
                    <a:pt x="44" y="259"/>
                    <a:pt x="98" y="271"/>
                    <a:pt x="152" y="271"/>
                  </a:cubicBezTo>
                  <a:cubicBezTo>
                    <a:pt x="206" y="271"/>
                    <a:pt x="260" y="259"/>
                    <a:pt x="282" y="236"/>
                  </a:cubicBezTo>
                  <a:lnTo>
                    <a:pt x="282" y="277"/>
                  </a:lnTo>
                  <a:close/>
                  <a:moveTo>
                    <a:pt x="282" y="212"/>
                  </a:moveTo>
                  <a:cubicBezTo>
                    <a:pt x="282" y="212"/>
                    <a:pt x="282" y="212"/>
                    <a:pt x="282" y="212"/>
                  </a:cubicBezTo>
                  <a:cubicBezTo>
                    <a:pt x="282" y="212"/>
                    <a:pt x="282" y="212"/>
                    <a:pt x="282" y="212"/>
                  </a:cubicBezTo>
                  <a:cubicBezTo>
                    <a:pt x="282" y="239"/>
                    <a:pt x="224" y="261"/>
                    <a:pt x="152" y="261"/>
                  </a:cubicBezTo>
                  <a:cubicBezTo>
                    <a:pt x="80" y="261"/>
                    <a:pt x="22" y="239"/>
                    <a:pt x="22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44" y="194"/>
                    <a:pt x="98" y="206"/>
                    <a:pt x="152" y="206"/>
                  </a:cubicBezTo>
                  <a:cubicBezTo>
                    <a:pt x="206" y="206"/>
                    <a:pt x="260" y="194"/>
                    <a:pt x="282" y="171"/>
                  </a:cubicBezTo>
                  <a:lnTo>
                    <a:pt x="282" y="212"/>
                  </a:lnTo>
                  <a:close/>
                  <a:moveTo>
                    <a:pt x="282" y="147"/>
                  </a:moveTo>
                  <a:cubicBezTo>
                    <a:pt x="282" y="147"/>
                    <a:pt x="282" y="147"/>
                    <a:pt x="282" y="147"/>
                  </a:cubicBezTo>
                  <a:cubicBezTo>
                    <a:pt x="282" y="147"/>
                    <a:pt x="282" y="147"/>
                    <a:pt x="282" y="147"/>
                  </a:cubicBezTo>
                  <a:cubicBezTo>
                    <a:pt x="282" y="174"/>
                    <a:pt x="224" y="195"/>
                    <a:pt x="152" y="195"/>
                  </a:cubicBezTo>
                  <a:cubicBezTo>
                    <a:pt x="80" y="195"/>
                    <a:pt x="22" y="174"/>
                    <a:pt x="22" y="147"/>
                  </a:cubicBezTo>
                  <a:cubicBezTo>
                    <a:pt x="22" y="147"/>
                    <a:pt x="22" y="147"/>
                    <a:pt x="22" y="147"/>
                  </a:cubicBezTo>
                  <a:cubicBezTo>
                    <a:pt x="22" y="147"/>
                    <a:pt x="22" y="147"/>
                    <a:pt x="22" y="147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50" y="131"/>
                    <a:pt x="102" y="141"/>
                    <a:pt x="152" y="141"/>
                  </a:cubicBezTo>
                  <a:cubicBezTo>
                    <a:pt x="202" y="141"/>
                    <a:pt x="254" y="131"/>
                    <a:pt x="282" y="109"/>
                  </a:cubicBezTo>
                  <a:lnTo>
                    <a:pt x="282" y="147"/>
                  </a:lnTo>
                  <a:close/>
                  <a:moveTo>
                    <a:pt x="152" y="119"/>
                  </a:moveTo>
                  <a:cubicBezTo>
                    <a:pt x="80" y="119"/>
                    <a:pt x="22" y="98"/>
                    <a:pt x="22" y="71"/>
                  </a:cubicBezTo>
                  <a:cubicBezTo>
                    <a:pt x="22" y="44"/>
                    <a:pt x="80" y="22"/>
                    <a:pt x="152" y="22"/>
                  </a:cubicBezTo>
                  <a:cubicBezTo>
                    <a:pt x="224" y="22"/>
                    <a:pt x="282" y="44"/>
                    <a:pt x="282" y="71"/>
                  </a:cubicBezTo>
                  <a:cubicBezTo>
                    <a:pt x="282" y="98"/>
                    <a:pt x="224" y="119"/>
                    <a:pt x="152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2" name="Oval 31">
              <a:extLst>
                <a:ext uri="{FF2B5EF4-FFF2-40B4-BE49-F238E27FC236}">
                  <a16:creationId xmlns:a16="http://schemas.microsoft.com/office/drawing/2014/main" id="{A87120D6-49DF-F09F-6823-23ED06112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681038"/>
              <a:ext cx="82550" cy="8413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3" name="Oval 32">
              <a:extLst>
                <a:ext uri="{FF2B5EF4-FFF2-40B4-BE49-F238E27FC236}">
                  <a16:creationId xmlns:a16="http://schemas.microsoft.com/office/drawing/2014/main" id="{FAF57961-CC63-4F90-EC09-FA31F9AF0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34975"/>
              <a:ext cx="82550" cy="8413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4" name="Oval 33">
              <a:extLst>
                <a:ext uri="{FF2B5EF4-FFF2-40B4-BE49-F238E27FC236}">
                  <a16:creationId xmlns:a16="http://schemas.microsoft.com/office/drawing/2014/main" id="{87BA2B1E-363C-8F30-7AA4-3226CEF0C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190500"/>
              <a:ext cx="82550" cy="8255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25" name="Group 94">
            <a:extLst>
              <a:ext uri="{FF2B5EF4-FFF2-40B4-BE49-F238E27FC236}">
                <a16:creationId xmlns:a16="http://schemas.microsoft.com/office/drawing/2014/main" id="{3D235D1A-0EB1-FC0D-EEDD-0958963A7130}"/>
              </a:ext>
            </a:extLst>
          </p:cNvPr>
          <p:cNvGrpSpPr/>
          <p:nvPr/>
        </p:nvGrpSpPr>
        <p:grpSpPr>
          <a:xfrm>
            <a:off x="6593238" y="4596047"/>
            <a:ext cx="786468" cy="740754"/>
            <a:chOff x="5899150" y="-1111250"/>
            <a:chExt cx="2832101" cy="2832100"/>
          </a:xfrm>
          <a:solidFill>
            <a:schemeClr val="bg1"/>
          </a:solidFill>
        </p:grpSpPr>
        <p:sp>
          <p:nvSpPr>
            <p:cNvPr id="126" name="Freeform 37">
              <a:extLst>
                <a:ext uri="{FF2B5EF4-FFF2-40B4-BE49-F238E27FC236}">
                  <a16:creationId xmlns:a16="http://schemas.microsoft.com/office/drawing/2014/main" id="{20C1EF2A-A998-2EF8-4EF8-F9F8B39F45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99150" y="-1111250"/>
              <a:ext cx="2832101" cy="2832100"/>
            </a:xfrm>
            <a:custGeom>
              <a:avLst/>
              <a:gdLst>
                <a:gd name="T0" fmla="*/ 499 w 752"/>
                <a:gd name="T1" fmla="*/ 68 h 752"/>
                <a:gd name="T2" fmla="*/ 68 w 752"/>
                <a:gd name="T3" fmla="*/ 253 h 752"/>
                <a:gd name="T4" fmla="*/ 253 w 752"/>
                <a:gd name="T5" fmla="*/ 684 h 752"/>
                <a:gd name="T6" fmla="*/ 684 w 752"/>
                <a:gd name="T7" fmla="*/ 499 h 752"/>
                <a:gd name="T8" fmla="*/ 499 w 752"/>
                <a:gd name="T9" fmla="*/ 68 h 752"/>
                <a:gd name="T10" fmla="*/ 268 w 752"/>
                <a:gd name="T11" fmla="*/ 646 h 752"/>
                <a:gd name="T12" fmla="*/ 106 w 752"/>
                <a:gd name="T13" fmla="*/ 268 h 752"/>
                <a:gd name="T14" fmla="*/ 484 w 752"/>
                <a:gd name="T15" fmla="*/ 106 h 752"/>
                <a:gd name="T16" fmla="*/ 646 w 752"/>
                <a:gd name="T17" fmla="*/ 484 h 752"/>
                <a:gd name="T18" fmla="*/ 268 w 752"/>
                <a:gd name="T19" fmla="*/ 646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2" h="752">
                  <a:moveTo>
                    <a:pt x="499" y="68"/>
                  </a:moveTo>
                  <a:cubicBezTo>
                    <a:pt x="329" y="0"/>
                    <a:pt x="136" y="82"/>
                    <a:pt x="68" y="253"/>
                  </a:cubicBezTo>
                  <a:cubicBezTo>
                    <a:pt x="0" y="423"/>
                    <a:pt x="82" y="616"/>
                    <a:pt x="253" y="684"/>
                  </a:cubicBezTo>
                  <a:cubicBezTo>
                    <a:pt x="423" y="752"/>
                    <a:pt x="616" y="670"/>
                    <a:pt x="684" y="499"/>
                  </a:cubicBezTo>
                  <a:cubicBezTo>
                    <a:pt x="752" y="329"/>
                    <a:pt x="670" y="136"/>
                    <a:pt x="499" y="68"/>
                  </a:cubicBezTo>
                  <a:close/>
                  <a:moveTo>
                    <a:pt x="268" y="646"/>
                  </a:moveTo>
                  <a:cubicBezTo>
                    <a:pt x="119" y="586"/>
                    <a:pt x="47" y="417"/>
                    <a:pt x="106" y="268"/>
                  </a:cubicBezTo>
                  <a:cubicBezTo>
                    <a:pt x="166" y="119"/>
                    <a:pt x="335" y="47"/>
                    <a:pt x="484" y="106"/>
                  </a:cubicBezTo>
                  <a:cubicBezTo>
                    <a:pt x="633" y="166"/>
                    <a:pt x="705" y="335"/>
                    <a:pt x="646" y="484"/>
                  </a:cubicBezTo>
                  <a:cubicBezTo>
                    <a:pt x="586" y="633"/>
                    <a:pt x="417" y="705"/>
                    <a:pt x="268" y="6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7" name="Freeform 38">
              <a:extLst>
                <a:ext uri="{FF2B5EF4-FFF2-40B4-BE49-F238E27FC236}">
                  <a16:creationId xmlns:a16="http://schemas.microsoft.com/office/drawing/2014/main" id="{B0A1A028-8CA3-7DD1-2563-43C74B8087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37400" y="127000"/>
              <a:ext cx="354013" cy="354013"/>
            </a:xfrm>
            <a:custGeom>
              <a:avLst/>
              <a:gdLst>
                <a:gd name="T0" fmla="*/ 62 w 94"/>
                <a:gd name="T1" fmla="*/ 9 h 94"/>
                <a:gd name="T2" fmla="*/ 9 w 94"/>
                <a:gd name="T3" fmla="*/ 32 h 94"/>
                <a:gd name="T4" fmla="*/ 32 w 94"/>
                <a:gd name="T5" fmla="*/ 86 h 94"/>
                <a:gd name="T6" fmla="*/ 86 w 94"/>
                <a:gd name="T7" fmla="*/ 62 h 94"/>
                <a:gd name="T8" fmla="*/ 62 w 94"/>
                <a:gd name="T9" fmla="*/ 9 h 94"/>
                <a:gd name="T10" fmla="*/ 39 w 94"/>
                <a:gd name="T11" fmla="*/ 66 h 94"/>
                <a:gd name="T12" fmla="*/ 28 w 94"/>
                <a:gd name="T13" fmla="*/ 39 h 94"/>
                <a:gd name="T14" fmla="*/ 55 w 94"/>
                <a:gd name="T15" fmla="*/ 28 h 94"/>
                <a:gd name="T16" fmla="*/ 66 w 94"/>
                <a:gd name="T17" fmla="*/ 55 h 94"/>
                <a:gd name="T18" fmla="*/ 39 w 94"/>
                <a:gd name="T19" fmla="*/ 6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94">
                  <a:moveTo>
                    <a:pt x="62" y="9"/>
                  </a:moveTo>
                  <a:cubicBezTo>
                    <a:pt x="41" y="0"/>
                    <a:pt x="17" y="10"/>
                    <a:pt x="9" y="32"/>
                  </a:cubicBezTo>
                  <a:cubicBezTo>
                    <a:pt x="0" y="53"/>
                    <a:pt x="10" y="77"/>
                    <a:pt x="32" y="86"/>
                  </a:cubicBezTo>
                  <a:cubicBezTo>
                    <a:pt x="53" y="94"/>
                    <a:pt x="77" y="84"/>
                    <a:pt x="86" y="62"/>
                  </a:cubicBezTo>
                  <a:cubicBezTo>
                    <a:pt x="94" y="41"/>
                    <a:pt x="84" y="17"/>
                    <a:pt x="62" y="9"/>
                  </a:cubicBezTo>
                  <a:close/>
                  <a:moveTo>
                    <a:pt x="39" y="66"/>
                  </a:moveTo>
                  <a:cubicBezTo>
                    <a:pt x="29" y="62"/>
                    <a:pt x="24" y="50"/>
                    <a:pt x="28" y="39"/>
                  </a:cubicBezTo>
                  <a:cubicBezTo>
                    <a:pt x="32" y="29"/>
                    <a:pt x="44" y="24"/>
                    <a:pt x="55" y="28"/>
                  </a:cubicBezTo>
                  <a:cubicBezTo>
                    <a:pt x="65" y="32"/>
                    <a:pt x="71" y="44"/>
                    <a:pt x="66" y="55"/>
                  </a:cubicBezTo>
                  <a:cubicBezTo>
                    <a:pt x="62" y="65"/>
                    <a:pt x="50" y="71"/>
                    <a:pt x="39" y="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8" name="Freeform 39">
              <a:extLst>
                <a:ext uri="{FF2B5EF4-FFF2-40B4-BE49-F238E27FC236}">
                  <a16:creationId xmlns:a16="http://schemas.microsoft.com/office/drawing/2014/main" id="{7207CE50-F759-66AA-7431-4FDB02B294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3388" y="-225425"/>
              <a:ext cx="1062038" cy="1060450"/>
            </a:xfrm>
            <a:custGeom>
              <a:avLst/>
              <a:gdLst>
                <a:gd name="T0" fmla="*/ 187 w 282"/>
                <a:gd name="T1" fmla="*/ 25 h 282"/>
                <a:gd name="T2" fmla="*/ 25 w 282"/>
                <a:gd name="T3" fmla="*/ 95 h 282"/>
                <a:gd name="T4" fmla="*/ 95 w 282"/>
                <a:gd name="T5" fmla="*/ 257 h 282"/>
                <a:gd name="T6" fmla="*/ 257 w 282"/>
                <a:gd name="T7" fmla="*/ 187 h 282"/>
                <a:gd name="T8" fmla="*/ 187 w 282"/>
                <a:gd name="T9" fmla="*/ 25 h 282"/>
                <a:gd name="T10" fmla="*/ 110 w 282"/>
                <a:gd name="T11" fmla="*/ 218 h 282"/>
                <a:gd name="T12" fmla="*/ 64 w 282"/>
                <a:gd name="T13" fmla="*/ 110 h 282"/>
                <a:gd name="T14" fmla="*/ 172 w 282"/>
                <a:gd name="T15" fmla="*/ 64 h 282"/>
                <a:gd name="T16" fmla="*/ 218 w 282"/>
                <a:gd name="T17" fmla="*/ 172 h 282"/>
                <a:gd name="T18" fmla="*/ 110 w 282"/>
                <a:gd name="T19" fmla="*/ 21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187" y="25"/>
                  </a:moveTo>
                  <a:cubicBezTo>
                    <a:pt x="123" y="0"/>
                    <a:pt x="51" y="31"/>
                    <a:pt x="25" y="95"/>
                  </a:cubicBezTo>
                  <a:cubicBezTo>
                    <a:pt x="0" y="159"/>
                    <a:pt x="31" y="231"/>
                    <a:pt x="95" y="257"/>
                  </a:cubicBezTo>
                  <a:cubicBezTo>
                    <a:pt x="159" y="282"/>
                    <a:pt x="231" y="251"/>
                    <a:pt x="257" y="187"/>
                  </a:cubicBezTo>
                  <a:cubicBezTo>
                    <a:pt x="282" y="123"/>
                    <a:pt x="251" y="51"/>
                    <a:pt x="187" y="25"/>
                  </a:cubicBezTo>
                  <a:close/>
                  <a:moveTo>
                    <a:pt x="110" y="218"/>
                  </a:moveTo>
                  <a:cubicBezTo>
                    <a:pt x="68" y="201"/>
                    <a:pt x="47" y="153"/>
                    <a:pt x="64" y="110"/>
                  </a:cubicBezTo>
                  <a:cubicBezTo>
                    <a:pt x="81" y="68"/>
                    <a:pt x="129" y="47"/>
                    <a:pt x="172" y="64"/>
                  </a:cubicBezTo>
                  <a:cubicBezTo>
                    <a:pt x="214" y="81"/>
                    <a:pt x="235" y="129"/>
                    <a:pt x="218" y="172"/>
                  </a:cubicBezTo>
                  <a:cubicBezTo>
                    <a:pt x="201" y="214"/>
                    <a:pt x="153" y="235"/>
                    <a:pt x="110" y="2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9" name="Freeform 40">
              <a:extLst>
                <a:ext uri="{FF2B5EF4-FFF2-40B4-BE49-F238E27FC236}">
                  <a16:creationId xmlns:a16="http://schemas.microsoft.com/office/drawing/2014/main" id="{E697726A-B1CB-0509-99C1-AC155544CD2E}"/>
                </a:ext>
              </a:extLst>
            </p:cNvPr>
            <p:cNvSpPr/>
            <p:nvPr/>
          </p:nvSpPr>
          <p:spPr bwMode="auto">
            <a:xfrm>
              <a:off x="7499350" y="477838"/>
              <a:ext cx="403225" cy="411163"/>
            </a:xfrm>
            <a:custGeom>
              <a:avLst/>
              <a:gdLst>
                <a:gd name="T0" fmla="*/ 105 w 107"/>
                <a:gd name="T1" fmla="*/ 16 h 109"/>
                <a:gd name="T2" fmla="*/ 99 w 107"/>
                <a:gd name="T3" fmla="*/ 2 h 109"/>
                <a:gd name="T4" fmla="*/ 86 w 107"/>
                <a:gd name="T5" fmla="*/ 8 h 109"/>
                <a:gd name="T6" fmla="*/ 86 w 107"/>
                <a:gd name="T7" fmla="*/ 8 h 109"/>
                <a:gd name="T8" fmla="*/ 8 w 107"/>
                <a:gd name="T9" fmla="*/ 88 h 109"/>
                <a:gd name="T10" fmla="*/ 3 w 107"/>
                <a:gd name="T11" fmla="*/ 101 h 109"/>
                <a:gd name="T12" fmla="*/ 16 w 107"/>
                <a:gd name="T13" fmla="*/ 107 h 109"/>
                <a:gd name="T14" fmla="*/ 17 w 107"/>
                <a:gd name="T15" fmla="*/ 106 h 109"/>
                <a:gd name="T16" fmla="*/ 105 w 107"/>
                <a:gd name="T17" fmla="*/ 1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109">
                  <a:moveTo>
                    <a:pt x="105" y="16"/>
                  </a:moveTo>
                  <a:cubicBezTo>
                    <a:pt x="107" y="10"/>
                    <a:pt x="105" y="4"/>
                    <a:pt x="99" y="2"/>
                  </a:cubicBezTo>
                  <a:cubicBezTo>
                    <a:pt x="94" y="0"/>
                    <a:pt x="88" y="3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71" y="45"/>
                    <a:pt x="42" y="73"/>
                    <a:pt x="8" y="88"/>
                  </a:cubicBezTo>
                  <a:cubicBezTo>
                    <a:pt x="3" y="90"/>
                    <a:pt x="0" y="96"/>
                    <a:pt x="3" y="101"/>
                  </a:cubicBezTo>
                  <a:cubicBezTo>
                    <a:pt x="5" y="106"/>
                    <a:pt x="11" y="109"/>
                    <a:pt x="16" y="107"/>
                  </a:cubicBezTo>
                  <a:cubicBezTo>
                    <a:pt x="17" y="107"/>
                    <a:pt x="17" y="106"/>
                    <a:pt x="17" y="106"/>
                  </a:cubicBezTo>
                  <a:cubicBezTo>
                    <a:pt x="56" y="89"/>
                    <a:pt x="88" y="58"/>
                    <a:pt x="10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0" name="Freeform 41">
              <a:extLst>
                <a:ext uri="{FF2B5EF4-FFF2-40B4-BE49-F238E27FC236}">
                  <a16:creationId xmlns:a16="http://schemas.microsoft.com/office/drawing/2014/main" id="{F8D213BD-260F-57F1-842B-3ED4B7379095}"/>
                </a:ext>
              </a:extLst>
            </p:cNvPr>
            <p:cNvSpPr/>
            <p:nvPr/>
          </p:nvSpPr>
          <p:spPr bwMode="auto">
            <a:xfrm>
              <a:off x="7623175" y="595313"/>
              <a:ext cx="569913" cy="579438"/>
            </a:xfrm>
            <a:custGeom>
              <a:avLst/>
              <a:gdLst>
                <a:gd name="T0" fmla="*/ 143 w 151"/>
                <a:gd name="T1" fmla="*/ 2 h 154"/>
                <a:gd name="T2" fmla="*/ 130 w 151"/>
                <a:gd name="T3" fmla="*/ 8 h 154"/>
                <a:gd name="T4" fmla="*/ 8 w 151"/>
                <a:gd name="T5" fmla="*/ 133 h 154"/>
                <a:gd name="T6" fmla="*/ 2 w 151"/>
                <a:gd name="T7" fmla="*/ 146 h 154"/>
                <a:gd name="T8" fmla="*/ 16 w 151"/>
                <a:gd name="T9" fmla="*/ 152 h 154"/>
                <a:gd name="T10" fmla="*/ 17 w 151"/>
                <a:gd name="T11" fmla="*/ 151 h 154"/>
                <a:gd name="T12" fmla="*/ 149 w 151"/>
                <a:gd name="T13" fmla="*/ 16 h 154"/>
                <a:gd name="T14" fmla="*/ 143 w 151"/>
                <a:gd name="T15" fmla="*/ 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4">
                  <a:moveTo>
                    <a:pt x="143" y="2"/>
                  </a:moveTo>
                  <a:cubicBezTo>
                    <a:pt x="138" y="0"/>
                    <a:pt x="132" y="3"/>
                    <a:pt x="130" y="8"/>
                  </a:cubicBezTo>
                  <a:cubicBezTo>
                    <a:pt x="106" y="66"/>
                    <a:pt x="61" y="110"/>
                    <a:pt x="8" y="133"/>
                  </a:cubicBezTo>
                  <a:cubicBezTo>
                    <a:pt x="3" y="135"/>
                    <a:pt x="0" y="141"/>
                    <a:pt x="2" y="146"/>
                  </a:cubicBezTo>
                  <a:cubicBezTo>
                    <a:pt x="5" y="152"/>
                    <a:pt x="11" y="154"/>
                    <a:pt x="16" y="152"/>
                  </a:cubicBezTo>
                  <a:cubicBezTo>
                    <a:pt x="16" y="152"/>
                    <a:pt x="16" y="152"/>
                    <a:pt x="17" y="151"/>
                  </a:cubicBezTo>
                  <a:cubicBezTo>
                    <a:pt x="75" y="126"/>
                    <a:pt x="124" y="79"/>
                    <a:pt x="149" y="16"/>
                  </a:cubicBezTo>
                  <a:cubicBezTo>
                    <a:pt x="151" y="10"/>
                    <a:pt x="149" y="4"/>
                    <a:pt x="14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1" name="Freeform 42">
              <a:extLst>
                <a:ext uri="{FF2B5EF4-FFF2-40B4-BE49-F238E27FC236}">
                  <a16:creationId xmlns:a16="http://schemas.microsoft.com/office/drawing/2014/main" id="{F23B7856-817E-7B7F-6647-E41C1CB9205B}"/>
                </a:ext>
              </a:extLst>
            </p:cNvPr>
            <p:cNvSpPr/>
            <p:nvPr/>
          </p:nvSpPr>
          <p:spPr bwMode="auto">
            <a:xfrm>
              <a:off x="7562850" y="538163"/>
              <a:ext cx="485775" cy="493713"/>
            </a:xfrm>
            <a:custGeom>
              <a:avLst/>
              <a:gdLst>
                <a:gd name="T0" fmla="*/ 121 w 129"/>
                <a:gd name="T1" fmla="*/ 2 h 131"/>
                <a:gd name="T2" fmla="*/ 107 w 129"/>
                <a:gd name="T3" fmla="*/ 7 h 131"/>
                <a:gd name="T4" fmla="*/ 7 w 129"/>
                <a:gd name="T5" fmla="*/ 110 h 131"/>
                <a:gd name="T6" fmla="*/ 7 w 129"/>
                <a:gd name="T7" fmla="*/ 110 h 131"/>
                <a:gd name="T8" fmla="*/ 2 w 129"/>
                <a:gd name="T9" fmla="*/ 123 h 131"/>
                <a:gd name="T10" fmla="*/ 16 w 129"/>
                <a:gd name="T11" fmla="*/ 129 h 131"/>
                <a:gd name="T12" fmla="*/ 16 w 129"/>
                <a:gd name="T13" fmla="*/ 128 h 131"/>
                <a:gd name="T14" fmla="*/ 127 w 129"/>
                <a:gd name="T15" fmla="*/ 15 h 131"/>
                <a:gd name="T16" fmla="*/ 121 w 129"/>
                <a:gd name="T17" fmla="*/ 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1">
                  <a:moveTo>
                    <a:pt x="121" y="2"/>
                  </a:moveTo>
                  <a:cubicBezTo>
                    <a:pt x="115" y="0"/>
                    <a:pt x="109" y="2"/>
                    <a:pt x="107" y="7"/>
                  </a:cubicBezTo>
                  <a:cubicBezTo>
                    <a:pt x="88" y="55"/>
                    <a:pt x="51" y="91"/>
                    <a:pt x="7" y="110"/>
                  </a:cubicBezTo>
                  <a:cubicBezTo>
                    <a:pt x="7" y="110"/>
                    <a:pt x="7" y="110"/>
                    <a:pt x="7" y="110"/>
                  </a:cubicBezTo>
                  <a:cubicBezTo>
                    <a:pt x="2" y="112"/>
                    <a:pt x="0" y="118"/>
                    <a:pt x="2" y="123"/>
                  </a:cubicBezTo>
                  <a:cubicBezTo>
                    <a:pt x="4" y="129"/>
                    <a:pt x="10" y="131"/>
                    <a:pt x="16" y="129"/>
                  </a:cubicBezTo>
                  <a:cubicBezTo>
                    <a:pt x="16" y="129"/>
                    <a:pt x="16" y="128"/>
                    <a:pt x="16" y="128"/>
                  </a:cubicBezTo>
                  <a:cubicBezTo>
                    <a:pt x="65" y="107"/>
                    <a:pt x="105" y="68"/>
                    <a:pt x="127" y="15"/>
                  </a:cubicBezTo>
                  <a:cubicBezTo>
                    <a:pt x="129" y="10"/>
                    <a:pt x="126" y="4"/>
                    <a:pt x="1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2" name="Freeform 43">
              <a:extLst>
                <a:ext uri="{FF2B5EF4-FFF2-40B4-BE49-F238E27FC236}">
                  <a16:creationId xmlns:a16="http://schemas.microsoft.com/office/drawing/2014/main" id="{10D96C13-490B-F676-D7D0-FCBE05917F92}"/>
                </a:ext>
              </a:extLst>
            </p:cNvPr>
            <p:cNvSpPr/>
            <p:nvPr/>
          </p:nvSpPr>
          <p:spPr bwMode="auto">
            <a:xfrm>
              <a:off x="6727825" y="-279400"/>
              <a:ext cx="401638" cy="411163"/>
            </a:xfrm>
            <a:custGeom>
              <a:avLst/>
              <a:gdLst>
                <a:gd name="T0" fmla="*/ 104 w 107"/>
                <a:gd name="T1" fmla="*/ 8 h 109"/>
                <a:gd name="T2" fmla="*/ 91 w 107"/>
                <a:gd name="T3" fmla="*/ 2 h 109"/>
                <a:gd name="T4" fmla="*/ 90 w 107"/>
                <a:gd name="T5" fmla="*/ 3 h 109"/>
                <a:gd name="T6" fmla="*/ 2 w 107"/>
                <a:gd name="T7" fmla="*/ 93 h 109"/>
                <a:gd name="T8" fmla="*/ 2 w 107"/>
                <a:gd name="T9" fmla="*/ 93 h 109"/>
                <a:gd name="T10" fmla="*/ 8 w 107"/>
                <a:gd name="T11" fmla="*/ 107 h 109"/>
                <a:gd name="T12" fmla="*/ 21 w 107"/>
                <a:gd name="T13" fmla="*/ 101 h 109"/>
                <a:gd name="T14" fmla="*/ 21 w 107"/>
                <a:gd name="T15" fmla="*/ 101 h 109"/>
                <a:gd name="T16" fmla="*/ 99 w 107"/>
                <a:gd name="T17" fmla="*/ 22 h 109"/>
                <a:gd name="T18" fmla="*/ 104 w 107"/>
                <a:gd name="T19" fmla="*/ 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109">
                  <a:moveTo>
                    <a:pt x="104" y="8"/>
                  </a:moveTo>
                  <a:cubicBezTo>
                    <a:pt x="102" y="3"/>
                    <a:pt x="96" y="0"/>
                    <a:pt x="91" y="2"/>
                  </a:cubicBezTo>
                  <a:cubicBezTo>
                    <a:pt x="91" y="3"/>
                    <a:pt x="90" y="3"/>
                    <a:pt x="90" y="3"/>
                  </a:cubicBezTo>
                  <a:cubicBezTo>
                    <a:pt x="51" y="20"/>
                    <a:pt x="19" y="51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0" y="99"/>
                    <a:pt x="2" y="105"/>
                    <a:pt x="8" y="107"/>
                  </a:cubicBezTo>
                  <a:cubicBezTo>
                    <a:pt x="13" y="109"/>
                    <a:pt x="19" y="106"/>
                    <a:pt x="21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36" y="64"/>
                    <a:pt x="65" y="36"/>
                    <a:pt x="99" y="22"/>
                  </a:cubicBezTo>
                  <a:cubicBezTo>
                    <a:pt x="104" y="19"/>
                    <a:pt x="107" y="13"/>
                    <a:pt x="10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3" name="Freeform 44">
              <a:extLst>
                <a:ext uri="{FF2B5EF4-FFF2-40B4-BE49-F238E27FC236}">
                  <a16:creationId xmlns:a16="http://schemas.microsoft.com/office/drawing/2014/main" id="{074E1ED0-9423-1918-7928-F138C92AA45B}"/>
                </a:ext>
              </a:extLst>
            </p:cNvPr>
            <p:cNvSpPr/>
            <p:nvPr/>
          </p:nvSpPr>
          <p:spPr bwMode="auto">
            <a:xfrm>
              <a:off x="6437313" y="-565150"/>
              <a:ext cx="568325" cy="579438"/>
            </a:xfrm>
            <a:custGeom>
              <a:avLst/>
              <a:gdLst>
                <a:gd name="T0" fmla="*/ 149 w 151"/>
                <a:gd name="T1" fmla="*/ 8 h 154"/>
                <a:gd name="T2" fmla="*/ 135 w 151"/>
                <a:gd name="T3" fmla="*/ 2 h 154"/>
                <a:gd name="T4" fmla="*/ 134 w 151"/>
                <a:gd name="T5" fmla="*/ 3 h 154"/>
                <a:gd name="T6" fmla="*/ 2 w 151"/>
                <a:gd name="T7" fmla="*/ 138 h 154"/>
                <a:gd name="T8" fmla="*/ 8 w 151"/>
                <a:gd name="T9" fmla="*/ 152 h 154"/>
                <a:gd name="T10" fmla="*/ 21 w 151"/>
                <a:gd name="T11" fmla="*/ 146 h 154"/>
                <a:gd name="T12" fmla="*/ 143 w 151"/>
                <a:gd name="T13" fmla="*/ 21 h 154"/>
                <a:gd name="T14" fmla="*/ 149 w 151"/>
                <a:gd name="T15" fmla="*/ 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4">
                  <a:moveTo>
                    <a:pt x="149" y="8"/>
                  </a:moveTo>
                  <a:cubicBezTo>
                    <a:pt x="146" y="2"/>
                    <a:pt x="140" y="0"/>
                    <a:pt x="135" y="2"/>
                  </a:cubicBezTo>
                  <a:cubicBezTo>
                    <a:pt x="135" y="2"/>
                    <a:pt x="135" y="2"/>
                    <a:pt x="134" y="3"/>
                  </a:cubicBezTo>
                  <a:cubicBezTo>
                    <a:pt x="76" y="28"/>
                    <a:pt x="27" y="75"/>
                    <a:pt x="2" y="138"/>
                  </a:cubicBezTo>
                  <a:cubicBezTo>
                    <a:pt x="0" y="144"/>
                    <a:pt x="2" y="150"/>
                    <a:pt x="8" y="152"/>
                  </a:cubicBezTo>
                  <a:cubicBezTo>
                    <a:pt x="13" y="154"/>
                    <a:pt x="19" y="152"/>
                    <a:pt x="21" y="146"/>
                  </a:cubicBezTo>
                  <a:cubicBezTo>
                    <a:pt x="45" y="88"/>
                    <a:pt x="90" y="44"/>
                    <a:pt x="143" y="21"/>
                  </a:cubicBezTo>
                  <a:cubicBezTo>
                    <a:pt x="148" y="19"/>
                    <a:pt x="151" y="13"/>
                    <a:pt x="149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4" name="Freeform 45">
              <a:extLst>
                <a:ext uri="{FF2B5EF4-FFF2-40B4-BE49-F238E27FC236}">
                  <a16:creationId xmlns:a16="http://schemas.microsoft.com/office/drawing/2014/main" id="{894F2492-F3F8-0A5B-6197-CEC582732188}"/>
                </a:ext>
              </a:extLst>
            </p:cNvPr>
            <p:cNvSpPr/>
            <p:nvPr/>
          </p:nvSpPr>
          <p:spPr bwMode="auto">
            <a:xfrm>
              <a:off x="6580188" y="-422275"/>
              <a:ext cx="485775" cy="496888"/>
            </a:xfrm>
            <a:custGeom>
              <a:avLst/>
              <a:gdLst>
                <a:gd name="T0" fmla="*/ 122 w 129"/>
                <a:gd name="T1" fmla="*/ 21 h 132"/>
                <a:gd name="T2" fmla="*/ 127 w 129"/>
                <a:gd name="T3" fmla="*/ 8 h 132"/>
                <a:gd name="T4" fmla="*/ 113 w 129"/>
                <a:gd name="T5" fmla="*/ 2 h 132"/>
                <a:gd name="T6" fmla="*/ 113 w 129"/>
                <a:gd name="T7" fmla="*/ 3 h 132"/>
                <a:gd name="T8" fmla="*/ 2 w 129"/>
                <a:gd name="T9" fmla="*/ 116 h 132"/>
                <a:gd name="T10" fmla="*/ 8 w 129"/>
                <a:gd name="T11" fmla="*/ 129 h 132"/>
                <a:gd name="T12" fmla="*/ 22 w 129"/>
                <a:gd name="T13" fmla="*/ 124 h 132"/>
                <a:gd name="T14" fmla="*/ 122 w 129"/>
                <a:gd name="T1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132">
                  <a:moveTo>
                    <a:pt x="122" y="21"/>
                  </a:moveTo>
                  <a:cubicBezTo>
                    <a:pt x="127" y="19"/>
                    <a:pt x="129" y="13"/>
                    <a:pt x="127" y="8"/>
                  </a:cubicBezTo>
                  <a:cubicBezTo>
                    <a:pt x="125" y="2"/>
                    <a:pt x="119" y="0"/>
                    <a:pt x="113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64" y="24"/>
                    <a:pt x="24" y="63"/>
                    <a:pt x="2" y="116"/>
                  </a:cubicBezTo>
                  <a:cubicBezTo>
                    <a:pt x="0" y="121"/>
                    <a:pt x="3" y="127"/>
                    <a:pt x="8" y="129"/>
                  </a:cubicBezTo>
                  <a:cubicBezTo>
                    <a:pt x="14" y="132"/>
                    <a:pt x="20" y="129"/>
                    <a:pt x="22" y="124"/>
                  </a:cubicBezTo>
                  <a:cubicBezTo>
                    <a:pt x="41" y="76"/>
                    <a:pt x="78" y="40"/>
                    <a:pt x="122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35" name="Group 104">
            <a:extLst>
              <a:ext uri="{FF2B5EF4-FFF2-40B4-BE49-F238E27FC236}">
                <a16:creationId xmlns:a16="http://schemas.microsoft.com/office/drawing/2014/main" id="{EDBB9FD1-0E3B-F095-1B04-DEFE02543EF2}"/>
              </a:ext>
            </a:extLst>
          </p:cNvPr>
          <p:cNvGrpSpPr/>
          <p:nvPr/>
        </p:nvGrpSpPr>
        <p:grpSpPr>
          <a:xfrm>
            <a:off x="5286440" y="3143295"/>
            <a:ext cx="1549965" cy="1549965"/>
            <a:chOff x="6964641" y="2706230"/>
            <a:chExt cx="1620000" cy="1620000"/>
          </a:xfrm>
        </p:grpSpPr>
        <p:sp>
          <p:nvSpPr>
            <p:cNvPr id="136" name="Oval 105">
              <a:extLst>
                <a:ext uri="{FF2B5EF4-FFF2-40B4-BE49-F238E27FC236}">
                  <a16:creationId xmlns:a16="http://schemas.microsoft.com/office/drawing/2014/main" id="{F8A702BC-0BB1-1574-66A5-51C06A75C1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V="1">
              <a:off x="6964641" y="2706230"/>
              <a:ext cx="1620000" cy="16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7" name="Oval 106">
              <a:extLst>
                <a:ext uri="{FF2B5EF4-FFF2-40B4-BE49-F238E27FC236}">
                  <a16:creationId xmlns:a16="http://schemas.microsoft.com/office/drawing/2014/main" id="{BC068702-DEB6-E65E-F6FF-2CC111505F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V="1">
              <a:off x="7084503" y="2832230"/>
              <a:ext cx="1368000" cy="13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38" name="Group 107">
            <a:extLst>
              <a:ext uri="{FF2B5EF4-FFF2-40B4-BE49-F238E27FC236}">
                <a16:creationId xmlns:a16="http://schemas.microsoft.com/office/drawing/2014/main" id="{DD15AA8A-4B0C-15E7-BB09-135FACC463B1}"/>
              </a:ext>
            </a:extLst>
          </p:cNvPr>
          <p:cNvGrpSpPr/>
          <p:nvPr/>
        </p:nvGrpSpPr>
        <p:grpSpPr>
          <a:xfrm>
            <a:off x="5665789" y="3477999"/>
            <a:ext cx="779521" cy="833892"/>
            <a:chOff x="7148350" y="5290017"/>
            <a:chExt cx="271233" cy="269186"/>
          </a:xfrm>
          <a:solidFill>
            <a:schemeClr val="accent5"/>
          </a:solidFill>
        </p:grpSpPr>
        <p:sp>
          <p:nvSpPr>
            <p:cNvPr id="139" name="Freeform 921">
              <a:extLst>
                <a:ext uri="{FF2B5EF4-FFF2-40B4-BE49-F238E27FC236}">
                  <a16:creationId xmlns:a16="http://schemas.microsoft.com/office/drawing/2014/main" id="{F53BA9AF-1CD9-DCC2-7D66-F3F62E34EC54}"/>
                </a:ext>
              </a:extLst>
            </p:cNvPr>
            <p:cNvSpPr/>
            <p:nvPr/>
          </p:nvSpPr>
          <p:spPr bwMode="auto">
            <a:xfrm>
              <a:off x="7309395" y="5424609"/>
              <a:ext cx="28253" cy="106553"/>
            </a:xfrm>
            <a:custGeom>
              <a:avLst/>
              <a:gdLst>
                <a:gd name="T0" fmla="*/ 9 w 19"/>
                <a:gd name="T1" fmla="*/ 73 h 73"/>
                <a:gd name="T2" fmla="*/ 0 w 19"/>
                <a:gd name="T3" fmla="*/ 64 h 73"/>
                <a:gd name="T4" fmla="*/ 0 w 19"/>
                <a:gd name="T5" fmla="*/ 9 h 73"/>
                <a:gd name="T6" fmla="*/ 9 w 19"/>
                <a:gd name="T7" fmla="*/ 0 h 73"/>
                <a:gd name="T8" fmla="*/ 19 w 19"/>
                <a:gd name="T9" fmla="*/ 9 h 73"/>
                <a:gd name="T10" fmla="*/ 19 w 19"/>
                <a:gd name="T11" fmla="*/ 64 h 73"/>
                <a:gd name="T12" fmla="*/ 9 w 19"/>
                <a:gd name="T1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9"/>
                    <a:pt x="14" y="73"/>
                    <a:pt x="9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0" name="Freeform 922">
              <a:extLst>
                <a:ext uri="{FF2B5EF4-FFF2-40B4-BE49-F238E27FC236}">
                  <a16:creationId xmlns:a16="http://schemas.microsoft.com/office/drawing/2014/main" id="{15914E2D-82DA-01BB-0947-D98767D80BDA}"/>
                </a:ext>
              </a:extLst>
            </p:cNvPr>
            <p:cNvSpPr/>
            <p:nvPr/>
          </p:nvSpPr>
          <p:spPr bwMode="auto">
            <a:xfrm>
              <a:off x="7230285" y="5424609"/>
              <a:ext cx="28253" cy="106553"/>
            </a:xfrm>
            <a:custGeom>
              <a:avLst/>
              <a:gdLst>
                <a:gd name="T0" fmla="*/ 9 w 19"/>
                <a:gd name="T1" fmla="*/ 73 h 73"/>
                <a:gd name="T2" fmla="*/ 0 w 19"/>
                <a:gd name="T3" fmla="*/ 64 h 73"/>
                <a:gd name="T4" fmla="*/ 0 w 19"/>
                <a:gd name="T5" fmla="*/ 9 h 73"/>
                <a:gd name="T6" fmla="*/ 9 w 19"/>
                <a:gd name="T7" fmla="*/ 0 h 73"/>
                <a:gd name="T8" fmla="*/ 19 w 19"/>
                <a:gd name="T9" fmla="*/ 9 h 73"/>
                <a:gd name="T10" fmla="*/ 19 w 19"/>
                <a:gd name="T11" fmla="*/ 64 h 73"/>
                <a:gd name="T12" fmla="*/ 9 w 19"/>
                <a:gd name="T1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9"/>
                    <a:pt x="14" y="73"/>
                    <a:pt x="9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1" name="Freeform 923">
              <a:extLst>
                <a:ext uri="{FF2B5EF4-FFF2-40B4-BE49-F238E27FC236}">
                  <a16:creationId xmlns:a16="http://schemas.microsoft.com/office/drawing/2014/main" id="{7EABE753-44B4-2051-6DFD-9D233DF398E3}"/>
                </a:ext>
              </a:extLst>
            </p:cNvPr>
            <p:cNvSpPr/>
            <p:nvPr/>
          </p:nvSpPr>
          <p:spPr bwMode="auto">
            <a:xfrm>
              <a:off x="7269840" y="5449846"/>
              <a:ext cx="28253" cy="109357"/>
            </a:xfrm>
            <a:custGeom>
              <a:avLst/>
              <a:gdLst>
                <a:gd name="T0" fmla="*/ 9 w 18"/>
                <a:gd name="T1" fmla="*/ 74 h 74"/>
                <a:gd name="T2" fmla="*/ 0 w 18"/>
                <a:gd name="T3" fmla="*/ 65 h 74"/>
                <a:gd name="T4" fmla="*/ 0 w 18"/>
                <a:gd name="T5" fmla="*/ 9 h 74"/>
                <a:gd name="T6" fmla="*/ 9 w 18"/>
                <a:gd name="T7" fmla="*/ 0 h 74"/>
                <a:gd name="T8" fmla="*/ 18 w 18"/>
                <a:gd name="T9" fmla="*/ 9 h 74"/>
                <a:gd name="T10" fmla="*/ 18 w 18"/>
                <a:gd name="T11" fmla="*/ 65 h 74"/>
                <a:gd name="T12" fmla="*/ 9 w 18"/>
                <a:gd name="T1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4">
                  <a:moveTo>
                    <a:pt x="9" y="74"/>
                  </a:moveTo>
                  <a:cubicBezTo>
                    <a:pt x="4" y="74"/>
                    <a:pt x="0" y="70"/>
                    <a:pt x="0" y="6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8" y="70"/>
                    <a:pt x="14" y="74"/>
                    <a:pt x="9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2" name="Freeform 924">
              <a:extLst>
                <a:ext uri="{FF2B5EF4-FFF2-40B4-BE49-F238E27FC236}">
                  <a16:creationId xmlns:a16="http://schemas.microsoft.com/office/drawing/2014/main" id="{CCEEC323-6B09-7B8B-9075-98966FB0D46E}"/>
                </a:ext>
              </a:extLst>
            </p:cNvPr>
            <p:cNvSpPr/>
            <p:nvPr/>
          </p:nvSpPr>
          <p:spPr bwMode="auto">
            <a:xfrm>
              <a:off x="7148350" y="5290017"/>
              <a:ext cx="271233" cy="187870"/>
            </a:xfrm>
            <a:custGeom>
              <a:avLst/>
              <a:gdLst>
                <a:gd name="T0" fmla="*/ 37 w 184"/>
                <a:gd name="T1" fmla="*/ 129 h 129"/>
                <a:gd name="T2" fmla="*/ 0 w 184"/>
                <a:gd name="T3" fmla="*/ 92 h 129"/>
                <a:gd name="T4" fmla="*/ 28 w 184"/>
                <a:gd name="T5" fmla="*/ 56 h 129"/>
                <a:gd name="T6" fmla="*/ 28 w 184"/>
                <a:gd name="T7" fmla="*/ 55 h 129"/>
                <a:gd name="T8" fmla="*/ 83 w 184"/>
                <a:gd name="T9" fmla="*/ 0 h 129"/>
                <a:gd name="T10" fmla="*/ 135 w 184"/>
                <a:gd name="T11" fmla="*/ 37 h 129"/>
                <a:gd name="T12" fmla="*/ 184 w 184"/>
                <a:gd name="T13" fmla="*/ 83 h 129"/>
                <a:gd name="T14" fmla="*/ 150 w 184"/>
                <a:gd name="T15" fmla="*/ 127 h 129"/>
                <a:gd name="T16" fmla="*/ 139 w 184"/>
                <a:gd name="T17" fmla="*/ 121 h 129"/>
                <a:gd name="T18" fmla="*/ 145 w 184"/>
                <a:gd name="T19" fmla="*/ 109 h 129"/>
                <a:gd name="T20" fmla="*/ 165 w 184"/>
                <a:gd name="T21" fmla="*/ 83 h 129"/>
                <a:gd name="T22" fmla="*/ 138 w 184"/>
                <a:gd name="T23" fmla="*/ 55 h 129"/>
                <a:gd name="T24" fmla="*/ 130 w 184"/>
                <a:gd name="T25" fmla="*/ 56 h 129"/>
                <a:gd name="T26" fmla="*/ 120 w 184"/>
                <a:gd name="T27" fmla="*/ 59 h 129"/>
                <a:gd name="T28" fmla="*/ 119 w 184"/>
                <a:gd name="T29" fmla="*/ 49 h 129"/>
                <a:gd name="T30" fmla="*/ 83 w 184"/>
                <a:gd name="T31" fmla="*/ 18 h 129"/>
                <a:gd name="T32" fmla="*/ 46 w 184"/>
                <a:gd name="T33" fmla="*/ 55 h 129"/>
                <a:gd name="T34" fmla="*/ 47 w 184"/>
                <a:gd name="T35" fmla="*/ 63 h 129"/>
                <a:gd name="T36" fmla="*/ 49 w 184"/>
                <a:gd name="T37" fmla="*/ 74 h 129"/>
                <a:gd name="T38" fmla="*/ 36 w 184"/>
                <a:gd name="T39" fmla="*/ 73 h 129"/>
                <a:gd name="T40" fmla="*/ 18 w 184"/>
                <a:gd name="T41" fmla="*/ 92 h 129"/>
                <a:gd name="T42" fmla="*/ 37 w 184"/>
                <a:gd name="T43" fmla="*/ 110 h 129"/>
                <a:gd name="T44" fmla="*/ 46 w 184"/>
                <a:gd name="T45" fmla="*/ 119 h 129"/>
                <a:gd name="T46" fmla="*/ 37 w 184"/>
                <a:gd name="T47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4" h="129">
                  <a:moveTo>
                    <a:pt x="37" y="129"/>
                  </a:moveTo>
                  <a:cubicBezTo>
                    <a:pt x="16" y="129"/>
                    <a:pt x="0" y="112"/>
                    <a:pt x="0" y="92"/>
                  </a:cubicBezTo>
                  <a:cubicBezTo>
                    <a:pt x="0" y="75"/>
                    <a:pt x="12" y="60"/>
                    <a:pt x="28" y="56"/>
                  </a:cubicBezTo>
                  <a:cubicBezTo>
                    <a:pt x="28" y="56"/>
                    <a:pt x="28" y="56"/>
                    <a:pt x="28" y="55"/>
                  </a:cubicBezTo>
                  <a:cubicBezTo>
                    <a:pt x="28" y="25"/>
                    <a:pt x="52" y="0"/>
                    <a:pt x="83" y="0"/>
                  </a:cubicBezTo>
                  <a:cubicBezTo>
                    <a:pt x="106" y="0"/>
                    <a:pt x="127" y="15"/>
                    <a:pt x="135" y="37"/>
                  </a:cubicBezTo>
                  <a:cubicBezTo>
                    <a:pt x="162" y="35"/>
                    <a:pt x="184" y="56"/>
                    <a:pt x="184" y="83"/>
                  </a:cubicBezTo>
                  <a:cubicBezTo>
                    <a:pt x="184" y="103"/>
                    <a:pt x="170" y="121"/>
                    <a:pt x="150" y="127"/>
                  </a:cubicBezTo>
                  <a:cubicBezTo>
                    <a:pt x="145" y="128"/>
                    <a:pt x="140" y="125"/>
                    <a:pt x="139" y="121"/>
                  </a:cubicBezTo>
                  <a:cubicBezTo>
                    <a:pt x="137" y="116"/>
                    <a:pt x="140" y="111"/>
                    <a:pt x="145" y="109"/>
                  </a:cubicBezTo>
                  <a:cubicBezTo>
                    <a:pt x="157" y="106"/>
                    <a:pt x="165" y="95"/>
                    <a:pt x="165" y="83"/>
                  </a:cubicBezTo>
                  <a:cubicBezTo>
                    <a:pt x="165" y="68"/>
                    <a:pt x="153" y="55"/>
                    <a:pt x="138" y="55"/>
                  </a:cubicBezTo>
                  <a:cubicBezTo>
                    <a:pt x="136" y="55"/>
                    <a:pt x="133" y="56"/>
                    <a:pt x="130" y="56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16" y="31"/>
                    <a:pt x="101" y="18"/>
                    <a:pt x="83" y="18"/>
                  </a:cubicBezTo>
                  <a:cubicBezTo>
                    <a:pt x="62" y="18"/>
                    <a:pt x="46" y="35"/>
                    <a:pt x="46" y="55"/>
                  </a:cubicBezTo>
                  <a:cubicBezTo>
                    <a:pt x="46" y="58"/>
                    <a:pt x="46" y="60"/>
                    <a:pt x="47" y="63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27" y="74"/>
                    <a:pt x="18" y="82"/>
                    <a:pt x="18" y="92"/>
                  </a:cubicBezTo>
                  <a:cubicBezTo>
                    <a:pt x="18" y="102"/>
                    <a:pt x="27" y="110"/>
                    <a:pt x="37" y="110"/>
                  </a:cubicBezTo>
                  <a:cubicBezTo>
                    <a:pt x="42" y="110"/>
                    <a:pt x="46" y="114"/>
                    <a:pt x="46" y="119"/>
                  </a:cubicBezTo>
                  <a:cubicBezTo>
                    <a:pt x="46" y="125"/>
                    <a:pt x="42" y="129"/>
                    <a:pt x="37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43" name="object 11">
            <a:extLst>
              <a:ext uri="{FF2B5EF4-FFF2-40B4-BE49-F238E27FC236}">
                <a16:creationId xmlns:a16="http://schemas.microsoft.com/office/drawing/2014/main" id="{859BB470-50D3-1C3E-1424-D4AD2A2F3399}"/>
              </a:ext>
            </a:extLst>
          </p:cNvPr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88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608462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课题研究的逻辑框架（技术路线）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15751" y="1905000"/>
            <a:ext cx="2556910" cy="1314450"/>
            <a:chOff x="1163637" y="2437039"/>
            <a:chExt cx="2556910" cy="1314450"/>
          </a:xfrm>
        </p:grpSpPr>
        <p:sp>
          <p:nvSpPr>
            <p:cNvPr id="7" name="任意多边形: 形状 6"/>
            <p:cNvSpPr/>
            <p:nvPr/>
          </p:nvSpPr>
          <p:spPr>
            <a:xfrm>
              <a:off x="1163637" y="2437039"/>
              <a:ext cx="2556910" cy="1314450"/>
            </a:xfrm>
            <a:custGeom>
              <a:avLst/>
              <a:gdLst>
                <a:gd name="connsiteX0" fmla="*/ 0 w 2556910"/>
                <a:gd name="connsiteY0" fmla="*/ 0 h 1314450"/>
                <a:gd name="connsiteX1" fmla="*/ 427037 w 2556910"/>
                <a:gd name="connsiteY1" fmla="*/ 0 h 1314450"/>
                <a:gd name="connsiteX2" fmla="*/ 1899685 w 2556910"/>
                <a:gd name="connsiteY2" fmla="*/ 0 h 1314450"/>
                <a:gd name="connsiteX3" fmla="*/ 2556910 w 2556910"/>
                <a:gd name="connsiteY3" fmla="*/ 657225 h 1314450"/>
                <a:gd name="connsiteX4" fmla="*/ 1899685 w 2556910"/>
                <a:gd name="connsiteY4" fmla="*/ 1314450 h 1314450"/>
                <a:gd name="connsiteX5" fmla="*/ 427037 w 2556910"/>
                <a:gd name="connsiteY5" fmla="*/ 1314450 h 1314450"/>
                <a:gd name="connsiteX6" fmla="*/ 0 w 2556910"/>
                <a:gd name="connsiteY6" fmla="*/ 1314450 h 1314450"/>
                <a:gd name="connsiteX7" fmla="*/ 0 w 2556910"/>
                <a:gd name="connsiteY7" fmla="*/ 1051960 h 1314450"/>
                <a:gd name="connsiteX8" fmla="*/ 0 w 2556910"/>
                <a:gd name="connsiteY8" fmla="*/ 262490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56910" h="1314450">
                  <a:moveTo>
                    <a:pt x="0" y="0"/>
                  </a:moveTo>
                  <a:lnTo>
                    <a:pt x="427037" y="0"/>
                  </a:lnTo>
                  <a:lnTo>
                    <a:pt x="1899685" y="0"/>
                  </a:lnTo>
                  <a:lnTo>
                    <a:pt x="2556910" y="657225"/>
                  </a:lnTo>
                  <a:lnTo>
                    <a:pt x="1899685" y="1314450"/>
                  </a:lnTo>
                  <a:lnTo>
                    <a:pt x="427037" y="1314450"/>
                  </a:lnTo>
                  <a:lnTo>
                    <a:pt x="0" y="1314450"/>
                  </a:lnTo>
                  <a:lnTo>
                    <a:pt x="0" y="1051960"/>
                  </a:lnTo>
                  <a:lnTo>
                    <a:pt x="0" y="2624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reeform 502"/>
            <p:cNvSpPr>
              <a:spLocks noEditPoints="1"/>
            </p:cNvSpPr>
            <p:nvPr/>
          </p:nvSpPr>
          <p:spPr bwMode="auto">
            <a:xfrm>
              <a:off x="1976116" y="2791371"/>
              <a:ext cx="669464" cy="605787"/>
            </a:xfrm>
            <a:custGeom>
              <a:avLst/>
              <a:gdLst>
                <a:gd name="T0" fmla="*/ 0 w 326"/>
                <a:gd name="T1" fmla="*/ 296 h 296"/>
                <a:gd name="T2" fmla="*/ 64 w 326"/>
                <a:gd name="T3" fmla="*/ 296 h 296"/>
                <a:gd name="T4" fmla="*/ 64 w 326"/>
                <a:gd name="T5" fmla="*/ 109 h 296"/>
                <a:gd name="T6" fmla="*/ 0 w 326"/>
                <a:gd name="T7" fmla="*/ 109 h 296"/>
                <a:gd name="T8" fmla="*/ 0 w 326"/>
                <a:gd name="T9" fmla="*/ 296 h 296"/>
                <a:gd name="T10" fmla="*/ 323 w 326"/>
                <a:gd name="T11" fmla="*/ 172 h 296"/>
                <a:gd name="T12" fmla="*/ 318 w 326"/>
                <a:gd name="T13" fmla="*/ 158 h 296"/>
                <a:gd name="T14" fmla="*/ 319 w 326"/>
                <a:gd name="T15" fmla="*/ 148 h 296"/>
                <a:gd name="T16" fmla="*/ 326 w 326"/>
                <a:gd name="T17" fmla="*/ 130 h 296"/>
                <a:gd name="T18" fmla="*/ 293 w 326"/>
                <a:gd name="T19" fmla="*/ 106 h 296"/>
                <a:gd name="T20" fmla="*/ 291 w 326"/>
                <a:gd name="T21" fmla="*/ 106 h 296"/>
                <a:gd name="T22" fmla="*/ 290 w 326"/>
                <a:gd name="T23" fmla="*/ 106 h 296"/>
                <a:gd name="T24" fmla="*/ 259 w 326"/>
                <a:gd name="T25" fmla="*/ 94 h 296"/>
                <a:gd name="T26" fmla="*/ 260 w 326"/>
                <a:gd name="T27" fmla="*/ 65 h 296"/>
                <a:gd name="T28" fmla="*/ 261 w 326"/>
                <a:gd name="T29" fmla="*/ 13 h 296"/>
                <a:gd name="T30" fmla="*/ 237 w 326"/>
                <a:gd name="T31" fmla="*/ 0 h 296"/>
                <a:gd name="T32" fmla="*/ 237 w 326"/>
                <a:gd name="T33" fmla="*/ 0 h 296"/>
                <a:gd name="T34" fmla="*/ 211 w 326"/>
                <a:gd name="T35" fmla="*/ 41 h 296"/>
                <a:gd name="T36" fmla="*/ 195 w 326"/>
                <a:gd name="T37" fmla="*/ 72 h 296"/>
                <a:gd name="T38" fmla="*/ 183 w 326"/>
                <a:gd name="T39" fmla="*/ 83 h 296"/>
                <a:gd name="T40" fmla="*/ 168 w 326"/>
                <a:gd name="T41" fmla="*/ 96 h 296"/>
                <a:gd name="T42" fmla="*/ 126 w 326"/>
                <a:gd name="T43" fmla="*/ 117 h 296"/>
                <a:gd name="T44" fmla="*/ 121 w 326"/>
                <a:gd name="T45" fmla="*/ 117 h 296"/>
                <a:gd name="T46" fmla="*/ 118 w 326"/>
                <a:gd name="T47" fmla="*/ 117 h 296"/>
                <a:gd name="T48" fmla="*/ 118 w 326"/>
                <a:gd name="T49" fmla="*/ 109 h 296"/>
                <a:gd name="T50" fmla="*/ 88 w 326"/>
                <a:gd name="T51" fmla="*/ 109 h 296"/>
                <a:gd name="T52" fmla="*/ 88 w 326"/>
                <a:gd name="T53" fmla="*/ 296 h 296"/>
                <a:gd name="T54" fmla="*/ 118 w 326"/>
                <a:gd name="T55" fmla="*/ 296 h 296"/>
                <a:gd name="T56" fmla="*/ 118 w 326"/>
                <a:gd name="T57" fmla="*/ 271 h 296"/>
                <a:gd name="T58" fmla="*/ 121 w 326"/>
                <a:gd name="T59" fmla="*/ 271 h 296"/>
                <a:gd name="T60" fmla="*/ 182 w 326"/>
                <a:gd name="T61" fmla="*/ 272 h 296"/>
                <a:gd name="T62" fmla="*/ 283 w 326"/>
                <a:gd name="T63" fmla="*/ 268 h 296"/>
                <a:gd name="T64" fmla="*/ 304 w 326"/>
                <a:gd name="T65" fmla="*/ 256 h 296"/>
                <a:gd name="T66" fmla="*/ 306 w 326"/>
                <a:gd name="T67" fmla="*/ 238 h 296"/>
                <a:gd name="T68" fmla="*/ 309 w 326"/>
                <a:gd name="T69" fmla="*/ 231 h 296"/>
                <a:gd name="T70" fmla="*/ 318 w 326"/>
                <a:gd name="T71" fmla="*/ 213 h 296"/>
                <a:gd name="T72" fmla="*/ 315 w 326"/>
                <a:gd name="T73" fmla="*/ 199 h 296"/>
                <a:gd name="T74" fmla="*/ 316 w 326"/>
                <a:gd name="T75" fmla="*/ 190 h 296"/>
                <a:gd name="T76" fmla="*/ 323 w 326"/>
                <a:gd name="T77" fmla="*/ 172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6" h="296">
                  <a:moveTo>
                    <a:pt x="0" y="296"/>
                  </a:moveTo>
                  <a:cubicBezTo>
                    <a:pt x="64" y="296"/>
                    <a:pt x="64" y="296"/>
                    <a:pt x="64" y="296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0" y="109"/>
                    <a:pt x="0" y="109"/>
                    <a:pt x="0" y="109"/>
                  </a:cubicBezTo>
                  <a:lnTo>
                    <a:pt x="0" y="296"/>
                  </a:lnTo>
                  <a:close/>
                  <a:moveTo>
                    <a:pt x="323" y="172"/>
                  </a:moveTo>
                  <a:cubicBezTo>
                    <a:pt x="323" y="167"/>
                    <a:pt x="321" y="163"/>
                    <a:pt x="318" y="158"/>
                  </a:cubicBezTo>
                  <a:cubicBezTo>
                    <a:pt x="316" y="155"/>
                    <a:pt x="317" y="151"/>
                    <a:pt x="319" y="148"/>
                  </a:cubicBezTo>
                  <a:cubicBezTo>
                    <a:pt x="322" y="145"/>
                    <a:pt x="326" y="139"/>
                    <a:pt x="326" y="130"/>
                  </a:cubicBezTo>
                  <a:cubicBezTo>
                    <a:pt x="326" y="112"/>
                    <a:pt x="309" y="106"/>
                    <a:pt x="293" y="106"/>
                  </a:cubicBezTo>
                  <a:cubicBezTo>
                    <a:pt x="292" y="106"/>
                    <a:pt x="291" y="106"/>
                    <a:pt x="291" y="106"/>
                  </a:cubicBezTo>
                  <a:cubicBezTo>
                    <a:pt x="291" y="106"/>
                    <a:pt x="290" y="106"/>
                    <a:pt x="290" y="106"/>
                  </a:cubicBezTo>
                  <a:cubicBezTo>
                    <a:pt x="284" y="106"/>
                    <a:pt x="267" y="105"/>
                    <a:pt x="259" y="94"/>
                  </a:cubicBezTo>
                  <a:cubicBezTo>
                    <a:pt x="255" y="88"/>
                    <a:pt x="255" y="78"/>
                    <a:pt x="260" y="65"/>
                  </a:cubicBezTo>
                  <a:cubicBezTo>
                    <a:pt x="269" y="42"/>
                    <a:pt x="269" y="24"/>
                    <a:pt x="261" y="13"/>
                  </a:cubicBezTo>
                  <a:cubicBezTo>
                    <a:pt x="253" y="1"/>
                    <a:pt x="240" y="0"/>
                    <a:pt x="237" y="0"/>
                  </a:cubicBezTo>
                  <a:cubicBezTo>
                    <a:pt x="237" y="0"/>
                    <a:pt x="237" y="0"/>
                    <a:pt x="237" y="0"/>
                  </a:cubicBezTo>
                  <a:cubicBezTo>
                    <a:pt x="230" y="0"/>
                    <a:pt x="217" y="11"/>
                    <a:pt x="211" y="41"/>
                  </a:cubicBezTo>
                  <a:cubicBezTo>
                    <a:pt x="209" y="52"/>
                    <a:pt x="204" y="62"/>
                    <a:pt x="195" y="72"/>
                  </a:cubicBezTo>
                  <a:cubicBezTo>
                    <a:pt x="191" y="77"/>
                    <a:pt x="187" y="80"/>
                    <a:pt x="183" y="83"/>
                  </a:cubicBezTo>
                  <a:cubicBezTo>
                    <a:pt x="178" y="86"/>
                    <a:pt x="172" y="90"/>
                    <a:pt x="168" y="96"/>
                  </a:cubicBezTo>
                  <a:cubicBezTo>
                    <a:pt x="159" y="110"/>
                    <a:pt x="145" y="117"/>
                    <a:pt x="126" y="117"/>
                  </a:cubicBezTo>
                  <a:cubicBezTo>
                    <a:pt x="123" y="117"/>
                    <a:pt x="121" y="117"/>
                    <a:pt x="121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18" y="109"/>
                    <a:pt x="118" y="109"/>
                    <a:pt x="118" y="109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88" y="296"/>
                    <a:pt x="88" y="296"/>
                    <a:pt x="8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18" y="271"/>
                    <a:pt x="118" y="271"/>
                    <a:pt x="118" y="271"/>
                  </a:cubicBezTo>
                  <a:cubicBezTo>
                    <a:pt x="121" y="271"/>
                    <a:pt x="121" y="271"/>
                    <a:pt x="121" y="271"/>
                  </a:cubicBezTo>
                  <a:cubicBezTo>
                    <a:pt x="126" y="271"/>
                    <a:pt x="152" y="272"/>
                    <a:pt x="182" y="272"/>
                  </a:cubicBezTo>
                  <a:cubicBezTo>
                    <a:pt x="235" y="272"/>
                    <a:pt x="269" y="271"/>
                    <a:pt x="283" y="268"/>
                  </a:cubicBezTo>
                  <a:cubicBezTo>
                    <a:pt x="296" y="266"/>
                    <a:pt x="301" y="260"/>
                    <a:pt x="304" y="256"/>
                  </a:cubicBezTo>
                  <a:cubicBezTo>
                    <a:pt x="306" y="251"/>
                    <a:pt x="307" y="245"/>
                    <a:pt x="306" y="238"/>
                  </a:cubicBezTo>
                  <a:cubicBezTo>
                    <a:pt x="306" y="235"/>
                    <a:pt x="307" y="232"/>
                    <a:pt x="309" y="231"/>
                  </a:cubicBezTo>
                  <a:cubicBezTo>
                    <a:pt x="313" y="228"/>
                    <a:pt x="318" y="222"/>
                    <a:pt x="318" y="213"/>
                  </a:cubicBezTo>
                  <a:cubicBezTo>
                    <a:pt x="319" y="208"/>
                    <a:pt x="317" y="203"/>
                    <a:pt x="315" y="199"/>
                  </a:cubicBezTo>
                  <a:cubicBezTo>
                    <a:pt x="313" y="196"/>
                    <a:pt x="314" y="192"/>
                    <a:pt x="316" y="190"/>
                  </a:cubicBezTo>
                  <a:cubicBezTo>
                    <a:pt x="321" y="184"/>
                    <a:pt x="323" y="178"/>
                    <a:pt x="323" y="1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28999" y="1905000"/>
            <a:ext cx="2819400" cy="1314450"/>
            <a:chOff x="3376885" y="2437039"/>
            <a:chExt cx="2819400" cy="1314450"/>
          </a:xfrm>
        </p:grpSpPr>
        <p:sp>
          <p:nvSpPr>
            <p:cNvPr id="10" name="任意多边形: 形状 9"/>
            <p:cNvSpPr/>
            <p:nvPr/>
          </p:nvSpPr>
          <p:spPr>
            <a:xfrm>
              <a:off x="3376885" y="2437039"/>
              <a:ext cx="2819400" cy="1314450"/>
            </a:xfrm>
            <a:custGeom>
              <a:avLst/>
              <a:gdLst>
                <a:gd name="connsiteX0" fmla="*/ 0 w 2819400"/>
                <a:gd name="connsiteY0" fmla="*/ 0 h 1314450"/>
                <a:gd name="connsiteX1" fmla="*/ 2162175 w 2819400"/>
                <a:gd name="connsiteY1" fmla="*/ 0 h 1314450"/>
                <a:gd name="connsiteX2" fmla="*/ 2819400 w 2819400"/>
                <a:gd name="connsiteY2" fmla="*/ 657225 h 1314450"/>
                <a:gd name="connsiteX3" fmla="*/ 2162175 w 2819400"/>
                <a:gd name="connsiteY3" fmla="*/ 1314450 h 1314450"/>
                <a:gd name="connsiteX4" fmla="*/ 0 w 2819400"/>
                <a:gd name="connsiteY4" fmla="*/ 1314450 h 1314450"/>
                <a:gd name="connsiteX5" fmla="*/ 657225 w 2819400"/>
                <a:gd name="connsiteY5" fmla="*/ 657225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9400" h="1314450">
                  <a:moveTo>
                    <a:pt x="0" y="0"/>
                  </a:moveTo>
                  <a:lnTo>
                    <a:pt x="2162175" y="0"/>
                  </a:lnTo>
                  <a:lnTo>
                    <a:pt x="2819400" y="657225"/>
                  </a:lnTo>
                  <a:lnTo>
                    <a:pt x="2162175" y="1314450"/>
                  </a:lnTo>
                  <a:lnTo>
                    <a:pt x="0" y="1314450"/>
                  </a:lnTo>
                  <a:lnTo>
                    <a:pt x="657225" y="6572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" name="Freeform 507"/>
            <p:cNvSpPr>
              <a:spLocks noEditPoints="1"/>
            </p:cNvSpPr>
            <p:nvPr/>
          </p:nvSpPr>
          <p:spPr bwMode="auto">
            <a:xfrm flipH="1">
              <a:off x="4444829" y="2781492"/>
              <a:ext cx="683512" cy="625544"/>
            </a:xfrm>
            <a:custGeom>
              <a:avLst/>
              <a:gdLst>
                <a:gd name="T0" fmla="*/ 186 w 331"/>
                <a:gd name="T1" fmla="*/ 64 h 304"/>
                <a:gd name="T2" fmla="*/ 197 w 331"/>
                <a:gd name="T3" fmla="*/ 52 h 304"/>
                <a:gd name="T4" fmla="*/ 197 w 331"/>
                <a:gd name="T5" fmla="*/ 11 h 304"/>
                <a:gd name="T6" fmla="*/ 186 w 331"/>
                <a:gd name="T7" fmla="*/ 0 h 304"/>
                <a:gd name="T8" fmla="*/ 174 w 331"/>
                <a:gd name="T9" fmla="*/ 11 h 304"/>
                <a:gd name="T10" fmla="*/ 174 w 331"/>
                <a:gd name="T11" fmla="*/ 52 h 304"/>
                <a:gd name="T12" fmla="*/ 186 w 331"/>
                <a:gd name="T13" fmla="*/ 64 h 304"/>
                <a:gd name="T14" fmla="*/ 122 w 331"/>
                <a:gd name="T15" fmla="*/ 64 h 304"/>
                <a:gd name="T16" fmla="*/ 134 w 331"/>
                <a:gd name="T17" fmla="*/ 52 h 304"/>
                <a:gd name="T18" fmla="*/ 134 w 331"/>
                <a:gd name="T19" fmla="*/ 11 h 304"/>
                <a:gd name="T20" fmla="*/ 122 w 331"/>
                <a:gd name="T21" fmla="*/ 0 h 304"/>
                <a:gd name="T22" fmla="*/ 110 w 331"/>
                <a:gd name="T23" fmla="*/ 11 h 304"/>
                <a:gd name="T24" fmla="*/ 110 w 331"/>
                <a:gd name="T25" fmla="*/ 52 h 304"/>
                <a:gd name="T26" fmla="*/ 122 w 331"/>
                <a:gd name="T27" fmla="*/ 64 h 304"/>
                <a:gd name="T28" fmla="*/ 312 w 331"/>
                <a:gd name="T29" fmla="*/ 117 h 304"/>
                <a:gd name="T30" fmla="*/ 243 w 331"/>
                <a:gd name="T31" fmla="*/ 108 h 304"/>
                <a:gd name="T32" fmla="*/ 243 w 331"/>
                <a:gd name="T33" fmla="*/ 89 h 304"/>
                <a:gd name="T34" fmla="*/ 240 w 331"/>
                <a:gd name="T35" fmla="*/ 82 h 304"/>
                <a:gd name="T36" fmla="*/ 233 w 331"/>
                <a:gd name="T37" fmla="*/ 79 h 304"/>
                <a:gd name="T38" fmla="*/ 10 w 331"/>
                <a:gd name="T39" fmla="*/ 79 h 304"/>
                <a:gd name="T40" fmla="*/ 3 w 331"/>
                <a:gd name="T41" fmla="*/ 82 h 304"/>
                <a:gd name="T42" fmla="*/ 0 w 331"/>
                <a:gd name="T43" fmla="*/ 89 h 304"/>
                <a:gd name="T44" fmla="*/ 0 w 331"/>
                <a:gd name="T45" fmla="*/ 144 h 304"/>
                <a:gd name="T46" fmla="*/ 54 w 331"/>
                <a:gd name="T47" fmla="*/ 302 h 304"/>
                <a:gd name="T48" fmla="*/ 60 w 331"/>
                <a:gd name="T49" fmla="*/ 304 h 304"/>
                <a:gd name="T50" fmla="*/ 183 w 331"/>
                <a:gd name="T51" fmla="*/ 304 h 304"/>
                <a:gd name="T52" fmla="*/ 189 w 331"/>
                <a:gd name="T53" fmla="*/ 302 h 304"/>
                <a:gd name="T54" fmla="*/ 218 w 331"/>
                <a:gd name="T55" fmla="*/ 254 h 304"/>
                <a:gd name="T56" fmla="*/ 322 w 331"/>
                <a:gd name="T57" fmla="*/ 185 h 304"/>
                <a:gd name="T58" fmla="*/ 312 w 331"/>
                <a:gd name="T59" fmla="*/ 117 h 304"/>
                <a:gd name="T60" fmla="*/ 294 w 331"/>
                <a:gd name="T61" fmla="*/ 175 h 304"/>
                <a:gd name="T62" fmla="*/ 231 w 331"/>
                <a:gd name="T63" fmla="*/ 221 h 304"/>
                <a:gd name="T64" fmla="*/ 243 w 331"/>
                <a:gd name="T65" fmla="*/ 151 h 304"/>
                <a:gd name="T66" fmla="*/ 259 w 331"/>
                <a:gd name="T67" fmla="*/ 134 h 304"/>
                <a:gd name="T68" fmla="*/ 290 w 331"/>
                <a:gd name="T69" fmla="*/ 138 h 304"/>
                <a:gd name="T70" fmla="*/ 294 w 331"/>
                <a:gd name="T71" fmla="*/ 175 h 304"/>
                <a:gd name="T72" fmla="*/ 58 w 331"/>
                <a:gd name="T73" fmla="*/ 64 h 304"/>
                <a:gd name="T74" fmla="*/ 70 w 331"/>
                <a:gd name="T75" fmla="*/ 52 h 304"/>
                <a:gd name="T76" fmla="*/ 70 w 331"/>
                <a:gd name="T77" fmla="*/ 11 h 304"/>
                <a:gd name="T78" fmla="*/ 58 w 331"/>
                <a:gd name="T79" fmla="*/ 0 h 304"/>
                <a:gd name="T80" fmla="*/ 46 w 331"/>
                <a:gd name="T81" fmla="*/ 11 h 304"/>
                <a:gd name="T82" fmla="*/ 46 w 331"/>
                <a:gd name="T83" fmla="*/ 52 h 304"/>
                <a:gd name="T84" fmla="*/ 58 w 331"/>
                <a:gd name="T85" fmla="*/ 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1" h="304">
                  <a:moveTo>
                    <a:pt x="186" y="64"/>
                  </a:moveTo>
                  <a:cubicBezTo>
                    <a:pt x="192" y="64"/>
                    <a:pt x="197" y="59"/>
                    <a:pt x="197" y="52"/>
                  </a:cubicBezTo>
                  <a:cubicBezTo>
                    <a:pt x="197" y="11"/>
                    <a:pt x="197" y="11"/>
                    <a:pt x="197" y="11"/>
                  </a:cubicBezTo>
                  <a:cubicBezTo>
                    <a:pt x="197" y="5"/>
                    <a:pt x="192" y="0"/>
                    <a:pt x="186" y="0"/>
                  </a:cubicBezTo>
                  <a:cubicBezTo>
                    <a:pt x="179" y="0"/>
                    <a:pt x="174" y="5"/>
                    <a:pt x="174" y="1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9"/>
                    <a:pt x="179" y="64"/>
                    <a:pt x="186" y="64"/>
                  </a:cubicBezTo>
                  <a:close/>
                  <a:moveTo>
                    <a:pt x="122" y="64"/>
                  </a:moveTo>
                  <a:cubicBezTo>
                    <a:pt x="128" y="64"/>
                    <a:pt x="134" y="59"/>
                    <a:pt x="134" y="5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5"/>
                    <a:pt x="128" y="0"/>
                    <a:pt x="122" y="0"/>
                  </a:cubicBezTo>
                  <a:cubicBezTo>
                    <a:pt x="115" y="0"/>
                    <a:pt x="110" y="5"/>
                    <a:pt x="110" y="11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9"/>
                    <a:pt x="115" y="64"/>
                    <a:pt x="122" y="64"/>
                  </a:cubicBezTo>
                  <a:close/>
                  <a:moveTo>
                    <a:pt x="312" y="117"/>
                  </a:moveTo>
                  <a:cubicBezTo>
                    <a:pt x="300" y="104"/>
                    <a:pt x="279" y="93"/>
                    <a:pt x="243" y="108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3" y="87"/>
                    <a:pt x="242" y="84"/>
                    <a:pt x="240" y="82"/>
                  </a:cubicBezTo>
                  <a:cubicBezTo>
                    <a:pt x="239" y="80"/>
                    <a:pt x="236" y="79"/>
                    <a:pt x="233" y="79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8" y="79"/>
                    <a:pt x="5" y="80"/>
                    <a:pt x="3" y="82"/>
                  </a:cubicBezTo>
                  <a:cubicBezTo>
                    <a:pt x="1" y="84"/>
                    <a:pt x="0" y="87"/>
                    <a:pt x="0" y="89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234"/>
                    <a:pt x="50" y="299"/>
                    <a:pt x="54" y="302"/>
                  </a:cubicBezTo>
                  <a:cubicBezTo>
                    <a:pt x="56" y="303"/>
                    <a:pt x="58" y="304"/>
                    <a:pt x="60" y="304"/>
                  </a:cubicBezTo>
                  <a:cubicBezTo>
                    <a:pt x="183" y="304"/>
                    <a:pt x="183" y="304"/>
                    <a:pt x="183" y="304"/>
                  </a:cubicBezTo>
                  <a:cubicBezTo>
                    <a:pt x="185" y="304"/>
                    <a:pt x="188" y="303"/>
                    <a:pt x="189" y="302"/>
                  </a:cubicBezTo>
                  <a:cubicBezTo>
                    <a:pt x="191" y="300"/>
                    <a:pt x="205" y="282"/>
                    <a:pt x="218" y="254"/>
                  </a:cubicBezTo>
                  <a:cubicBezTo>
                    <a:pt x="292" y="246"/>
                    <a:pt x="315" y="203"/>
                    <a:pt x="322" y="185"/>
                  </a:cubicBezTo>
                  <a:cubicBezTo>
                    <a:pt x="331" y="160"/>
                    <a:pt x="328" y="133"/>
                    <a:pt x="312" y="117"/>
                  </a:cubicBezTo>
                  <a:close/>
                  <a:moveTo>
                    <a:pt x="294" y="175"/>
                  </a:moveTo>
                  <a:cubicBezTo>
                    <a:pt x="290" y="186"/>
                    <a:pt x="275" y="212"/>
                    <a:pt x="231" y="221"/>
                  </a:cubicBezTo>
                  <a:cubicBezTo>
                    <a:pt x="237" y="200"/>
                    <a:pt x="242" y="176"/>
                    <a:pt x="243" y="151"/>
                  </a:cubicBezTo>
                  <a:cubicBezTo>
                    <a:pt x="251" y="149"/>
                    <a:pt x="258" y="142"/>
                    <a:pt x="259" y="134"/>
                  </a:cubicBezTo>
                  <a:cubicBezTo>
                    <a:pt x="273" y="129"/>
                    <a:pt x="283" y="130"/>
                    <a:pt x="290" y="138"/>
                  </a:cubicBezTo>
                  <a:cubicBezTo>
                    <a:pt x="296" y="144"/>
                    <a:pt x="300" y="158"/>
                    <a:pt x="294" y="175"/>
                  </a:cubicBezTo>
                  <a:close/>
                  <a:moveTo>
                    <a:pt x="58" y="64"/>
                  </a:moveTo>
                  <a:cubicBezTo>
                    <a:pt x="65" y="64"/>
                    <a:pt x="70" y="59"/>
                    <a:pt x="70" y="52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5"/>
                    <a:pt x="65" y="0"/>
                    <a:pt x="58" y="0"/>
                  </a:cubicBezTo>
                  <a:cubicBezTo>
                    <a:pt x="52" y="0"/>
                    <a:pt x="46" y="5"/>
                    <a:pt x="46" y="11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59"/>
                    <a:pt x="52" y="64"/>
                    <a:pt x="58" y="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904736" y="1905000"/>
            <a:ext cx="2819400" cy="1314450"/>
            <a:chOff x="5852622" y="2437039"/>
            <a:chExt cx="2819400" cy="1314450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852622" y="2437039"/>
              <a:ext cx="2819400" cy="1314450"/>
            </a:xfrm>
            <a:custGeom>
              <a:avLst/>
              <a:gdLst>
                <a:gd name="connsiteX0" fmla="*/ 0 w 2819400"/>
                <a:gd name="connsiteY0" fmla="*/ 0 h 1314450"/>
                <a:gd name="connsiteX1" fmla="*/ 2162175 w 2819400"/>
                <a:gd name="connsiteY1" fmla="*/ 0 h 1314450"/>
                <a:gd name="connsiteX2" fmla="*/ 2819400 w 2819400"/>
                <a:gd name="connsiteY2" fmla="*/ 657225 h 1314450"/>
                <a:gd name="connsiteX3" fmla="*/ 2162175 w 2819400"/>
                <a:gd name="connsiteY3" fmla="*/ 1314450 h 1314450"/>
                <a:gd name="connsiteX4" fmla="*/ 0 w 2819400"/>
                <a:gd name="connsiteY4" fmla="*/ 1314450 h 1314450"/>
                <a:gd name="connsiteX5" fmla="*/ 657225 w 2819400"/>
                <a:gd name="connsiteY5" fmla="*/ 657225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9400" h="1314450">
                  <a:moveTo>
                    <a:pt x="0" y="0"/>
                  </a:moveTo>
                  <a:lnTo>
                    <a:pt x="2162175" y="0"/>
                  </a:lnTo>
                  <a:lnTo>
                    <a:pt x="2819400" y="657225"/>
                  </a:lnTo>
                  <a:lnTo>
                    <a:pt x="2162175" y="1314450"/>
                  </a:lnTo>
                  <a:lnTo>
                    <a:pt x="0" y="1314450"/>
                  </a:lnTo>
                  <a:lnTo>
                    <a:pt x="657225" y="6572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Freeform 497"/>
            <p:cNvSpPr>
              <a:spLocks noEditPoints="1"/>
            </p:cNvSpPr>
            <p:nvPr/>
          </p:nvSpPr>
          <p:spPr bwMode="auto">
            <a:xfrm flipH="1">
              <a:off x="6980192" y="2829886"/>
              <a:ext cx="657352" cy="528757"/>
            </a:xfrm>
            <a:custGeom>
              <a:avLst/>
              <a:gdLst>
                <a:gd name="T0" fmla="*/ 163 w 326"/>
                <a:gd name="T1" fmla="*/ 0 h 263"/>
                <a:gd name="T2" fmla="*/ 0 w 326"/>
                <a:gd name="T3" fmla="*/ 126 h 263"/>
                <a:gd name="T4" fmla="*/ 40 w 326"/>
                <a:gd name="T5" fmla="*/ 208 h 263"/>
                <a:gd name="T6" fmla="*/ 24 w 326"/>
                <a:gd name="T7" fmla="*/ 247 h 263"/>
                <a:gd name="T8" fmla="*/ 26 w 326"/>
                <a:gd name="T9" fmla="*/ 260 h 263"/>
                <a:gd name="T10" fmla="*/ 35 w 326"/>
                <a:gd name="T11" fmla="*/ 263 h 263"/>
                <a:gd name="T12" fmla="*/ 40 w 326"/>
                <a:gd name="T13" fmla="*/ 262 h 263"/>
                <a:gd name="T14" fmla="*/ 90 w 326"/>
                <a:gd name="T15" fmla="*/ 238 h 263"/>
                <a:gd name="T16" fmla="*/ 163 w 326"/>
                <a:gd name="T17" fmla="*/ 251 h 263"/>
                <a:gd name="T18" fmla="*/ 326 w 326"/>
                <a:gd name="T19" fmla="*/ 126 h 263"/>
                <a:gd name="T20" fmla="*/ 163 w 326"/>
                <a:gd name="T21" fmla="*/ 0 h 263"/>
                <a:gd name="T22" fmla="*/ 93 w 326"/>
                <a:gd name="T23" fmla="*/ 150 h 263"/>
                <a:gd name="T24" fmla="*/ 75 w 326"/>
                <a:gd name="T25" fmla="*/ 132 h 263"/>
                <a:gd name="T26" fmla="*/ 93 w 326"/>
                <a:gd name="T27" fmla="*/ 114 h 263"/>
                <a:gd name="T28" fmla="*/ 111 w 326"/>
                <a:gd name="T29" fmla="*/ 132 h 263"/>
                <a:gd name="T30" fmla="*/ 93 w 326"/>
                <a:gd name="T31" fmla="*/ 150 h 263"/>
                <a:gd name="T32" fmla="*/ 164 w 326"/>
                <a:gd name="T33" fmla="*/ 150 h 263"/>
                <a:gd name="T34" fmla="*/ 146 w 326"/>
                <a:gd name="T35" fmla="*/ 132 h 263"/>
                <a:gd name="T36" fmla="*/ 164 w 326"/>
                <a:gd name="T37" fmla="*/ 114 h 263"/>
                <a:gd name="T38" fmla="*/ 182 w 326"/>
                <a:gd name="T39" fmla="*/ 132 h 263"/>
                <a:gd name="T40" fmla="*/ 164 w 326"/>
                <a:gd name="T41" fmla="*/ 150 h 263"/>
                <a:gd name="T42" fmla="*/ 235 w 326"/>
                <a:gd name="T43" fmla="*/ 150 h 263"/>
                <a:gd name="T44" fmla="*/ 217 w 326"/>
                <a:gd name="T45" fmla="*/ 132 h 263"/>
                <a:gd name="T46" fmla="*/ 235 w 326"/>
                <a:gd name="T47" fmla="*/ 114 h 263"/>
                <a:gd name="T48" fmla="*/ 254 w 326"/>
                <a:gd name="T49" fmla="*/ 132 h 263"/>
                <a:gd name="T50" fmla="*/ 235 w 326"/>
                <a:gd name="T51" fmla="*/ 15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6" h="263">
                  <a:moveTo>
                    <a:pt x="163" y="0"/>
                  </a:moveTo>
                  <a:cubicBezTo>
                    <a:pt x="73" y="0"/>
                    <a:pt x="0" y="56"/>
                    <a:pt x="0" y="126"/>
                  </a:cubicBezTo>
                  <a:cubicBezTo>
                    <a:pt x="0" y="156"/>
                    <a:pt x="14" y="185"/>
                    <a:pt x="40" y="208"/>
                  </a:cubicBezTo>
                  <a:cubicBezTo>
                    <a:pt x="24" y="247"/>
                    <a:pt x="24" y="247"/>
                    <a:pt x="24" y="247"/>
                  </a:cubicBezTo>
                  <a:cubicBezTo>
                    <a:pt x="22" y="251"/>
                    <a:pt x="23" y="257"/>
                    <a:pt x="26" y="260"/>
                  </a:cubicBezTo>
                  <a:cubicBezTo>
                    <a:pt x="28" y="262"/>
                    <a:pt x="31" y="263"/>
                    <a:pt x="35" y="263"/>
                  </a:cubicBezTo>
                  <a:cubicBezTo>
                    <a:pt x="36" y="263"/>
                    <a:pt x="38" y="263"/>
                    <a:pt x="40" y="262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113" y="246"/>
                    <a:pt x="138" y="251"/>
                    <a:pt x="163" y="251"/>
                  </a:cubicBezTo>
                  <a:cubicBezTo>
                    <a:pt x="253" y="251"/>
                    <a:pt x="326" y="195"/>
                    <a:pt x="326" y="126"/>
                  </a:cubicBezTo>
                  <a:cubicBezTo>
                    <a:pt x="326" y="56"/>
                    <a:pt x="253" y="0"/>
                    <a:pt x="163" y="0"/>
                  </a:cubicBezTo>
                  <a:close/>
                  <a:moveTo>
                    <a:pt x="93" y="150"/>
                  </a:moveTo>
                  <a:cubicBezTo>
                    <a:pt x="83" y="150"/>
                    <a:pt x="75" y="142"/>
                    <a:pt x="75" y="132"/>
                  </a:cubicBezTo>
                  <a:cubicBezTo>
                    <a:pt x="75" y="122"/>
                    <a:pt x="83" y="114"/>
                    <a:pt x="93" y="114"/>
                  </a:cubicBezTo>
                  <a:cubicBezTo>
                    <a:pt x="103" y="114"/>
                    <a:pt x="111" y="122"/>
                    <a:pt x="111" y="132"/>
                  </a:cubicBezTo>
                  <a:cubicBezTo>
                    <a:pt x="111" y="142"/>
                    <a:pt x="103" y="150"/>
                    <a:pt x="93" y="150"/>
                  </a:cubicBezTo>
                  <a:close/>
                  <a:moveTo>
                    <a:pt x="164" y="150"/>
                  </a:moveTo>
                  <a:cubicBezTo>
                    <a:pt x="154" y="150"/>
                    <a:pt x="146" y="142"/>
                    <a:pt x="146" y="132"/>
                  </a:cubicBezTo>
                  <a:cubicBezTo>
                    <a:pt x="146" y="122"/>
                    <a:pt x="154" y="114"/>
                    <a:pt x="164" y="114"/>
                  </a:cubicBezTo>
                  <a:cubicBezTo>
                    <a:pt x="174" y="114"/>
                    <a:pt x="182" y="122"/>
                    <a:pt x="182" y="132"/>
                  </a:cubicBezTo>
                  <a:cubicBezTo>
                    <a:pt x="182" y="142"/>
                    <a:pt x="174" y="150"/>
                    <a:pt x="164" y="150"/>
                  </a:cubicBezTo>
                  <a:close/>
                  <a:moveTo>
                    <a:pt x="235" y="150"/>
                  </a:moveTo>
                  <a:cubicBezTo>
                    <a:pt x="225" y="150"/>
                    <a:pt x="217" y="142"/>
                    <a:pt x="217" y="132"/>
                  </a:cubicBezTo>
                  <a:cubicBezTo>
                    <a:pt x="217" y="122"/>
                    <a:pt x="225" y="114"/>
                    <a:pt x="235" y="114"/>
                  </a:cubicBezTo>
                  <a:cubicBezTo>
                    <a:pt x="245" y="114"/>
                    <a:pt x="254" y="122"/>
                    <a:pt x="254" y="132"/>
                  </a:cubicBezTo>
                  <a:cubicBezTo>
                    <a:pt x="254" y="142"/>
                    <a:pt x="245" y="150"/>
                    <a:pt x="235" y="1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380474" y="1905000"/>
            <a:ext cx="2700003" cy="1314450"/>
            <a:chOff x="8328360" y="2437039"/>
            <a:chExt cx="2700003" cy="1314450"/>
          </a:xfrm>
        </p:grpSpPr>
        <p:sp>
          <p:nvSpPr>
            <p:cNvPr id="16" name="任意多边形: 形状 15"/>
            <p:cNvSpPr/>
            <p:nvPr/>
          </p:nvSpPr>
          <p:spPr>
            <a:xfrm>
              <a:off x="8328360" y="2437039"/>
              <a:ext cx="2700003" cy="1314450"/>
            </a:xfrm>
            <a:custGeom>
              <a:avLst/>
              <a:gdLst>
                <a:gd name="connsiteX0" fmla="*/ 0 w 2700003"/>
                <a:gd name="connsiteY0" fmla="*/ 0 h 1314450"/>
                <a:gd name="connsiteX1" fmla="*/ 1815765 w 2700003"/>
                <a:gd name="connsiteY1" fmla="*/ 0 h 1314450"/>
                <a:gd name="connsiteX2" fmla="*/ 2042778 w 2700003"/>
                <a:gd name="connsiteY2" fmla="*/ 0 h 1314450"/>
                <a:gd name="connsiteX3" fmla="*/ 2700003 w 2700003"/>
                <a:gd name="connsiteY3" fmla="*/ 0 h 1314450"/>
                <a:gd name="connsiteX4" fmla="*/ 2700003 w 2700003"/>
                <a:gd name="connsiteY4" fmla="*/ 657225 h 1314450"/>
                <a:gd name="connsiteX5" fmla="*/ 2700003 w 2700003"/>
                <a:gd name="connsiteY5" fmla="*/ 1314450 h 1314450"/>
                <a:gd name="connsiteX6" fmla="*/ 2042778 w 2700003"/>
                <a:gd name="connsiteY6" fmla="*/ 1314450 h 1314450"/>
                <a:gd name="connsiteX7" fmla="*/ 1815765 w 2700003"/>
                <a:gd name="connsiteY7" fmla="*/ 1314450 h 1314450"/>
                <a:gd name="connsiteX8" fmla="*/ 0 w 2700003"/>
                <a:gd name="connsiteY8" fmla="*/ 1314450 h 1314450"/>
                <a:gd name="connsiteX9" fmla="*/ 657225 w 2700003"/>
                <a:gd name="connsiteY9" fmla="*/ 657225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0003" h="1314450">
                  <a:moveTo>
                    <a:pt x="0" y="0"/>
                  </a:moveTo>
                  <a:lnTo>
                    <a:pt x="1815765" y="0"/>
                  </a:lnTo>
                  <a:lnTo>
                    <a:pt x="2042778" y="0"/>
                  </a:lnTo>
                  <a:lnTo>
                    <a:pt x="2700003" y="0"/>
                  </a:lnTo>
                  <a:lnTo>
                    <a:pt x="2700003" y="657225"/>
                  </a:lnTo>
                  <a:lnTo>
                    <a:pt x="2700003" y="1314450"/>
                  </a:lnTo>
                  <a:lnTo>
                    <a:pt x="2042778" y="1314450"/>
                  </a:lnTo>
                  <a:lnTo>
                    <a:pt x="1815765" y="1314450"/>
                  </a:lnTo>
                  <a:lnTo>
                    <a:pt x="0" y="1314450"/>
                  </a:lnTo>
                  <a:lnTo>
                    <a:pt x="657225" y="6572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12"/>
            <p:cNvSpPr>
              <a:spLocks noEditPoints="1"/>
            </p:cNvSpPr>
            <p:nvPr/>
          </p:nvSpPr>
          <p:spPr bwMode="auto">
            <a:xfrm flipH="1">
              <a:off x="9723073" y="2829484"/>
              <a:ext cx="550743" cy="529560"/>
            </a:xfrm>
            <a:custGeom>
              <a:avLst/>
              <a:gdLst>
                <a:gd name="T0" fmla="*/ 261 w 327"/>
                <a:gd name="T1" fmla="*/ 209 h 316"/>
                <a:gd name="T2" fmla="*/ 261 w 327"/>
                <a:gd name="T3" fmla="*/ 215 h 316"/>
                <a:gd name="T4" fmla="*/ 254 w 327"/>
                <a:gd name="T5" fmla="*/ 222 h 316"/>
                <a:gd name="T6" fmla="*/ 208 w 327"/>
                <a:gd name="T7" fmla="*/ 222 h 316"/>
                <a:gd name="T8" fmla="*/ 201 w 327"/>
                <a:gd name="T9" fmla="*/ 215 h 316"/>
                <a:gd name="T10" fmla="*/ 201 w 327"/>
                <a:gd name="T11" fmla="*/ 209 h 316"/>
                <a:gd name="T12" fmla="*/ 118 w 327"/>
                <a:gd name="T13" fmla="*/ 209 h 316"/>
                <a:gd name="T14" fmla="*/ 118 w 327"/>
                <a:gd name="T15" fmla="*/ 215 h 316"/>
                <a:gd name="T16" fmla="*/ 111 w 327"/>
                <a:gd name="T17" fmla="*/ 222 h 316"/>
                <a:gd name="T18" fmla="*/ 64 w 327"/>
                <a:gd name="T19" fmla="*/ 222 h 316"/>
                <a:gd name="T20" fmla="*/ 57 w 327"/>
                <a:gd name="T21" fmla="*/ 215 h 316"/>
                <a:gd name="T22" fmla="*/ 57 w 327"/>
                <a:gd name="T23" fmla="*/ 209 h 316"/>
                <a:gd name="T24" fmla="*/ 39 w 327"/>
                <a:gd name="T25" fmla="*/ 209 h 316"/>
                <a:gd name="T26" fmla="*/ 0 w 327"/>
                <a:gd name="T27" fmla="*/ 193 h 316"/>
                <a:gd name="T28" fmla="*/ 0 w 327"/>
                <a:gd name="T29" fmla="*/ 277 h 316"/>
                <a:gd name="T30" fmla="*/ 39 w 327"/>
                <a:gd name="T31" fmla="*/ 316 h 316"/>
                <a:gd name="T32" fmla="*/ 289 w 327"/>
                <a:gd name="T33" fmla="*/ 316 h 316"/>
                <a:gd name="T34" fmla="*/ 327 w 327"/>
                <a:gd name="T35" fmla="*/ 277 h 316"/>
                <a:gd name="T36" fmla="*/ 327 w 327"/>
                <a:gd name="T37" fmla="*/ 193 h 316"/>
                <a:gd name="T38" fmla="*/ 289 w 327"/>
                <a:gd name="T39" fmla="*/ 209 h 316"/>
                <a:gd name="T40" fmla="*/ 261 w 327"/>
                <a:gd name="T41" fmla="*/ 209 h 316"/>
                <a:gd name="T42" fmla="*/ 289 w 327"/>
                <a:gd name="T43" fmla="*/ 70 h 316"/>
                <a:gd name="T44" fmla="*/ 246 w 327"/>
                <a:gd name="T45" fmla="*/ 70 h 316"/>
                <a:gd name="T46" fmla="*/ 246 w 327"/>
                <a:gd name="T47" fmla="*/ 51 h 316"/>
                <a:gd name="T48" fmla="*/ 196 w 327"/>
                <a:gd name="T49" fmla="*/ 0 h 316"/>
                <a:gd name="T50" fmla="*/ 132 w 327"/>
                <a:gd name="T51" fmla="*/ 0 h 316"/>
                <a:gd name="T52" fmla="*/ 81 w 327"/>
                <a:gd name="T53" fmla="*/ 51 h 316"/>
                <a:gd name="T54" fmla="*/ 81 w 327"/>
                <a:gd name="T55" fmla="*/ 70 h 316"/>
                <a:gd name="T56" fmla="*/ 39 w 327"/>
                <a:gd name="T57" fmla="*/ 70 h 316"/>
                <a:gd name="T58" fmla="*/ 0 w 327"/>
                <a:gd name="T59" fmla="*/ 109 h 316"/>
                <a:gd name="T60" fmla="*/ 0 w 327"/>
                <a:gd name="T61" fmla="*/ 155 h 316"/>
                <a:gd name="T62" fmla="*/ 39 w 327"/>
                <a:gd name="T63" fmla="*/ 194 h 316"/>
                <a:gd name="T64" fmla="*/ 57 w 327"/>
                <a:gd name="T65" fmla="*/ 194 h 316"/>
                <a:gd name="T66" fmla="*/ 57 w 327"/>
                <a:gd name="T67" fmla="*/ 184 h 316"/>
                <a:gd name="T68" fmla="*/ 64 w 327"/>
                <a:gd name="T69" fmla="*/ 177 h 316"/>
                <a:gd name="T70" fmla="*/ 111 w 327"/>
                <a:gd name="T71" fmla="*/ 177 h 316"/>
                <a:gd name="T72" fmla="*/ 118 w 327"/>
                <a:gd name="T73" fmla="*/ 184 h 316"/>
                <a:gd name="T74" fmla="*/ 118 w 327"/>
                <a:gd name="T75" fmla="*/ 194 h 316"/>
                <a:gd name="T76" fmla="*/ 201 w 327"/>
                <a:gd name="T77" fmla="*/ 194 h 316"/>
                <a:gd name="T78" fmla="*/ 201 w 327"/>
                <a:gd name="T79" fmla="*/ 184 h 316"/>
                <a:gd name="T80" fmla="*/ 208 w 327"/>
                <a:gd name="T81" fmla="*/ 177 h 316"/>
                <a:gd name="T82" fmla="*/ 254 w 327"/>
                <a:gd name="T83" fmla="*/ 177 h 316"/>
                <a:gd name="T84" fmla="*/ 261 w 327"/>
                <a:gd name="T85" fmla="*/ 184 h 316"/>
                <a:gd name="T86" fmla="*/ 261 w 327"/>
                <a:gd name="T87" fmla="*/ 194 h 316"/>
                <a:gd name="T88" fmla="*/ 289 w 327"/>
                <a:gd name="T89" fmla="*/ 194 h 316"/>
                <a:gd name="T90" fmla="*/ 327 w 327"/>
                <a:gd name="T91" fmla="*/ 155 h 316"/>
                <a:gd name="T92" fmla="*/ 327 w 327"/>
                <a:gd name="T93" fmla="*/ 109 h 316"/>
                <a:gd name="T94" fmla="*/ 289 w 327"/>
                <a:gd name="T95" fmla="*/ 70 h 316"/>
                <a:gd name="T96" fmla="*/ 220 w 327"/>
                <a:gd name="T97" fmla="*/ 70 h 316"/>
                <a:gd name="T98" fmla="*/ 108 w 327"/>
                <a:gd name="T99" fmla="*/ 70 h 316"/>
                <a:gd name="T100" fmla="*/ 108 w 327"/>
                <a:gd name="T101" fmla="*/ 51 h 316"/>
                <a:gd name="T102" fmla="*/ 132 w 327"/>
                <a:gd name="T103" fmla="*/ 27 h 316"/>
                <a:gd name="T104" fmla="*/ 196 w 327"/>
                <a:gd name="T105" fmla="*/ 27 h 316"/>
                <a:gd name="T106" fmla="*/ 220 w 327"/>
                <a:gd name="T107" fmla="*/ 51 h 316"/>
                <a:gd name="T108" fmla="*/ 220 w 327"/>
                <a:gd name="T109" fmla="*/ 7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7" h="316">
                  <a:moveTo>
                    <a:pt x="261" y="209"/>
                  </a:moveTo>
                  <a:cubicBezTo>
                    <a:pt x="261" y="215"/>
                    <a:pt x="261" y="215"/>
                    <a:pt x="261" y="215"/>
                  </a:cubicBezTo>
                  <a:cubicBezTo>
                    <a:pt x="261" y="219"/>
                    <a:pt x="258" y="222"/>
                    <a:pt x="254" y="222"/>
                  </a:cubicBezTo>
                  <a:cubicBezTo>
                    <a:pt x="208" y="222"/>
                    <a:pt x="208" y="222"/>
                    <a:pt x="208" y="222"/>
                  </a:cubicBezTo>
                  <a:cubicBezTo>
                    <a:pt x="204" y="222"/>
                    <a:pt x="201" y="219"/>
                    <a:pt x="201" y="215"/>
                  </a:cubicBezTo>
                  <a:cubicBezTo>
                    <a:pt x="201" y="209"/>
                    <a:pt x="201" y="209"/>
                    <a:pt x="201" y="209"/>
                  </a:cubicBezTo>
                  <a:cubicBezTo>
                    <a:pt x="118" y="209"/>
                    <a:pt x="118" y="209"/>
                    <a:pt x="118" y="209"/>
                  </a:cubicBezTo>
                  <a:cubicBezTo>
                    <a:pt x="118" y="215"/>
                    <a:pt x="118" y="215"/>
                    <a:pt x="118" y="215"/>
                  </a:cubicBezTo>
                  <a:cubicBezTo>
                    <a:pt x="118" y="219"/>
                    <a:pt x="115" y="222"/>
                    <a:pt x="111" y="222"/>
                  </a:cubicBezTo>
                  <a:cubicBezTo>
                    <a:pt x="64" y="222"/>
                    <a:pt x="64" y="222"/>
                    <a:pt x="64" y="222"/>
                  </a:cubicBezTo>
                  <a:cubicBezTo>
                    <a:pt x="61" y="222"/>
                    <a:pt x="57" y="219"/>
                    <a:pt x="57" y="215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39" y="209"/>
                    <a:pt x="39" y="209"/>
                    <a:pt x="39" y="209"/>
                  </a:cubicBezTo>
                  <a:cubicBezTo>
                    <a:pt x="24" y="209"/>
                    <a:pt x="10" y="203"/>
                    <a:pt x="0" y="193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98"/>
                    <a:pt x="18" y="316"/>
                    <a:pt x="39" y="316"/>
                  </a:cubicBezTo>
                  <a:cubicBezTo>
                    <a:pt x="289" y="316"/>
                    <a:pt x="289" y="316"/>
                    <a:pt x="289" y="316"/>
                  </a:cubicBezTo>
                  <a:cubicBezTo>
                    <a:pt x="310" y="316"/>
                    <a:pt x="327" y="298"/>
                    <a:pt x="327" y="277"/>
                  </a:cubicBezTo>
                  <a:cubicBezTo>
                    <a:pt x="327" y="193"/>
                    <a:pt x="327" y="193"/>
                    <a:pt x="327" y="193"/>
                  </a:cubicBezTo>
                  <a:cubicBezTo>
                    <a:pt x="317" y="203"/>
                    <a:pt x="304" y="209"/>
                    <a:pt x="289" y="209"/>
                  </a:cubicBezTo>
                  <a:lnTo>
                    <a:pt x="261" y="209"/>
                  </a:lnTo>
                  <a:close/>
                  <a:moveTo>
                    <a:pt x="289" y="70"/>
                  </a:moveTo>
                  <a:cubicBezTo>
                    <a:pt x="246" y="70"/>
                    <a:pt x="246" y="70"/>
                    <a:pt x="246" y="70"/>
                  </a:cubicBezTo>
                  <a:cubicBezTo>
                    <a:pt x="246" y="51"/>
                    <a:pt x="246" y="51"/>
                    <a:pt x="246" y="51"/>
                  </a:cubicBezTo>
                  <a:cubicBezTo>
                    <a:pt x="246" y="23"/>
                    <a:pt x="224" y="0"/>
                    <a:pt x="196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04" y="0"/>
                    <a:pt x="81" y="23"/>
                    <a:pt x="81" y="51"/>
                  </a:cubicBezTo>
                  <a:cubicBezTo>
                    <a:pt x="81" y="70"/>
                    <a:pt x="81" y="70"/>
                    <a:pt x="81" y="70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18" y="70"/>
                    <a:pt x="0" y="88"/>
                    <a:pt x="0" y="109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7"/>
                    <a:pt x="18" y="194"/>
                    <a:pt x="39" y="194"/>
                  </a:cubicBezTo>
                  <a:cubicBezTo>
                    <a:pt x="57" y="194"/>
                    <a:pt x="57" y="194"/>
                    <a:pt x="57" y="194"/>
                  </a:cubicBezTo>
                  <a:cubicBezTo>
                    <a:pt x="57" y="184"/>
                    <a:pt x="57" y="184"/>
                    <a:pt x="57" y="184"/>
                  </a:cubicBezTo>
                  <a:cubicBezTo>
                    <a:pt x="57" y="180"/>
                    <a:pt x="61" y="177"/>
                    <a:pt x="64" y="177"/>
                  </a:cubicBezTo>
                  <a:cubicBezTo>
                    <a:pt x="111" y="177"/>
                    <a:pt x="111" y="177"/>
                    <a:pt x="111" y="177"/>
                  </a:cubicBezTo>
                  <a:cubicBezTo>
                    <a:pt x="115" y="177"/>
                    <a:pt x="118" y="180"/>
                    <a:pt x="118" y="184"/>
                  </a:cubicBezTo>
                  <a:cubicBezTo>
                    <a:pt x="118" y="194"/>
                    <a:pt x="118" y="194"/>
                    <a:pt x="118" y="194"/>
                  </a:cubicBezTo>
                  <a:cubicBezTo>
                    <a:pt x="201" y="194"/>
                    <a:pt x="201" y="194"/>
                    <a:pt x="201" y="19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0"/>
                    <a:pt x="204" y="177"/>
                    <a:pt x="208" y="177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8" y="177"/>
                    <a:pt x="261" y="180"/>
                    <a:pt x="261" y="184"/>
                  </a:cubicBezTo>
                  <a:cubicBezTo>
                    <a:pt x="261" y="194"/>
                    <a:pt x="261" y="194"/>
                    <a:pt x="261" y="194"/>
                  </a:cubicBezTo>
                  <a:cubicBezTo>
                    <a:pt x="289" y="194"/>
                    <a:pt x="289" y="194"/>
                    <a:pt x="289" y="194"/>
                  </a:cubicBezTo>
                  <a:cubicBezTo>
                    <a:pt x="310" y="194"/>
                    <a:pt x="327" y="177"/>
                    <a:pt x="327" y="155"/>
                  </a:cubicBezTo>
                  <a:cubicBezTo>
                    <a:pt x="327" y="109"/>
                    <a:pt x="327" y="109"/>
                    <a:pt x="327" y="109"/>
                  </a:cubicBezTo>
                  <a:cubicBezTo>
                    <a:pt x="327" y="88"/>
                    <a:pt x="310" y="70"/>
                    <a:pt x="289" y="70"/>
                  </a:cubicBezTo>
                  <a:close/>
                  <a:moveTo>
                    <a:pt x="220" y="70"/>
                  </a:moveTo>
                  <a:cubicBezTo>
                    <a:pt x="108" y="70"/>
                    <a:pt x="108" y="70"/>
                    <a:pt x="108" y="7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108" y="38"/>
                    <a:pt x="118" y="27"/>
                    <a:pt x="132" y="27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209" y="27"/>
                    <a:pt x="220" y="38"/>
                    <a:pt x="220" y="51"/>
                  </a:cubicBezTo>
                  <a:lnTo>
                    <a:pt x="220" y="7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586205" y="3495934"/>
            <a:ext cx="1325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9" name="矩形 18"/>
          <p:cNvSpPr/>
          <p:nvPr/>
        </p:nvSpPr>
        <p:spPr>
          <a:xfrm>
            <a:off x="1232285" y="4011359"/>
            <a:ext cx="2032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此处添加详细文本描述，建议与标题相关并符合整体语言风格。</a:t>
            </a:r>
          </a:p>
        </p:txBody>
      </p:sp>
      <p:sp>
        <p:nvSpPr>
          <p:cNvPr id="20" name="矩形 19"/>
          <p:cNvSpPr/>
          <p:nvPr/>
        </p:nvSpPr>
        <p:spPr>
          <a:xfrm>
            <a:off x="4184063" y="3495934"/>
            <a:ext cx="1325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21" name="矩形 20"/>
          <p:cNvSpPr/>
          <p:nvPr/>
        </p:nvSpPr>
        <p:spPr>
          <a:xfrm>
            <a:off x="3820838" y="4011359"/>
            <a:ext cx="2032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此处添加详细文本描述，建议与标题相关并符合整体语言风格。</a:t>
            </a:r>
          </a:p>
        </p:txBody>
      </p:sp>
      <p:sp>
        <p:nvSpPr>
          <p:cNvPr id="22" name="矩形 21"/>
          <p:cNvSpPr/>
          <p:nvPr/>
        </p:nvSpPr>
        <p:spPr>
          <a:xfrm>
            <a:off x="6788110" y="3495934"/>
            <a:ext cx="1325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23" name="矩形 22"/>
          <p:cNvSpPr/>
          <p:nvPr/>
        </p:nvSpPr>
        <p:spPr>
          <a:xfrm>
            <a:off x="6424885" y="4011359"/>
            <a:ext cx="2032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此处添加详细文本描述，建议与标题相关并符合整体语言风格。</a:t>
            </a:r>
          </a:p>
        </p:txBody>
      </p:sp>
      <p:sp>
        <p:nvSpPr>
          <p:cNvPr id="24" name="矩形 23"/>
          <p:cNvSpPr/>
          <p:nvPr/>
        </p:nvSpPr>
        <p:spPr>
          <a:xfrm>
            <a:off x="9401463" y="3495934"/>
            <a:ext cx="1325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25" name="矩形 24"/>
          <p:cNvSpPr/>
          <p:nvPr/>
        </p:nvSpPr>
        <p:spPr>
          <a:xfrm>
            <a:off x="9047543" y="4011359"/>
            <a:ext cx="2032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此处添加详细文本描述，建议与标题相关并符合整体语言风格。</a:t>
            </a:r>
          </a:p>
        </p:txBody>
      </p:sp>
      <p:sp>
        <p:nvSpPr>
          <p:cNvPr id="26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FDB6D93-EE35-663B-9DDF-FDF210149D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51"/>
          <a:stretch>
            <a:fillRect/>
          </a:stretch>
        </p:blipFill>
        <p:spPr>
          <a:xfrm>
            <a:off x="1061598" y="1089590"/>
            <a:ext cx="10611978" cy="4678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4"/>
            <a:ext cx="43490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课题研究的主要方法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Freeform 9"/>
          <p:cNvSpPr/>
          <p:nvPr/>
        </p:nvSpPr>
        <p:spPr bwMode="auto">
          <a:xfrm>
            <a:off x="3508716" y="1981200"/>
            <a:ext cx="1672252" cy="1672251"/>
          </a:xfrm>
          <a:custGeom>
            <a:avLst/>
            <a:gdLst>
              <a:gd name="T0" fmla="*/ 230 w 460"/>
              <a:gd name="T1" fmla="*/ 460 h 460"/>
              <a:gd name="T2" fmla="*/ 431 w 460"/>
              <a:gd name="T3" fmla="*/ 346 h 460"/>
              <a:gd name="T4" fmla="*/ 460 w 460"/>
              <a:gd name="T5" fmla="*/ 230 h 460"/>
              <a:gd name="T6" fmla="*/ 460 w 460"/>
              <a:gd name="T7" fmla="*/ 0 h 460"/>
              <a:gd name="T8" fmla="*/ 230 w 460"/>
              <a:gd name="T9" fmla="*/ 0 h 460"/>
              <a:gd name="T10" fmla="*/ 29 w 460"/>
              <a:gd name="T11" fmla="*/ 114 h 460"/>
              <a:gd name="T12" fmla="*/ 0 w 460"/>
              <a:gd name="T13" fmla="*/ 230 h 460"/>
              <a:gd name="T14" fmla="*/ 0 w 460"/>
              <a:gd name="T15" fmla="*/ 460 h 460"/>
              <a:gd name="T16" fmla="*/ 230 w 460"/>
              <a:gd name="T17" fmla="*/ 460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" h="460">
                <a:moveTo>
                  <a:pt x="230" y="460"/>
                </a:moveTo>
                <a:cubicBezTo>
                  <a:pt x="325" y="460"/>
                  <a:pt x="393" y="421"/>
                  <a:pt x="431" y="346"/>
                </a:cubicBezTo>
                <a:cubicBezTo>
                  <a:pt x="459" y="288"/>
                  <a:pt x="460" y="230"/>
                  <a:pt x="460" y="230"/>
                </a:cubicBezTo>
                <a:cubicBezTo>
                  <a:pt x="460" y="0"/>
                  <a:pt x="460" y="0"/>
                  <a:pt x="460" y="0"/>
                </a:cubicBezTo>
                <a:cubicBezTo>
                  <a:pt x="230" y="0"/>
                  <a:pt x="230" y="0"/>
                  <a:pt x="230" y="0"/>
                </a:cubicBezTo>
                <a:cubicBezTo>
                  <a:pt x="134" y="0"/>
                  <a:pt x="67" y="38"/>
                  <a:pt x="29" y="114"/>
                </a:cubicBezTo>
                <a:cubicBezTo>
                  <a:pt x="0" y="171"/>
                  <a:pt x="0" y="229"/>
                  <a:pt x="0" y="230"/>
                </a:cubicBezTo>
                <a:cubicBezTo>
                  <a:pt x="0" y="460"/>
                  <a:pt x="0" y="460"/>
                  <a:pt x="0" y="460"/>
                </a:cubicBezTo>
                <a:lnTo>
                  <a:pt x="230" y="46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7200">
                <a:solidFill>
                  <a:schemeClr val="bg1"/>
                </a:solidFill>
                <a:cs typeface="+mn-ea"/>
                <a:sym typeface="+mn-lt"/>
              </a:rPr>
              <a:t>W</a:t>
            </a:r>
            <a:endParaRPr lang="en-US" sz="7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Freeform 10"/>
          <p:cNvSpPr/>
          <p:nvPr/>
        </p:nvSpPr>
        <p:spPr bwMode="auto">
          <a:xfrm>
            <a:off x="1600200" y="1981200"/>
            <a:ext cx="1672252" cy="1672251"/>
          </a:xfrm>
          <a:custGeom>
            <a:avLst/>
            <a:gdLst>
              <a:gd name="T0" fmla="*/ 460 w 460"/>
              <a:gd name="T1" fmla="*/ 460 h 460"/>
              <a:gd name="T2" fmla="*/ 460 w 460"/>
              <a:gd name="T3" fmla="*/ 230 h 460"/>
              <a:gd name="T4" fmla="*/ 346 w 460"/>
              <a:gd name="T5" fmla="*/ 29 h 460"/>
              <a:gd name="T6" fmla="*/ 230 w 460"/>
              <a:gd name="T7" fmla="*/ 0 h 460"/>
              <a:gd name="T8" fmla="*/ 0 w 460"/>
              <a:gd name="T9" fmla="*/ 0 h 460"/>
              <a:gd name="T10" fmla="*/ 0 w 460"/>
              <a:gd name="T11" fmla="*/ 230 h 460"/>
              <a:gd name="T12" fmla="*/ 114 w 460"/>
              <a:gd name="T13" fmla="*/ 431 h 460"/>
              <a:gd name="T14" fmla="*/ 230 w 460"/>
              <a:gd name="T15" fmla="*/ 460 h 460"/>
              <a:gd name="T16" fmla="*/ 460 w 460"/>
              <a:gd name="T17" fmla="*/ 460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" h="460">
                <a:moveTo>
                  <a:pt x="460" y="460"/>
                </a:moveTo>
                <a:cubicBezTo>
                  <a:pt x="460" y="230"/>
                  <a:pt x="460" y="230"/>
                  <a:pt x="460" y="230"/>
                </a:cubicBezTo>
                <a:cubicBezTo>
                  <a:pt x="460" y="134"/>
                  <a:pt x="421" y="67"/>
                  <a:pt x="346" y="29"/>
                </a:cubicBezTo>
                <a:cubicBezTo>
                  <a:pt x="288" y="0"/>
                  <a:pt x="230" y="0"/>
                  <a:pt x="23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0"/>
                  <a:pt x="0" y="230"/>
                  <a:pt x="0" y="230"/>
                </a:cubicBezTo>
                <a:cubicBezTo>
                  <a:pt x="0" y="325"/>
                  <a:pt x="38" y="393"/>
                  <a:pt x="114" y="431"/>
                </a:cubicBezTo>
                <a:cubicBezTo>
                  <a:pt x="171" y="459"/>
                  <a:pt x="229" y="460"/>
                  <a:pt x="230" y="460"/>
                </a:cubicBezTo>
                <a:lnTo>
                  <a:pt x="460" y="46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7200" dirty="0">
                <a:solidFill>
                  <a:schemeClr val="bg1"/>
                </a:solidFill>
                <a:cs typeface="+mn-ea"/>
                <a:sym typeface="+mn-lt"/>
              </a:rPr>
              <a:t>S</a:t>
            </a:r>
          </a:p>
        </p:txBody>
      </p:sp>
      <p:sp>
        <p:nvSpPr>
          <p:cNvPr id="21" name="Freeform 11"/>
          <p:cNvSpPr/>
          <p:nvPr/>
        </p:nvSpPr>
        <p:spPr bwMode="auto">
          <a:xfrm>
            <a:off x="3508716" y="3889715"/>
            <a:ext cx="1672252" cy="1672251"/>
          </a:xfrm>
          <a:custGeom>
            <a:avLst/>
            <a:gdLst>
              <a:gd name="T0" fmla="*/ 460 w 460"/>
              <a:gd name="T1" fmla="*/ 460 h 460"/>
              <a:gd name="T2" fmla="*/ 460 w 460"/>
              <a:gd name="T3" fmla="*/ 230 h 460"/>
              <a:gd name="T4" fmla="*/ 430 w 460"/>
              <a:gd name="T5" fmla="*/ 113 h 460"/>
              <a:gd name="T6" fmla="*/ 230 w 460"/>
              <a:gd name="T7" fmla="*/ 0 h 460"/>
              <a:gd name="T8" fmla="*/ 0 w 460"/>
              <a:gd name="T9" fmla="*/ 0 h 460"/>
              <a:gd name="T10" fmla="*/ 0 w 460"/>
              <a:gd name="T11" fmla="*/ 230 h 460"/>
              <a:gd name="T12" fmla="*/ 29 w 460"/>
              <a:gd name="T13" fmla="*/ 347 h 460"/>
              <a:gd name="T14" fmla="*/ 230 w 460"/>
              <a:gd name="T15" fmla="*/ 460 h 460"/>
              <a:gd name="T16" fmla="*/ 460 w 460"/>
              <a:gd name="T17" fmla="*/ 460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" h="460">
                <a:moveTo>
                  <a:pt x="460" y="460"/>
                </a:moveTo>
                <a:cubicBezTo>
                  <a:pt x="460" y="230"/>
                  <a:pt x="460" y="230"/>
                  <a:pt x="460" y="230"/>
                </a:cubicBezTo>
                <a:cubicBezTo>
                  <a:pt x="460" y="229"/>
                  <a:pt x="459" y="170"/>
                  <a:pt x="430" y="113"/>
                </a:cubicBezTo>
                <a:cubicBezTo>
                  <a:pt x="392" y="38"/>
                  <a:pt x="325" y="0"/>
                  <a:pt x="23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0"/>
                  <a:pt x="0" y="230"/>
                  <a:pt x="0" y="230"/>
                </a:cubicBezTo>
                <a:cubicBezTo>
                  <a:pt x="0" y="230"/>
                  <a:pt x="0" y="289"/>
                  <a:pt x="29" y="347"/>
                </a:cubicBezTo>
                <a:cubicBezTo>
                  <a:pt x="67" y="422"/>
                  <a:pt x="135" y="460"/>
                  <a:pt x="230" y="460"/>
                </a:cubicBezTo>
                <a:lnTo>
                  <a:pt x="460" y="46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72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</a:p>
        </p:txBody>
      </p:sp>
      <p:sp>
        <p:nvSpPr>
          <p:cNvPr id="22" name="Freeform 12"/>
          <p:cNvSpPr/>
          <p:nvPr/>
        </p:nvSpPr>
        <p:spPr bwMode="auto">
          <a:xfrm>
            <a:off x="1600200" y="3889715"/>
            <a:ext cx="1672252" cy="1672251"/>
          </a:xfrm>
          <a:custGeom>
            <a:avLst/>
            <a:gdLst>
              <a:gd name="T0" fmla="*/ 230 w 460"/>
              <a:gd name="T1" fmla="*/ 460 h 460"/>
              <a:gd name="T2" fmla="*/ 347 w 460"/>
              <a:gd name="T3" fmla="*/ 430 h 460"/>
              <a:gd name="T4" fmla="*/ 460 w 460"/>
              <a:gd name="T5" fmla="*/ 230 h 460"/>
              <a:gd name="T6" fmla="*/ 460 w 460"/>
              <a:gd name="T7" fmla="*/ 0 h 460"/>
              <a:gd name="T8" fmla="*/ 230 w 460"/>
              <a:gd name="T9" fmla="*/ 0 h 460"/>
              <a:gd name="T10" fmla="*/ 113 w 460"/>
              <a:gd name="T11" fmla="*/ 29 h 460"/>
              <a:gd name="T12" fmla="*/ 0 w 460"/>
              <a:gd name="T13" fmla="*/ 230 h 460"/>
              <a:gd name="T14" fmla="*/ 0 w 460"/>
              <a:gd name="T15" fmla="*/ 460 h 460"/>
              <a:gd name="T16" fmla="*/ 230 w 460"/>
              <a:gd name="T17" fmla="*/ 460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" h="460">
                <a:moveTo>
                  <a:pt x="230" y="460"/>
                </a:moveTo>
                <a:cubicBezTo>
                  <a:pt x="230" y="460"/>
                  <a:pt x="289" y="459"/>
                  <a:pt x="347" y="430"/>
                </a:cubicBezTo>
                <a:cubicBezTo>
                  <a:pt x="422" y="392"/>
                  <a:pt x="460" y="325"/>
                  <a:pt x="460" y="230"/>
                </a:cubicBezTo>
                <a:cubicBezTo>
                  <a:pt x="460" y="0"/>
                  <a:pt x="460" y="0"/>
                  <a:pt x="460" y="0"/>
                </a:cubicBezTo>
                <a:cubicBezTo>
                  <a:pt x="230" y="0"/>
                  <a:pt x="230" y="0"/>
                  <a:pt x="230" y="0"/>
                </a:cubicBezTo>
                <a:cubicBezTo>
                  <a:pt x="229" y="0"/>
                  <a:pt x="170" y="0"/>
                  <a:pt x="113" y="29"/>
                </a:cubicBezTo>
                <a:cubicBezTo>
                  <a:pt x="38" y="67"/>
                  <a:pt x="0" y="135"/>
                  <a:pt x="0" y="230"/>
                </a:cubicBezTo>
                <a:cubicBezTo>
                  <a:pt x="0" y="460"/>
                  <a:pt x="0" y="460"/>
                  <a:pt x="0" y="460"/>
                </a:cubicBezTo>
                <a:lnTo>
                  <a:pt x="230" y="46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7200" dirty="0">
                <a:solidFill>
                  <a:schemeClr val="bg1"/>
                </a:solidFill>
                <a:cs typeface="+mn-ea"/>
                <a:sym typeface="+mn-lt"/>
              </a:rPr>
              <a:t>T</a:t>
            </a:r>
          </a:p>
        </p:txBody>
      </p:sp>
      <p:cxnSp>
        <p:nvCxnSpPr>
          <p:cNvPr id="23" name="Straight Connector 34"/>
          <p:cNvCxnSpPr/>
          <p:nvPr/>
        </p:nvCxnSpPr>
        <p:spPr>
          <a:xfrm>
            <a:off x="5658761" y="1519507"/>
            <a:ext cx="0" cy="42747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9"/>
          <p:cNvSpPr>
            <a:spLocks noEditPoints="1"/>
          </p:cNvSpPr>
          <p:nvPr/>
        </p:nvSpPr>
        <p:spPr bwMode="auto">
          <a:xfrm>
            <a:off x="6232480" y="1750218"/>
            <a:ext cx="481012" cy="481013"/>
          </a:xfrm>
          <a:custGeom>
            <a:avLst/>
            <a:gdLst>
              <a:gd name="T0" fmla="*/ 114 w 128"/>
              <a:gd name="T1" fmla="*/ 29 h 128"/>
              <a:gd name="T2" fmla="*/ 112 w 128"/>
              <a:gd name="T3" fmla="*/ 8 h 128"/>
              <a:gd name="T4" fmla="*/ 24 w 128"/>
              <a:gd name="T5" fmla="*/ 0 h 128"/>
              <a:gd name="T6" fmla="*/ 16 w 128"/>
              <a:gd name="T7" fmla="*/ 27 h 128"/>
              <a:gd name="T8" fmla="*/ 2 w 128"/>
              <a:gd name="T9" fmla="*/ 45 h 128"/>
              <a:gd name="T10" fmla="*/ 0 w 128"/>
              <a:gd name="T11" fmla="*/ 56 h 128"/>
              <a:gd name="T12" fmla="*/ 12 w 128"/>
              <a:gd name="T13" fmla="*/ 68 h 128"/>
              <a:gd name="T14" fmla="*/ 20 w 128"/>
              <a:gd name="T15" fmla="*/ 128 h 128"/>
              <a:gd name="T16" fmla="*/ 116 w 128"/>
              <a:gd name="T17" fmla="*/ 120 h 128"/>
              <a:gd name="T18" fmla="*/ 116 w 128"/>
              <a:gd name="T19" fmla="*/ 68 h 128"/>
              <a:gd name="T20" fmla="*/ 128 w 128"/>
              <a:gd name="T21" fmla="*/ 52 h 128"/>
              <a:gd name="T22" fmla="*/ 104 w 128"/>
              <a:gd name="T23" fmla="*/ 8 h 128"/>
              <a:gd name="T24" fmla="*/ 24 w 128"/>
              <a:gd name="T25" fmla="*/ 24 h 128"/>
              <a:gd name="T26" fmla="*/ 24 w 128"/>
              <a:gd name="T27" fmla="*/ 8 h 128"/>
              <a:gd name="T28" fmla="*/ 41 w 128"/>
              <a:gd name="T29" fmla="*/ 60 h 128"/>
              <a:gd name="T30" fmla="*/ 40 w 128"/>
              <a:gd name="T31" fmla="*/ 32 h 128"/>
              <a:gd name="T32" fmla="*/ 41 w 128"/>
              <a:gd name="T33" fmla="*/ 60 h 128"/>
              <a:gd name="T34" fmla="*/ 62 w 128"/>
              <a:gd name="T35" fmla="*/ 32 h 128"/>
              <a:gd name="T36" fmla="*/ 45 w 128"/>
              <a:gd name="T37" fmla="*/ 60 h 128"/>
              <a:gd name="T38" fmla="*/ 66 w 128"/>
              <a:gd name="T39" fmla="*/ 32 h 128"/>
              <a:gd name="T40" fmla="*/ 83 w 128"/>
              <a:gd name="T41" fmla="*/ 60 h 128"/>
              <a:gd name="T42" fmla="*/ 66 w 128"/>
              <a:gd name="T43" fmla="*/ 32 h 128"/>
              <a:gd name="T44" fmla="*/ 88 w 128"/>
              <a:gd name="T45" fmla="*/ 32 h 128"/>
              <a:gd name="T46" fmla="*/ 87 w 128"/>
              <a:gd name="T47" fmla="*/ 60 h 128"/>
              <a:gd name="T48" fmla="*/ 8 w 128"/>
              <a:gd name="T49" fmla="*/ 56 h 128"/>
              <a:gd name="T50" fmla="*/ 9 w 128"/>
              <a:gd name="T51" fmla="*/ 50 h 128"/>
              <a:gd name="T52" fmla="*/ 24 w 128"/>
              <a:gd name="T53" fmla="*/ 32 h 128"/>
              <a:gd name="T54" fmla="*/ 19 w 128"/>
              <a:gd name="T55" fmla="*/ 60 h 128"/>
              <a:gd name="T56" fmla="*/ 8 w 128"/>
              <a:gd name="T57" fmla="*/ 56 h 128"/>
              <a:gd name="T58" fmla="*/ 50 w 128"/>
              <a:gd name="T59" fmla="*/ 120 h 128"/>
              <a:gd name="T60" fmla="*/ 80 w 128"/>
              <a:gd name="T61" fmla="*/ 80 h 128"/>
              <a:gd name="T62" fmla="*/ 108 w 128"/>
              <a:gd name="T63" fmla="*/ 120 h 128"/>
              <a:gd name="T64" fmla="*/ 84 w 128"/>
              <a:gd name="T65" fmla="*/ 80 h 128"/>
              <a:gd name="T66" fmla="*/ 50 w 128"/>
              <a:gd name="T67" fmla="*/ 76 h 128"/>
              <a:gd name="T68" fmla="*/ 46 w 128"/>
              <a:gd name="T69" fmla="*/ 120 h 128"/>
              <a:gd name="T70" fmla="*/ 20 w 128"/>
              <a:gd name="T71" fmla="*/ 68 h 128"/>
              <a:gd name="T72" fmla="*/ 108 w 128"/>
              <a:gd name="T73" fmla="*/ 120 h 128"/>
              <a:gd name="T74" fmla="*/ 116 w 128"/>
              <a:gd name="T75" fmla="*/ 60 h 128"/>
              <a:gd name="T76" fmla="*/ 93 w 128"/>
              <a:gd name="T77" fmla="*/ 32 h 128"/>
              <a:gd name="T78" fmla="*/ 104 w 128"/>
              <a:gd name="T79" fmla="*/ 32 h 128"/>
              <a:gd name="T80" fmla="*/ 119 w 128"/>
              <a:gd name="T81" fmla="*/ 50 h 128"/>
              <a:gd name="T82" fmla="*/ 120 w 128"/>
              <a:gd name="T83" fmla="*/ 5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126" y="45"/>
                </a:moveTo>
                <a:cubicBezTo>
                  <a:pt x="114" y="29"/>
                  <a:pt x="114" y="29"/>
                  <a:pt x="114" y="29"/>
                </a:cubicBezTo>
                <a:cubicBezTo>
                  <a:pt x="113" y="28"/>
                  <a:pt x="113" y="28"/>
                  <a:pt x="112" y="27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4"/>
                  <a:pt x="108" y="0"/>
                  <a:pt x="10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7"/>
                  <a:pt x="0" y="49"/>
                  <a:pt x="0" y="5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3"/>
                  <a:pt x="5" y="68"/>
                  <a:pt x="12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2" y="124"/>
                  <a:pt x="16" y="128"/>
                  <a:pt x="20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2" y="128"/>
                  <a:pt x="116" y="124"/>
                  <a:pt x="116" y="120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23" y="68"/>
                  <a:pt x="128" y="63"/>
                  <a:pt x="128" y="56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49"/>
                  <a:pt x="127" y="47"/>
                  <a:pt x="126" y="45"/>
                </a:cubicBezTo>
                <a:close/>
                <a:moveTo>
                  <a:pt x="104" y="8"/>
                </a:moveTo>
                <a:cubicBezTo>
                  <a:pt x="104" y="24"/>
                  <a:pt x="104" y="24"/>
                  <a:pt x="10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8"/>
                  <a:pt x="24" y="8"/>
                  <a:pt x="24" y="8"/>
                </a:cubicBezTo>
                <a:lnTo>
                  <a:pt x="104" y="8"/>
                </a:lnTo>
                <a:close/>
                <a:moveTo>
                  <a:pt x="41" y="60"/>
                </a:moveTo>
                <a:cubicBezTo>
                  <a:pt x="24" y="60"/>
                  <a:pt x="24" y="60"/>
                  <a:pt x="24" y="60"/>
                </a:cubicBezTo>
                <a:cubicBezTo>
                  <a:pt x="40" y="32"/>
                  <a:pt x="40" y="32"/>
                  <a:pt x="40" y="32"/>
                </a:cubicBezTo>
                <a:cubicBezTo>
                  <a:pt x="49" y="32"/>
                  <a:pt x="49" y="32"/>
                  <a:pt x="49" y="32"/>
                </a:cubicBezTo>
                <a:lnTo>
                  <a:pt x="41" y="60"/>
                </a:lnTo>
                <a:close/>
                <a:moveTo>
                  <a:pt x="53" y="32"/>
                </a:moveTo>
                <a:cubicBezTo>
                  <a:pt x="62" y="32"/>
                  <a:pt x="62" y="32"/>
                  <a:pt x="62" y="32"/>
                </a:cubicBezTo>
                <a:cubicBezTo>
                  <a:pt x="62" y="60"/>
                  <a:pt x="62" y="60"/>
                  <a:pt x="62" y="60"/>
                </a:cubicBezTo>
                <a:cubicBezTo>
                  <a:pt x="45" y="60"/>
                  <a:pt x="45" y="60"/>
                  <a:pt x="45" y="60"/>
                </a:cubicBezTo>
                <a:lnTo>
                  <a:pt x="53" y="32"/>
                </a:lnTo>
                <a:close/>
                <a:moveTo>
                  <a:pt x="66" y="32"/>
                </a:moveTo>
                <a:cubicBezTo>
                  <a:pt x="75" y="32"/>
                  <a:pt x="75" y="32"/>
                  <a:pt x="75" y="32"/>
                </a:cubicBezTo>
                <a:cubicBezTo>
                  <a:pt x="83" y="60"/>
                  <a:pt x="83" y="60"/>
                  <a:pt x="83" y="60"/>
                </a:cubicBezTo>
                <a:cubicBezTo>
                  <a:pt x="66" y="60"/>
                  <a:pt x="66" y="60"/>
                  <a:pt x="66" y="60"/>
                </a:cubicBezTo>
                <a:lnTo>
                  <a:pt x="66" y="32"/>
                </a:lnTo>
                <a:close/>
                <a:moveTo>
                  <a:pt x="79" y="32"/>
                </a:moveTo>
                <a:cubicBezTo>
                  <a:pt x="88" y="32"/>
                  <a:pt x="88" y="32"/>
                  <a:pt x="88" y="3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87" y="60"/>
                  <a:pt x="87" y="60"/>
                  <a:pt x="87" y="60"/>
                </a:cubicBezTo>
                <a:lnTo>
                  <a:pt x="79" y="32"/>
                </a:lnTo>
                <a:close/>
                <a:moveTo>
                  <a:pt x="8" y="56"/>
                </a:moveTo>
                <a:cubicBezTo>
                  <a:pt x="8" y="52"/>
                  <a:pt x="8" y="52"/>
                  <a:pt x="8" y="52"/>
                </a:cubicBezTo>
                <a:cubicBezTo>
                  <a:pt x="8" y="51"/>
                  <a:pt x="8" y="50"/>
                  <a:pt x="9" y="50"/>
                </a:cubicBezTo>
                <a:cubicBezTo>
                  <a:pt x="21" y="34"/>
                  <a:pt x="21" y="34"/>
                  <a:pt x="21" y="34"/>
                </a:cubicBezTo>
                <a:cubicBezTo>
                  <a:pt x="22" y="33"/>
                  <a:pt x="23" y="32"/>
                  <a:pt x="24" y="32"/>
                </a:cubicBezTo>
                <a:cubicBezTo>
                  <a:pt x="35" y="32"/>
                  <a:pt x="35" y="32"/>
                  <a:pt x="35" y="32"/>
                </a:cubicBezTo>
                <a:cubicBezTo>
                  <a:pt x="19" y="60"/>
                  <a:pt x="19" y="60"/>
                  <a:pt x="19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10" y="60"/>
                  <a:pt x="8" y="58"/>
                  <a:pt x="8" y="56"/>
                </a:cubicBezTo>
                <a:close/>
                <a:moveTo>
                  <a:pt x="80" y="120"/>
                </a:moveTo>
                <a:cubicBezTo>
                  <a:pt x="50" y="120"/>
                  <a:pt x="50" y="120"/>
                  <a:pt x="50" y="120"/>
                </a:cubicBezTo>
                <a:cubicBezTo>
                  <a:pt x="50" y="80"/>
                  <a:pt x="50" y="80"/>
                  <a:pt x="50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120"/>
                </a:lnTo>
                <a:close/>
                <a:moveTo>
                  <a:pt x="108" y="120"/>
                </a:moveTo>
                <a:cubicBezTo>
                  <a:pt x="84" y="120"/>
                  <a:pt x="84" y="120"/>
                  <a:pt x="84" y="12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78"/>
                  <a:pt x="82" y="76"/>
                  <a:pt x="80" y="76"/>
                </a:cubicBezTo>
                <a:cubicBezTo>
                  <a:pt x="50" y="76"/>
                  <a:pt x="50" y="76"/>
                  <a:pt x="50" y="76"/>
                </a:cubicBezTo>
                <a:cubicBezTo>
                  <a:pt x="48" y="76"/>
                  <a:pt x="46" y="78"/>
                  <a:pt x="46" y="8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68"/>
                  <a:pt x="20" y="68"/>
                  <a:pt x="20" y="68"/>
                </a:cubicBezTo>
                <a:cubicBezTo>
                  <a:pt x="108" y="68"/>
                  <a:pt x="108" y="68"/>
                  <a:pt x="108" y="68"/>
                </a:cubicBezTo>
                <a:lnTo>
                  <a:pt x="108" y="120"/>
                </a:lnTo>
                <a:close/>
                <a:moveTo>
                  <a:pt x="120" y="56"/>
                </a:moveTo>
                <a:cubicBezTo>
                  <a:pt x="120" y="58"/>
                  <a:pt x="118" y="60"/>
                  <a:pt x="116" y="60"/>
                </a:cubicBezTo>
                <a:cubicBezTo>
                  <a:pt x="109" y="60"/>
                  <a:pt x="109" y="60"/>
                  <a:pt x="109" y="60"/>
                </a:cubicBezTo>
                <a:cubicBezTo>
                  <a:pt x="93" y="32"/>
                  <a:pt x="93" y="32"/>
                  <a:pt x="93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5" y="32"/>
                  <a:pt x="106" y="33"/>
                  <a:pt x="107" y="34"/>
                </a:cubicBezTo>
                <a:cubicBezTo>
                  <a:pt x="119" y="50"/>
                  <a:pt x="119" y="50"/>
                  <a:pt x="119" y="50"/>
                </a:cubicBezTo>
                <a:cubicBezTo>
                  <a:pt x="120" y="50"/>
                  <a:pt x="120" y="51"/>
                  <a:pt x="120" y="52"/>
                </a:cubicBezTo>
                <a:lnTo>
                  <a:pt x="120" y="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25" name="Group 46"/>
          <p:cNvGrpSpPr/>
          <p:nvPr/>
        </p:nvGrpSpPr>
        <p:grpSpPr>
          <a:xfrm>
            <a:off x="6224543" y="2837296"/>
            <a:ext cx="496887" cy="466725"/>
            <a:chOff x="5160963" y="4846638"/>
            <a:chExt cx="496887" cy="466725"/>
          </a:xfrm>
          <a:solidFill>
            <a:schemeClr val="accent2"/>
          </a:solidFill>
        </p:grpSpPr>
        <p:sp>
          <p:nvSpPr>
            <p:cNvPr id="26" name="Oval 17"/>
            <p:cNvSpPr>
              <a:spLocks noChangeArrowheads="1"/>
            </p:cNvSpPr>
            <p:nvPr/>
          </p:nvSpPr>
          <p:spPr bwMode="auto">
            <a:xfrm>
              <a:off x="5402263" y="5102226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60963" y="4846638"/>
              <a:ext cx="496887" cy="466725"/>
            </a:xfrm>
            <a:custGeom>
              <a:avLst/>
              <a:gdLst>
                <a:gd name="T0" fmla="*/ 116 w 132"/>
                <a:gd name="T1" fmla="*/ 48 h 124"/>
                <a:gd name="T2" fmla="*/ 116 w 132"/>
                <a:gd name="T3" fmla="*/ 22 h 124"/>
                <a:gd name="T4" fmla="*/ 104 w 132"/>
                <a:gd name="T5" fmla="*/ 0 h 124"/>
                <a:gd name="T6" fmla="*/ 22 w 132"/>
                <a:gd name="T7" fmla="*/ 0 h 124"/>
                <a:gd name="T8" fmla="*/ 0 w 132"/>
                <a:gd name="T9" fmla="*/ 102 h 124"/>
                <a:gd name="T10" fmla="*/ 94 w 132"/>
                <a:gd name="T11" fmla="*/ 124 h 124"/>
                <a:gd name="T12" fmla="*/ 116 w 132"/>
                <a:gd name="T13" fmla="*/ 96 h 124"/>
                <a:gd name="T14" fmla="*/ 116 w 132"/>
                <a:gd name="T15" fmla="*/ 48 h 124"/>
                <a:gd name="T16" fmla="*/ 88 w 132"/>
                <a:gd name="T17" fmla="*/ 8 h 124"/>
                <a:gd name="T18" fmla="*/ 108 w 132"/>
                <a:gd name="T19" fmla="*/ 12 h 124"/>
                <a:gd name="T20" fmla="*/ 108 w 132"/>
                <a:gd name="T21" fmla="*/ 24 h 124"/>
                <a:gd name="T22" fmla="*/ 104 w 132"/>
                <a:gd name="T23" fmla="*/ 36 h 124"/>
                <a:gd name="T24" fmla="*/ 104 w 132"/>
                <a:gd name="T25" fmla="*/ 32 h 124"/>
                <a:gd name="T26" fmla="*/ 104 w 132"/>
                <a:gd name="T27" fmla="*/ 16 h 124"/>
                <a:gd name="T28" fmla="*/ 16 w 132"/>
                <a:gd name="T29" fmla="*/ 12 h 124"/>
                <a:gd name="T30" fmla="*/ 12 w 132"/>
                <a:gd name="T31" fmla="*/ 24 h 124"/>
                <a:gd name="T32" fmla="*/ 8 w 132"/>
                <a:gd name="T33" fmla="*/ 22 h 124"/>
                <a:gd name="T34" fmla="*/ 100 w 132"/>
                <a:gd name="T35" fmla="*/ 20 h 124"/>
                <a:gd name="T36" fmla="*/ 16 w 132"/>
                <a:gd name="T37" fmla="*/ 16 h 124"/>
                <a:gd name="T38" fmla="*/ 100 w 132"/>
                <a:gd name="T39" fmla="*/ 20 h 124"/>
                <a:gd name="T40" fmla="*/ 100 w 132"/>
                <a:gd name="T41" fmla="*/ 28 h 124"/>
                <a:gd name="T42" fmla="*/ 16 w 132"/>
                <a:gd name="T43" fmla="*/ 24 h 124"/>
                <a:gd name="T44" fmla="*/ 100 w 132"/>
                <a:gd name="T45" fmla="*/ 32 h 124"/>
                <a:gd name="T46" fmla="*/ 88 w 132"/>
                <a:gd name="T47" fmla="*/ 36 h 124"/>
                <a:gd name="T48" fmla="*/ 16 w 132"/>
                <a:gd name="T49" fmla="*/ 35 h 124"/>
                <a:gd name="T50" fmla="*/ 100 w 132"/>
                <a:gd name="T51" fmla="*/ 32 h 124"/>
                <a:gd name="T52" fmla="*/ 94 w 132"/>
                <a:gd name="T53" fmla="*/ 116 h 124"/>
                <a:gd name="T54" fmla="*/ 8 w 132"/>
                <a:gd name="T55" fmla="*/ 102 h 124"/>
                <a:gd name="T56" fmla="*/ 22 w 132"/>
                <a:gd name="T57" fmla="*/ 44 h 124"/>
                <a:gd name="T58" fmla="*/ 104 w 132"/>
                <a:gd name="T59" fmla="*/ 44 h 124"/>
                <a:gd name="T60" fmla="*/ 108 w 132"/>
                <a:gd name="T61" fmla="*/ 56 h 124"/>
                <a:gd name="T62" fmla="*/ 52 w 132"/>
                <a:gd name="T63" fmla="*/ 76 h 124"/>
                <a:gd name="T64" fmla="*/ 108 w 132"/>
                <a:gd name="T65" fmla="*/ 96 h 124"/>
                <a:gd name="T66" fmla="*/ 113 w 132"/>
                <a:gd name="T67" fmla="*/ 88 h 124"/>
                <a:gd name="T68" fmla="*/ 60 w 132"/>
                <a:gd name="T69" fmla="*/ 76 h 124"/>
                <a:gd name="T70" fmla="*/ 108 w 132"/>
                <a:gd name="T71" fmla="*/ 64 h 124"/>
                <a:gd name="T72" fmla="*/ 115 w 132"/>
                <a:gd name="T73" fmla="*/ 59 h 124"/>
                <a:gd name="T74" fmla="*/ 120 w 132"/>
                <a:gd name="T75" fmla="*/ 7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24"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5"/>
                    <a:pt x="111" y="0"/>
                    <a:pt x="10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4"/>
                    <a:pt x="10" y="124"/>
                    <a:pt x="22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106" y="124"/>
                    <a:pt x="116" y="114"/>
                    <a:pt x="116" y="102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32" y="84"/>
                    <a:pt x="132" y="60"/>
                    <a:pt x="116" y="48"/>
                  </a:cubicBezTo>
                  <a:close/>
                  <a:moveTo>
                    <a:pt x="22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8" y="10"/>
                    <a:pt x="108" y="1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7" y="36"/>
                    <a:pt x="105" y="36"/>
                    <a:pt x="104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4"/>
                    <a:pt x="102" y="12"/>
                    <a:pt x="100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4" y="12"/>
                    <a:pt x="12" y="14"/>
                    <a:pt x="12" y="16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0" y="29"/>
                    <a:pt x="8" y="26"/>
                    <a:pt x="8" y="22"/>
                  </a:cubicBezTo>
                  <a:cubicBezTo>
                    <a:pt x="8" y="14"/>
                    <a:pt x="14" y="8"/>
                    <a:pt x="22" y="8"/>
                  </a:cubicBezTo>
                  <a:close/>
                  <a:moveTo>
                    <a:pt x="100" y="20"/>
                  </a:moveTo>
                  <a:cubicBezTo>
                    <a:pt x="16" y="20"/>
                    <a:pt x="16" y="20"/>
                    <a:pt x="16" y="2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00" y="16"/>
                    <a:pt x="100" y="16"/>
                    <a:pt x="100" y="16"/>
                  </a:cubicBezTo>
                  <a:lnTo>
                    <a:pt x="100" y="20"/>
                  </a:lnTo>
                  <a:close/>
                  <a:moveTo>
                    <a:pt x="100" y="24"/>
                  </a:moveTo>
                  <a:cubicBezTo>
                    <a:pt x="100" y="28"/>
                    <a:pt x="100" y="28"/>
                    <a:pt x="100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100" y="24"/>
                  </a:lnTo>
                  <a:close/>
                  <a:moveTo>
                    <a:pt x="100" y="32"/>
                  </a:moveTo>
                  <a:cubicBezTo>
                    <a:pt x="100" y="36"/>
                    <a:pt x="100" y="36"/>
                    <a:pt x="100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6"/>
                    <a:pt x="18" y="35"/>
                    <a:pt x="16" y="35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00" y="32"/>
                  </a:lnTo>
                  <a:close/>
                  <a:moveTo>
                    <a:pt x="108" y="102"/>
                  </a:moveTo>
                  <a:cubicBezTo>
                    <a:pt x="108" y="110"/>
                    <a:pt x="102" y="116"/>
                    <a:pt x="94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14" y="116"/>
                    <a:pt x="8" y="110"/>
                    <a:pt x="8" y="10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2" y="42"/>
                    <a:pt x="17" y="44"/>
                    <a:pt x="22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6" y="44"/>
                    <a:pt x="108" y="46"/>
                    <a:pt x="108" y="48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1" y="56"/>
                    <a:pt x="52" y="65"/>
                    <a:pt x="52" y="76"/>
                  </a:cubicBezTo>
                  <a:cubicBezTo>
                    <a:pt x="52" y="87"/>
                    <a:pt x="61" y="96"/>
                    <a:pt x="72" y="96"/>
                  </a:cubicBezTo>
                  <a:cubicBezTo>
                    <a:pt x="108" y="96"/>
                    <a:pt x="108" y="96"/>
                    <a:pt x="108" y="96"/>
                  </a:cubicBezTo>
                  <a:lnTo>
                    <a:pt x="108" y="102"/>
                  </a:lnTo>
                  <a:close/>
                  <a:moveTo>
                    <a:pt x="113" y="88"/>
                  </a:moveTo>
                  <a:cubicBezTo>
                    <a:pt x="72" y="88"/>
                    <a:pt x="72" y="88"/>
                    <a:pt x="72" y="88"/>
                  </a:cubicBezTo>
                  <a:cubicBezTo>
                    <a:pt x="65" y="88"/>
                    <a:pt x="60" y="83"/>
                    <a:pt x="60" y="76"/>
                  </a:cubicBezTo>
                  <a:cubicBezTo>
                    <a:pt x="60" y="69"/>
                    <a:pt x="65" y="64"/>
                    <a:pt x="72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3" y="63"/>
                    <a:pt x="114" y="61"/>
                  </a:cubicBezTo>
                  <a:cubicBezTo>
                    <a:pt x="115" y="60"/>
                    <a:pt x="115" y="60"/>
                    <a:pt x="115" y="59"/>
                  </a:cubicBezTo>
                  <a:cubicBezTo>
                    <a:pt x="115" y="59"/>
                    <a:pt x="116" y="59"/>
                    <a:pt x="116" y="59"/>
                  </a:cubicBezTo>
                  <a:cubicBezTo>
                    <a:pt x="118" y="62"/>
                    <a:pt x="120" y="67"/>
                    <a:pt x="120" y="72"/>
                  </a:cubicBezTo>
                  <a:cubicBezTo>
                    <a:pt x="120" y="78"/>
                    <a:pt x="118" y="84"/>
                    <a:pt x="113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8" name="Group 51"/>
          <p:cNvGrpSpPr/>
          <p:nvPr/>
        </p:nvGrpSpPr>
        <p:grpSpPr>
          <a:xfrm>
            <a:off x="6232480" y="3910086"/>
            <a:ext cx="481012" cy="482600"/>
            <a:chOff x="4198938" y="2905126"/>
            <a:chExt cx="481012" cy="482600"/>
          </a:xfrm>
          <a:solidFill>
            <a:schemeClr val="accent3"/>
          </a:solidFill>
        </p:grpSpPr>
        <p:sp>
          <p:nvSpPr>
            <p:cNvPr id="29" name="Freeform 57"/>
            <p:cNvSpPr>
              <a:spLocks noEditPoints="1"/>
            </p:cNvSpPr>
            <p:nvPr/>
          </p:nvSpPr>
          <p:spPr bwMode="auto">
            <a:xfrm>
              <a:off x="4198938" y="2905126"/>
              <a:ext cx="150812" cy="482600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0" name="Freeform 58"/>
            <p:cNvSpPr>
              <a:spLocks noEditPoints="1"/>
            </p:cNvSpPr>
            <p:nvPr/>
          </p:nvSpPr>
          <p:spPr bwMode="auto">
            <a:xfrm>
              <a:off x="4529138" y="2905126"/>
              <a:ext cx="150812" cy="482600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1" name="Freeform 59"/>
            <p:cNvSpPr>
              <a:spLocks noEditPoints="1"/>
            </p:cNvSpPr>
            <p:nvPr/>
          </p:nvSpPr>
          <p:spPr bwMode="auto">
            <a:xfrm>
              <a:off x="4364038" y="2905126"/>
              <a:ext cx="150812" cy="482600"/>
            </a:xfrm>
            <a:custGeom>
              <a:avLst/>
              <a:gdLst>
                <a:gd name="T0" fmla="*/ 32 w 40"/>
                <a:gd name="T1" fmla="*/ 72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72 h 128"/>
                <a:gd name="T10" fmla="*/ 0 w 40"/>
                <a:gd name="T11" fmla="*/ 88 h 128"/>
                <a:gd name="T12" fmla="*/ 8 w 40"/>
                <a:gd name="T13" fmla="*/ 104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104 h 128"/>
                <a:gd name="T22" fmla="*/ 40 w 40"/>
                <a:gd name="T23" fmla="*/ 88 h 128"/>
                <a:gd name="T24" fmla="*/ 32 w 40"/>
                <a:gd name="T25" fmla="*/ 72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68 h 128"/>
                <a:gd name="T34" fmla="*/ 20 w 40"/>
                <a:gd name="T35" fmla="*/ 68 h 128"/>
                <a:gd name="T36" fmla="*/ 16 w 40"/>
                <a:gd name="T37" fmla="*/ 68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108 h 128"/>
                <a:gd name="T48" fmla="*/ 20 w 40"/>
                <a:gd name="T49" fmla="*/ 108 h 128"/>
                <a:gd name="T50" fmla="*/ 24 w 40"/>
                <a:gd name="T51" fmla="*/ 108 h 128"/>
                <a:gd name="T52" fmla="*/ 24 w 40"/>
                <a:gd name="T53" fmla="*/ 116 h 128"/>
                <a:gd name="T54" fmla="*/ 31 w 40"/>
                <a:gd name="T55" fmla="*/ 91 h 128"/>
                <a:gd name="T56" fmla="*/ 31 w 40"/>
                <a:gd name="T57" fmla="*/ 92 h 128"/>
                <a:gd name="T58" fmla="*/ 30 w 40"/>
                <a:gd name="T59" fmla="*/ 95 h 128"/>
                <a:gd name="T60" fmla="*/ 30 w 40"/>
                <a:gd name="T61" fmla="*/ 95 h 128"/>
                <a:gd name="T62" fmla="*/ 27 w 40"/>
                <a:gd name="T63" fmla="*/ 98 h 128"/>
                <a:gd name="T64" fmla="*/ 27 w 40"/>
                <a:gd name="T65" fmla="*/ 98 h 128"/>
                <a:gd name="T66" fmla="*/ 24 w 40"/>
                <a:gd name="T67" fmla="*/ 99 h 128"/>
                <a:gd name="T68" fmla="*/ 20 w 40"/>
                <a:gd name="T69" fmla="*/ 100 h 128"/>
                <a:gd name="T70" fmla="*/ 16 w 40"/>
                <a:gd name="T71" fmla="*/ 99 h 128"/>
                <a:gd name="T72" fmla="*/ 13 w 40"/>
                <a:gd name="T73" fmla="*/ 98 h 128"/>
                <a:gd name="T74" fmla="*/ 13 w 40"/>
                <a:gd name="T75" fmla="*/ 98 h 128"/>
                <a:gd name="T76" fmla="*/ 10 w 40"/>
                <a:gd name="T77" fmla="*/ 95 h 128"/>
                <a:gd name="T78" fmla="*/ 10 w 40"/>
                <a:gd name="T79" fmla="*/ 95 h 128"/>
                <a:gd name="T80" fmla="*/ 9 w 40"/>
                <a:gd name="T81" fmla="*/ 92 h 128"/>
                <a:gd name="T82" fmla="*/ 9 w 40"/>
                <a:gd name="T83" fmla="*/ 91 h 128"/>
                <a:gd name="T84" fmla="*/ 8 w 40"/>
                <a:gd name="T85" fmla="*/ 88 h 128"/>
                <a:gd name="T86" fmla="*/ 9 w 40"/>
                <a:gd name="T87" fmla="*/ 85 h 128"/>
                <a:gd name="T88" fmla="*/ 9 w 40"/>
                <a:gd name="T89" fmla="*/ 84 h 128"/>
                <a:gd name="T90" fmla="*/ 10 w 40"/>
                <a:gd name="T91" fmla="*/ 81 h 128"/>
                <a:gd name="T92" fmla="*/ 10 w 40"/>
                <a:gd name="T93" fmla="*/ 81 h 128"/>
                <a:gd name="T94" fmla="*/ 13 w 40"/>
                <a:gd name="T95" fmla="*/ 78 h 128"/>
                <a:gd name="T96" fmla="*/ 13 w 40"/>
                <a:gd name="T97" fmla="*/ 78 h 128"/>
                <a:gd name="T98" fmla="*/ 16 w 40"/>
                <a:gd name="T99" fmla="*/ 77 h 128"/>
                <a:gd name="T100" fmla="*/ 20 w 40"/>
                <a:gd name="T101" fmla="*/ 76 h 128"/>
                <a:gd name="T102" fmla="*/ 24 w 40"/>
                <a:gd name="T103" fmla="*/ 77 h 128"/>
                <a:gd name="T104" fmla="*/ 27 w 40"/>
                <a:gd name="T105" fmla="*/ 78 h 128"/>
                <a:gd name="T106" fmla="*/ 27 w 40"/>
                <a:gd name="T107" fmla="*/ 78 h 128"/>
                <a:gd name="T108" fmla="*/ 30 w 40"/>
                <a:gd name="T109" fmla="*/ 81 h 128"/>
                <a:gd name="T110" fmla="*/ 30 w 40"/>
                <a:gd name="T111" fmla="*/ 81 h 128"/>
                <a:gd name="T112" fmla="*/ 31 w 40"/>
                <a:gd name="T113" fmla="*/ 84 h 128"/>
                <a:gd name="T114" fmla="*/ 31 w 40"/>
                <a:gd name="T115" fmla="*/ 85 h 128"/>
                <a:gd name="T116" fmla="*/ 32 w 40"/>
                <a:gd name="T117" fmla="*/ 88 h 128"/>
                <a:gd name="T118" fmla="*/ 31 w 40"/>
                <a:gd name="T119" fmla="*/ 9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72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6"/>
                    <a:pt x="0" y="81"/>
                    <a:pt x="0" y="88"/>
                  </a:cubicBezTo>
                  <a:cubicBezTo>
                    <a:pt x="0" y="95"/>
                    <a:pt x="3" y="100"/>
                    <a:pt x="8" y="10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37" y="100"/>
                    <a:pt x="40" y="95"/>
                    <a:pt x="40" y="88"/>
                  </a:cubicBezTo>
                  <a:cubicBezTo>
                    <a:pt x="40" y="81"/>
                    <a:pt x="37" y="76"/>
                    <a:pt x="32" y="72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3" y="68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7" y="108"/>
                    <a:pt x="19" y="108"/>
                    <a:pt x="20" y="108"/>
                  </a:cubicBezTo>
                  <a:cubicBezTo>
                    <a:pt x="21" y="108"/>
                    <a:pt x="23" y="108"/>
                    <a:pt x="24" y="108"/>
                  </a:cubicBezTo>
                  <a:lnTo>
                    <a:pt x="24" y="116"/>
                  </a:lnTo>
                  <a:close/>
                  <a:moveTo>
                    <a:pt x="31" y="91"/>
                  </a:moveTo>
                  <a:cubicBezTo>
                    <a:pt x="31" y="92"/>
                    <a:pt x="31" y="92"/>
                    <a:pt x="31" y="92"/>
                  </a:cubicBezTo>
                  <a:cubicBezTo>
                    <a:pt x="31" y="93"/>
                    <a:pt x="30" y="94"/>
                    <a:pt x="30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6"/>
                    <a:pt x="28" y="97"/>
                    <a:pt x="27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8"/>
                    <a:pt x="25" y="99"/>
                    <a:pt x="24" y="99"/>
                  </a:cubicBezTo>
                  <a:cubicBezTo>
                    <a:pt x="23" y="100"/>
                    <a:pt x="21" y="100"/>
                    <a:pt x="20" y="100"/>
                  </a:cubicBezTo>
                  <a:cubicBezTo>
                    <a:pt x="19" y="100"/>
                    <a:pt x="17" y="100"/>
                    <a:pt x="16" y="99"/>
                  </a:cubicBezTo>
                  <a:cubicBezTo>
                    <a:pt x="15" y="99"/>
                    <a:pt x="14" y="9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97"/>
                    <a:pt x="11" y="96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9" y="92"/>
                  </a:cubicBezTo>
                  <a:cubicBezTo>
                    <a:pt x="9" y="92"/>
                    <a:pt x="9" y="92"/>
                    <a:pt x="9" y="91"/>
                  </a:cubicBezTo>
                  <a:cubicBezTo>
                    <a:pt x="8" y="90"/>
                    <a:pt x="8" y="89"/>
                    <a:pt x="8" y="88"/>
                  </a:cubicBezTo>
                  <a:cubicBezTo>
                    <a:pt x="8" y="87"/>
                    <a:pt x="8" y="86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10" y="82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0"/>
                    <a:pt x="12" y="79"/>
                    <a:pt x="13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8"/>
                    <a:pt x="15" y="77"/>
                    <a:pt x="16" y="77"/>
                  </a:cubicBezTo>
                  <a:cubicBezTo>
                    <a:pt x="17" y="76"/>
                    <a:pt x="19" y="76"/>
                    <a:pt x="20" y="76"/>
                  </a:cubicBezTo>
                  <a:cubicBezTo>
                    <a:pt x="21" y="76"/>
                    <a:pt x="23" y="76"/>
                    <a:pt x="24" y="77"/>
                  </a:cubicBezTo>
                  <a:cubicBezTo>
                    <a:pt x="25" y="77"/>
                    <a:pt x="26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8" y="79"/>
                    <a:pt x="29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1" y="83"/>
                    <a:pt x="31" y="84"/>
                  </a:cubicBezTo>
                  <a:cubicBezTo>
                    <a:pt x="31" y="84"/>
                    <a:pt x="31" y="84"/>
                    <a:pt x="31" y="85"/>
                  </a:cubicBezTo>
                  <a:cubicBezTo>
                    <a:pt x="32" y="86"/>
                    <a:pt x="32" y="87"/>
                    <a:pt x="32" y="88"/>
                  </a:cubicBezTo>
                  <a:cubicBezTo>
                    <a:pt x="32" y="89"/>
                    <a:pt x="32" y="90"/>
                    <a:pt x="31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773845" y="3154844"/>
            <a:ext cx="1228875" cy="1231943"/>
            <a:chOff x="2708844" y="3480769"/>
            <a:chExt cx="1228875" cy="1231943"/>
          </a:xfrm>
        </p:grpSpPr>
        <p:sp>
          <p:nvSpPr>
            <p:cNvPr id="37" name="Oval 13"/>
            <p:cNvSpPr>
              <a:spLocks noChangeArrowheads="1"/>
            </p:cNvSpPr>
            <p:nvPr/>
          </p:nvSpPr>
          <p:spPr bwMode="auto">
            <a:xfrm>
              <a:off x="2708844" y="3480769"/>
              <a:ext cx="1228875" cy="1231943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8" name="Oval 14"/>
            <p:cNvSpPr>
              <a:spLocks noChangeArrowheads="1"/>
            </p:cNvSpPr>
            <p:nvPr/>
          </p:nvSpPr>
          <p:spPr bwMode="auto">
            <a:xfrm>
              <a:off x="2753335" y="3523727"/>
              <a:ext cx="1144496" cy="1146029"/>
            </a:xfrm>
            <a:prstGeom prst="ellipse">
              <a:avLst/>
            </a:pr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024525" y="3815754"/>
              <a:ext cx="602116" cy="561975"/>
              <a:chOff x="5793583" y="3379861"/>
              <a:chExt cx="602116" cy="561975"/>
            </a:xfrm>
            <a:solidFill>
              <a:schemeClr val="bg1"/>
            </a:solidFill>
          </p:grpSpPr>
          <p:sp>
            <p:nvSpPr>
              <p:cNvPr id="40" name="任意多边形: 形状 39"/>
              <p:cNvSpPr/>
              <p:nvPr/>
            </p:nvSpPr>
            <p:spPr>
              <a:xfrm>
                <a:off x="5833724" y="3379861"/>
                <a:ext cx="160564" cy="160565"/>
              </a:xfrm>
              <a:custGeom>
                <a:avLst/>
                <a:gdLst/>
                <a:ahLst/>
                <a:cxnLst/>
                <a:rect l="l" t="t" r="r" b="b"/>
                <a:pathLst>
                  <a:path w="160564" h="160565">
                    <a:moveTo>
                      <a:pt x="80282" y="0"/>
                    </a:moveTo>
                    <a:cubicBezTo>
                      <a:pt x="102443" y="0"/>
                      <a:pt x="121364" y="7840"/>
                      <a:pt x="137044" y="23520"/>
                    </a:cubicBezTo>
                    <a:cubicBezTo>
                      <a:pt x="152724" y="39201"/>
                      <a:pt x="160564" y="58121"/>
                      <a:pt x="160564" y="80282"/>
                    </a:cubicBezTo>
                    <a:cubicBezTo>
                      <a:pt x="160564" y="102444"/>
                      <a:pt x="152724" y="121364"/>
                      <a:pt x="137044" y="137044"/>
                    </a:cubicBezTo>
                    <a:cubicBezTo>
                      <a:pt x="121364" y="152725"/>
                      <a:pt x="102443" y="160565"/>
                      <a:pt x="80282" y="160565"/>
                    </a:cubicBezTo>
                    <a:cubicBezTo>
                      <a:pt x="58121" y="160565"/>
                      <a:pt x="39200" y="152725"/>
                      <a:pt x="23520" y="137044"/>
                    </a:cubicBezTo>
                    <a:cubicBezTo>
                      <a:pt x="7840" y="121364"/>
                      <a:pt x="0" y="102444"/>
                      <a:pt x="0" y="80282"/>
                    </a:cubicBezTo>
                    <a:cubicBezTo>
                      <a:pt x="0" y="58121"/>
                      <a:pt x="7840" y="39201"/>
                      <a:pt x="23520" y="23520"/>
                    </a:cubicBezTo>
                    <a:cubicBezTo>
                      <a:pt x="39200" y="7840"/>
                      <a:pt x="58121" y="0"/>
                      <a:pt x="80282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6194993" y="3379861"/>
                <a:ext cx="160565" cy="160565"/>
              </a:xfrm>
              <a:custGeom>
                <a:avLst/>
                <a:gdLst/>
                <a:ahLst/>
                <a:cxnLst/>
                <a:rect l="l" t="t" r="r" b="b"/>
                <a:pathLst>
                  <a:path w="160565" h="160565">
                    <a:moveTo>
                      <a:pt x="80283" y="0"/>
                    </a:moveTo>
                    <a:cubicBezTo>
                      <a:pt x="102444" y="0"/>
                      <a:pt x="121364" y="7840"/>
                      <a:pt x="137045" y="23520"/>
                    </a:cubicBezTo>
                    <a:cubicBezTo>
                      <a:pt x="152725" y="39201"/>
                      <a:pt x="160565" y="58121"/>
                      <a:pt x="160565" y="80282"/>
                    </a:cubicBezTo>
                    <a:cubicBezTo>
                      <a:pt x="160565" y="102444"/>
                      <a:pt x="152725" y="121364"/>
                      <a:pt x="137045" y="137044"/>
                    </a:cubicBezTo>
                    <a:cubicBezTo>
                      <a:pt x="121364" y="152725"/>
                      <a:pt x="102444" y="160565"/>
                      <a:pt x="80283" y="160565"/>
                    </a:cubicBezTo>
                    <a:cubicBezTo>
                      <a:pt x="58121" y="160565"/>
                      <a:pt x="39201" y="152725"/>
                      <a:pt x="23521" y="137044"/>
                    </a:cubicBezTo>
                    <a:cubicBezTo>
                      <a:pt x="7841" y="121364"/>
                      <a:pt x="0" y="102444"/>
                      <a:pt x="0" y="80282"/>
                    </a:cubicBezTo>
                    <a:cubicBezTo>
                      <a:pt x="0" y="58121"/>
                      <a:pt x="7841" y="39201"/>
                      <a:pt x="23521" y="23520"/>
                    </a:cubicBezTo>
                    <a:cubicBezTo>
                      <a:pt x="39201" y="7840"/>
                      <a:pt x="58121" y="0"/>
                      <a:pt x="8028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974218" y="3460143"/>
                <a:ext cx="240846" cy="240847"/>
              </a:xfrm>
              <a:custGeom>
                <a:avLst/>
                <a:gdLst/>
                <a:ahLst/>
                <a:cxnLst/>
                <a:rect l="l" t="t" r="r" b="b"/>
                <a:pathLst>
                  <a:path w="240846" h="240847">
                    <a:moveTo>
                      <a:pt x="120423" y="0"/>
                    </a:moveTo>
                    <a:cubicBezTo>
                      <a:pt x="153665" y="0"/>
                      <a:pt x="182046" y="11760"/>
                      <a:pt x="205566" y="35281"/>
                    </a:cubicBezTo>
                    <a:cubicBezTo>
                      <a:pt x="229086" y="58801"/>
                      <a:pt x="240846" y="87182"/>
                      <a:pt x="240846" y="120424"/>
                    </a:cubicBezTo>
                    <a:cubicBezTo>
                      <a:pt x="240846" y="153665"/>
                      <a:pt x="229086" y="182046"/>
                      <a:pt x="205566" y="205567"/>
                    </a:cubicBezTo>
                    <a:cubicBezTo>
                      <a:pt x="182046" y="229087"/>
                      <a:pt x="153665" y="240847"/>
                      <a:pt x="120423" y="240847"/>
                    </a:cubicBezTo>
                    <a:cubicBezTo>
                      <a:pt x="87181" y="240847"/>
                      <a:pt x="58800" y="229087"/>
                      <a:pt x="35280" y="205567"/>
                    </a:cubicBezTo>
                    <a:cubicBezTo>
                      <a:pt x="11760" y="182046"/>
                      <a:pt x="0" y="153665"/>
                      <a:pt x="0" y="120424"/>
                    </a:cubicBezTo>
                    <a:cubicBezTo>
                      <a:pt x="0" y="87182"/>
                      <a:pt x="11760" y="58801"/>
                      <a:pt x="35280" y="35281"/>
                    </a:cubicBezTo>
                    <a:cubicBezTo>
                      <a:pt x="58800" y="11760"/>
                      <a:pt x="87181" y="0"/>
                      <a:pt x="120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5793583" y="3540426"/>
                <a:ext cx="185966" cy="160564"/>
              </a:xfrm>
              <a:custGeom>
                <a:avLst/>
                <a:gdLst/>
                <a:ahLst/>
                <a:cxnLst/>
                <a:rect l="l" t="t" r="r" b="b"/>
                <a:pathLst>
                  <a:path w="185966" h="160564">
                    <a:moveTo>
                      <a:pt x="38886" y="0"/>
                    </a:moveTo>
                    <a:cubicBezTo>
                      <a:pt x="40141" y="0"/>
                      <a:pt x="44688" y="2195"/>
                      <a:pt x="52528" y="6585"/>
                    </a:cubicBezTo>
                    <a:cubicBezTo>
                      <a:pt x="60368" y="10976"/>
                      <a:pt x="70560" y="15418"/>
                      <a:pt x="83104" y="19913"/>
                    </a:cubicBezTo>
                    <a:cubicBezTo>
                      <a:pt x="95648" y="24408"/>
                      <a:pt x="108088" y="26656"/>
                      <a:pt x="120423" y="26656"/>
                    </a:cubicBezTo>
                    <a:cubicBezTo>
                      <a:pt x="134431" y="26656"/>
                      <a:pt x="148334" y="24251"/>
                      <a:pt x="162132" y="19443"/>
                    </a:cubicBezTo>
                    <a:cubicBezTo>
                      <a:pt x="161087" y="27178"/>
                      <a:pt x="160564" y="34078"/>
                      <a:pt x="160564" y="40141"/>
                    </a:cubicBezTo>
                    <a:cubicBezTo>
                      <a:pt x="160564" y="69201"/>
                      <a:pt x="169031" y="95962"/>
                      <a:pt x="185966" y="120423"/>
                    </a:cubicBezTo>
                    <a:cubicBezTo>
                      <a:pt x="152097" y="121468"/>
                      <a:pt x="124395" y="134848"/>
                      <a:pt x="102861" y="160564"/>
                    </a:cubicBezTo>
                    <a:lnTo>
                      <a:pt x="60839" y="160564"/>
                    </a:lnTo>
                    <a:cubicBezTo>
                      <a:pt x="43695" y="160564"/>
                      <a:pt x="29269" y="156330"/>
                      <a:pt x="17561" y="147863"/>
                    </a:cubicBezTo>
                    <a:cubicBezTo>
                      <a:pt x="5854" y="139396"/>
                      <a:pt x="0" y="127008"/>
                      <a:pt x="0" y="110701"/>
                    </a:cubicBezTo>
                    <a:cubicBezTo>
                      <a:pt x="0" y="36900"/>
                      <a:pt x="12962" y="0"/>
                      <a:pt x="388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6209733" y="3540426"/>
                <a:ext cx="185966" cy="160564"/>
              </a:xfrm>
              <a:custGeom>
                <a:avLst/>
                <a:gdLst/>
                <a:ahLst/>
                <a:cxnLst/>
                <a:rect l="l" t="t" r="r" b="b"/>
                <a:pathLst>
                  <a:path w="185966" h="160564">
                    <a:moveTo>
                      <a:pt x="147079" y="0"/>
                    </a:moveTo>
                    <a:cubicBezTo>
                      <a:pt x="173004" y="0"/>
                      <a:pt x="185966" y="36900"/>
                      <a:pt x="185966" y="110701"/>
                    </a:cubicBezTo>
                    <a:cubicBezTo>
                      <a:pt x="185966" y="127008"/>
                      <a:pt x="180112" y="139396"/>
                      <a:pt x="168404" y="147863"/>
                    </a:cubicBezTo>
                    <a:cubicBezTo>
                      <a:pt x="156696" y="156330"/>
                      <a:pt x="142271" y="160564"/>
                      <a:pt x="125127" y="160564"/>
                    </a:cubicBezTo>
                    <a:lnTo>
                      <a:pt x="83104" y="160564"/>
                    </a:lnTo>
                    <a:cubicBezTo>
                      <a:pt x="61570" y="134848"/>
                      <a:pt x="33869" y="121468"/>
                      <a:pt x="0" y="120423"/>
                    </a:cubicBezTo>
                    <a:cubicBezTo>
                      <a:pt x="16934" y="95962"/>
                      <a:pt x="25402" y="69201"/>
                      <a:pt x="25402" y="40141"/>
                    </a:cubicBezTo>
                    <a:cubicBezTo>
                      <a:pt x="25402" y="34078"/>
                      <a:pt x="24879" y="27178"/>
                      <a:pt x="23834" y="19443"/>
                    </a:cubicBezTo>
                    <a:cubicBezTo>
                      <a:pt x="37632" y="24251"/>
                      <a:pt x="51535" y="26656"/>
                      <a:pt x="65543" y="26656"/>
                    </a:cubicBezTo>
                    <a:cubicBezTo>
                      <a:pt x="77878" y="26656"/>
                      <a:pt x="90317" y="24408"/>
                      <a:pt x="102861" y="19913"/>
                    </a:cubicBezTo>
                    <a:cubicBezTo>
                      <a:pt x="115405" y="15418"/>
                      <a:pt x="125597" y="10976"/>
                      <a:pt x="133437" y="6585"/>
                    </a:cubicBezTo>
                    <a:cubicBezTo>
                      <a:pt x="141278" y="2195"/>
                      <a:pt x="145825" y="0"/>
                      <a:pt x="147079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5873865" y="3680919"/>
                <a:ext cx="441552" cy="260917"/>
              </a:xfrm>
              <a:custGeom>
                <a:avLst/>
                <a:gdLst/>
                <a:ahLst/>
                <a:cxnLst/>
                <a:rect l="l" t="t" r="r" b="b"/>
                <a:pathLst>
                  <a:path w="441552" h="260917">
                    <a:moveTo>
                      <a:pt x="108506" y="0"/>
                    </a:moveTo>
                    <a:cubicBezTo>
                      <a:pt x="110597" y="0"/>
                      <a:pt x="115092" y="2248"/>
                      <a:pt x="121991" y="6743"/>
                    </a:cubicBezTo>
                    <a:cubicBezTo>
                      <a:pt x="128890" y="11238"/>
                      <a:pt x="136521" y="16255"/>
                      <a:pt x="144884" y="21796"/>
                    </a:cubicBezTo>
                    <a:cubicBezTo>
                      <a:pt x="153247" y="27336"/>
                      <a:pt x="164432" y="32354"/>
                      <a:pt x="178440" y="36849"/>
                    </a:cubicBezTo>
                    <a:cubicBezTo>
                      <a:pt x="192447" y="41344"/>
                      <a:pt x="206559" y="43591"/>
                      <a:pt x="220776" y="43591"/>
                    </a:cubicBezTo>
                    <a:cubicBezTo>
                      <a:pt x="234992" y="43591"/>
                      <a:pt x="249104" y="41344"/>
                      <a:pt x="263112" y="36849"/>
                    </a:cubicBezTo>
                    <a:cubicBezTo>
                      <a:pt x="277120" y="32354"/>
                      <a:pt x="288305" y="27336"/>
                      <a:pt x="296667" y="21796"/>
                    </a:cubicBezTo>
                    <a:cubicBezTo>
                      <a:pt x="305030" y="16255"/>
                      <a:pt x="312661" y="11238"/>
                      <a:pt x="319560" y="6743"/>
                    </a:cubicBezTo>
                    <a:cubicBezTo>
                      <a:pt x="326460" y="2248"/>
                      <a:pt x="330955" y="0"/>
                      <a:pt x="333045" y="0"/>
                    </a:cubicBezTo>
                    <a:cubicBezTo>
                      <a:pt x="345798" y="0"/>
                      <a:pt x="357454" y="2091"/>
                      <a:pt x="368012" y="6272"/>
                    </a:cubicBezTo>
                    <a:cubicBezTo>
                      <a:pt x="378570" y="10454"/>
                      <a:pt x="387508" y="16046"/>
                      <a:pt x="394825" y="23050"/>
                    </a:cubicBezTo>
                    <a:cubicBezTo>
                      <a:pt x="402142" y="30054"/>
                      <a:pt x="408623" y="38521"/>
                      <a:pt x="414268" y="48452"/>
                    </a:cubicBezTo>
                    <a:cubicBezTo>
                      <a:pt x="419913" y="58383"/>
                      <a:pt x="424408" y="68575"/>
                      <a:pt x="427753" y="79028"/>
                    </a:cubicBezTo>
                    <a:cubicBezTo>
                      <a:pt x="431098" y="89481"/>
                      <a:pt x="433868" y="100823"/>
                      <a:pt x="436064" y="113054"/>
                    </a:cubicBezTo>
                    <a:cubicBezTo>
                      <a:pt x="438259" y="125284"/>
                      <a:pt x="439722" y="136679"/>
                      <a:pt x="440454" y="147237"/>
                    </a:cubicBezTo>
                    <a:cubicBezTo>
                      <a:pt x="441186" y="157794"/>
                      <a:pt x="441552" y="168614"/>
                      <a:pt x="441552" y="179694"/>
                    </a:cubicBezTo>
                    <a:cubicBezTo>
                      <a:pt x="441552" y="204783"/>
                      <a:pt x="433921" y="224592"/>
                      <a:pt x="418659" y="239122"/>
                    </a:cubicBezTo>
                    <a:cubicBezTo>
                      <a:pt x="403397" y="253652"/>
                      <a:pt x="383117" y="260917"/>
                      <a:pt x="357820" y="260917"/>
                    </a:cubicBezTo>
                    <a:lnTo>
                      <a:pt x="83732" y="260917"/>
                    </a:lnTo>
                    <a:cubicBezTo>
                      <a:pt x="58434" y="260917"/>
                      <a:pt x="38155" y="253652"/>
                      <a:pt x="22893" y="239122"/>
                    </a:cubicBezTo>
                    <a:cubicBezTo>
                      <a:pt x="7631" y="224592"/>
                      <a:pt x="0" y="204783"/>
                      <a:pt x="0" y="179694"/>
                    </a:cubicBezTo>
                    <a:cubicBezTo>
                      <a:pt x="0" y="168614"/>
                      <a:pt x="366" y="157794"/>
                      <a:pt x="1098" y="147237"/>
                    </a:cubicBezTo>
                    <a:cubicBezTo>
                      <a:pt x="1829" y="136679"/>
                      <a:pt x="3293" y="125284"/>
                      <a:pt x="5488" y="113054"/>
                    </a:cubicBezTo>
                    <a:cubicBezTo>
                      <a:pt x="7683" y="100823"/>
                      <a:pt x="10453" y="89481"/>
                      <a:pt x="13798" y="79028"/>
                    </a:cubicBezTo>
                    <a:cubicBezTo>
                      <a:pt x="17143" y="68575"/>
                      <a:pt x="21638" y="58383"/>
                      <a:pt x="27283" y="48452"/>
                    </a:cubicBezTo>
                    <a:cubicBezTo>
                      <a:pt x="32928" y="38521"/>
                      <a:pt x="39409" y="30054"/>
                      <a:pt x="46727" y="23050"/>
                    </a:cubicBezTo>
                    <a:cubicBezTo>
                      <a:pt x="54044" y="16046"/>
                      <a:pt x="62982" y="10454"/>
                      <a:pt x="73540" y="6272"/>
                    </a:cubicBezTo>
                    <a:cubicBezTo>
                      <a:pt x="84098" y="2091"/>
                      <a:pt x="95753" y="0"/>
                      <a:pt x="108506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4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6" name="Shape 2021"/>
          <p:cNvSpPr/>
          <p:nvPr/>
        </p:nvSpPr>
        <p:spPr>
          <a:xfrm>
            <a:off x="6844804" y="2113421"/>
            <a:ext cx="4077383" cy="5038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系统梳理国内外关于大模型幻觉成因、幻觉抑制策略、检索增强生成（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RAG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）等相关领域的核心文献、</a:t>
            </a:r>
          </a:p>
        </p:txBody>
      </p:sp>
      <p:sp>
        <p:nvSpPr>
          <p:cNvPr id="47" name="Shape 2022"/>
          <p:cNvSpPr/>
          <p:nvPr/>
        </p:nvSpPr>
        <p:spPr>
          <a:xfrm>
            <a:off x="6837009" y="1695008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文献研究法</a:t>
            </a:r>
          </a:p>
        </p:txBody>
      </p:sp>
      <p:sp>
        <p:nvSpPr>
          <p:cNvPr id="48" name="Shape 2021"/>
          <p:cNvSpPr/>
          <p:nvPr/>
        </p:nvSpPr>
        <p:spPr>
          <a:xfrm>
            <a:off x="6844804" y="3170007"/>
            <a:ext cx="4077383" cy="5038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多组题目对照测试有无知识库的大模型幻觉率，对比不同实验组的幻觉发生率、定理准确性、逻辑严密性等核心指标。</a:t>
            </a:r>
          </a:p>
        </p:txBody>
      </p:sp>
      <p:sp>
        <p:nvSpPr>
          <p:cNvPr id="49" name="Shape 2022"/>
          <p:cNvSpPr/>
          <p:nvPr/>
        </p:nvSpPr>
        <p:spPr>
          <a:xfrm>
            <a:off x="6837009" y="2751594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实验法</a:t>
            </a:r>
          </a:p>
        </p:txBody>
      </p:sp>
      <p:sp>
        <p:nvSpPr>
          <p:cNvPr id="50" name="Shape 2021"/>
          <p:cNvSpPr/>
          <p:nvPr/>
        </p:nvSpPr>
        <p:spPr>
          <a:xfrm>
            <a:off x="6844804" y="4226593"/>
            <a:ext cx="4077383" cy="5038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收集实践过程中模型存在的问题并针对性迭代优化。</a:t>
            </a:r>
          </a:p>
        </p:txBody>
      </p:sp>
      <p:sp>
        <p:nvSpPr>
          <p:cNvPr id="51" name="Shape 2022"/>
          <p:cNvSpPr/>
          <p:nvPr/>
        </p:nvSpPr>
        <p:spPr>
          <a:xfrm>
            <a:off x="6837009" y="3808180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经验总结法</a:t>
            </a:r>
          </a:p>
        </p:txBody>
      </p:sp>
      <p:sp>
        <p:nvSpPr>
          <p:cNvPr id="54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9" y="70814"/>
            <a:ext cx="43490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课题研究的创新价值点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自由: 形状 42"/>
          <p:cNvSpPr/>
          <p:nvPr/>
        </p:nvSpPr>
        <p:spPr>
          <a:xfrm>
            <a:off x="3752737" y="2211139"/>
            <a:ext cx="2171388" cy="3341688"/>
          </a:xfrm>
          <a:custGeom>
            <a:avLst/>
            <a:gdLst>
              <a:gd name="connsiteX0" fmla="*/ 0 w 2171388"/>
              <a:gd name="connsiteY0" fmla="*/ 0 h 2978152"/>
              <a:gd name="connsiteX1" fmla="*/ 2171387 w 2171388"/>
              <a:gd name="connsiteY1" fmla="*/ 0 h 2978152"/>
              <a:gd name="connsiteX2" fmla="*/ 2171387 w 2171388"/>
              <a:gd name="connsiteY2" fmla="*/ 602649 h 2978152"/>
              <a:gd name="connsiteX3" fmla="*/ 2171388 w 2171388"/>
              <a:gd name="connsiteY3" fmla="*/ 602649 h 2978152"/>
              <a:gd name="connsiteX4" fmla="*/ 2171388 w 2171388"/>
              <a:gd name="connsiteY4" fmla="*/ 2849747 h 2978152"/>
              <a:gd name="connsiteX5" fmla="*/ 2042395 w 2171388"/>
              <a:gd name="connsiteY5" fmla="*/ 2978152 h 2978152"/>
              <a:gd name="connsiteX6" fmla="*/ 128994 w 2171388"/>
              <a:gd name="connsiteY6" fmla="*/ 2978152 h 2978152"/>
              <a:gd name="connsiteX7" fmla="*/ 1 w 2171388"/>
              <a:gd name="connsiteY7" fmla="*/ 2849747 h 2978152"/>
              <a:gd name="connsiteX8" fmla="*/ 1 w 2171388"/>
              <a:gd name="connsiteY8" fmla="*/ 1177247 h 2978152"/>
              <a:gd name="connsiteX9" fmla="*/ 1 w 2171388"/>
              <a:gd name="connsiteY9" fmla="*/ 1098149 h 2978152"/>
              <a:gd name="connsiteX10" fmla="*/ 0 w 2171388"/>
              <a:gd name="connsiteY10" fmla="*/ 1098149 h 297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1388" h="2978152">
                <a:moveTo>
                  <a:pt x="0" y="0"/>
                </a:moveTo>
                <a:lnTo>
                  <a:pt x="2171387" y="0"/>
                </a:lnTo>
                <a:lnTo>
                  <a:pt x="2171387" y="602649"/>
                </a:lnTo>
                <a:lnTo>
                  <a:pt x="2171388" y="602649"/>
                </a:lnTo>
                <a:cubicBezTo>
                  <a:pt x="2171388" y="602649"/>
                  <a:pt x="2171388" y="602649"/>
                  <a:pt x="2171388" y="2849747"/>
                </a:cubicBezTo>
                <a:cubicBezTo>
                  <a:pt x="2171388" y="2921975"/>
                  <a:pt x="2112266" y="2978152"/>
                  <a:pt x="2042395" y="2978152"/>
                </a:cubicBezTo>
                <a:cubicBezTo>
                  <a:pt x="2042395" y="2978152"/>
                  <a:pt x="2042395" y="2978152"/>
                  <a:pt x="128994" y="2978152"/>
                </a:cubicBezTo>
                <a:cubicBezTo>
                  <a:pt x="59123" y="2978152"/>
                  <a:pt x="1" y="2921975"/>
                  <a:pt x="1" y="2849747"/>
                </a:cubicBezTo>
                <a:cubicBezTo>
                  <a:pt x="1" y="2849747"/>
                  <a:pt x="1" y="2849747"/>
                  <a:pt x="1" y="1177247"/>
                </a:cubicBezTo>
                <a:lnTo>
                  <a:pt x="1" y="1098149"/>
                </a:lnTo>
                <a:lnTo>
                  <a:pt x="0" y="1098149"/>
                </a:lnTo>
                <a:close/>
              </a:path>
            </a:pathLst>
          </a:cu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9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4" name="自由: 形状 26"/>
          <p:cNvSpPr/>
          <p:nvPr/>
        </p:nvSpPr>
        <p:spPr>
          <a:xfrm>
            <a:off x="1188049" y="2211139"/>
            <a:ext cx="2171388" cy="3341688"/>
          </a:xfrm>
          <a:custGeom>
            <a:avLst/>
            <a:gdLst>
              <a:gd name="connsiteX0" fmla="*/ 0 w 2171388"/>
              <a:gd name="connsiteY0" fmla="*/ 0 h 2978152"/>
              <a:gd name="connsiteX1" fmla="*/ 2171387 w 2171388"/>
              <a:gd name="connsiteY1" fmla="*/ 0 h 2978152"/>
              <a:gd name="connsiteX2" fmla="*/ 2171387 w 2171388"/>
              <a:gd name="connsiteY2" fmla="*/ 602649 h 2978152"/>
              <a:gd name="connsiteX3" fmla="*/ 2171388 w 2171388"/>
              <a:gd name="connsiteY3" fmla="*/ 602649 h 2978152"/>
              <a:gd name="connsiteX4" fmla="*/ 2171388 w 2171388"/>
              <a:gd name="connsiteY4" fmla="*/ 2849747 h 2978152"/>
              <a:gd name="connsiteX5" fmla="*/ 2042395 w 2171388"/>
              <a:gd name="connsiteY5" fmla="*/ 2978152 h 2978152"/>
              <a:gd name="connsiteX6" fmla="*/ 128994 w 2171388"/>
              <a:gd name="connsiteY6" fmla="*/ 2978152 h 2978152"/>
              <a:gd name="connsiteX7" fmla="*/ 1 w 2171388"/>
              <a:gd name="connsiteY7" fmla="*/ 2849747 h 2978152"/>
              <a:gd name="connsiteX8" fmla="*/ 1 w 2171388"/>
              <a:gd name="connsiteY8" fmla="*/ 1177247 h 2978152"/>
              <a:gd name="connsiteX9" fmla="*/ 1 w 2171388"/>
              <a:gd name="connsiteY9" fmla="*/ 1098149 h 2978152"/>
              <a:gd name="connsiteX10" fmla="*/ 0 w 2171388"/>
              <a:gd name="connsiteY10" fmla="*/ 1098149 h 297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1388" h="2978152">
                <a:moveTo>
                  <a:pt x="0" y="0"/>
                </a:moveTo>
                <a:lnTo>
                  <a:pt x="2171387" y="0"/>
                </a:lnTo>
                <a:lnTo>
                  <a:pt x="2171387" y="602649"/>
                </a:lnTo>
                <a:lnTo>
                  <a:pt x="2171388" y="602649"/>
                </a:lnTo>
                <a:cubicBezTo>
                  <a:pt x="2171388" y="602649"/>
                  <a:pt x="2171388" y="602649"/>
                  <a:pt x="2171388" y="2849747"/>
                </a:cubicBezTo>
                <a:cubicBezTo>
                  <a:pt x="2171388" y="2921975"/>
                  <a:pt x="2112266" y="2978152"/>
                  <a:pt x="2042395" y="2978152"/>
                </a:cubicBezTo>
                <a:cubicBezTo>
                  <a:pt x="2042395" y="2978152"/>
                  <a:pt x="2042395" y="2978152"/>
                  <a:pt x="128994" y="2978152"/>
                </a:cubicBezTo>
                <a:cubicBezTo>
                  <a:pt x="59123" y="2978152"/>
                  <a:pt x="1" y="2921975"/>
                  <a:pt x="1" y="2849747"/>
                </a:cubicBezTo>
                <a:cubicBezTo>
                  <a:pt x="1" y="2849747"/>
                  <a:pt x="1" y="2849747"/>
                  <a:pt x="1" y="1177247"/>
                </a:cubicBezTo>
                <a:lnTo>
                  <a:pt x="1" y="1098149"/>
                </a:lnTo>
                <a:lnTo>
                  <a:pt x="0" y="1098149"/>
                </a:lnTo>
                <a:close/>
              </a:path>
            </a:pathLst>
          </a:cu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9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1425228" y="3706391"/>
            <a:ext cx="1777324" cy="162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本研究先依据教材章节、小节层级进行语义分块，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保留数学知识的层级结构与逻辑完整性，再对超长文本进行精细化二次切割，同时完整继承原始章节元数据。</a:t>
            </a:r>
          </a:p>
        </p:txBody>
      </p:sp>
      <p:sp>
        <p:nvSpPr>
          <p:cNvPr id="146" name="矩形 145"/>
          <p:cNvSpPr/>
          <p:nvPr/>
        </p:nvSpPr>
        <p:spPr>
          <a:xfrm>
            <a:off x="1425228" y="2922623"/>
            <a:ext cx="16999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数据层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文本切分创新</a:t>
            </a:r>
          </a:p>
        </p:txBody>
      </p:sp>
      <p:sp>
        <p:nvSpPr>
          <p:cNvPr id="147" name="椭圆 146"/>
          <p:cNvSpPr/>
          <p:nvPr/>
        </p:nvSpPr>
        <p:spPr>
          <a:xfrm>
            <a:off x="1678433" y="1615829"/>
            <a:ext cx="1190622" cy="11906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949769" y="3796916"/>
            <a:ext cx="1777324" cy="162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在检索结果后重排序环节，对包含定义、定理、公式、性质、判定、公理的高价值知识块进行加权排序置顶，优先推送解题核心依据，过滤冗余教学辅助文本。</a:t>
            </a:r>
          </a:p>
        </p:txBody>
      </p:sp>
      <p:sp>
        <p:nvSpPr>
          <p:cNvPr id="149" name="矩形 148"/>
          <p:cNvSpPr/>
          <p:nvPr/>
        </p:nvSpPr>
        <p:spPr>
          <a:xfrm>
            <a:off x="3877005" y="2922623"/>
            <a:ext cx="19228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检索层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重排序优化创新</a:t>
            </a:r>
          </a:p>
        </p:txBody>
      </p:sp>
      <p:sp>
        <p:nvSpPr>
          <p:cNvPr id="150" name="椭圆 149"/>
          <p:cNvSpPr/>
          <p:nvPr/>
        </p:nvSpPr>
        <p:spPr>
          <a:xfrm>
            <a:off x="4243120" y="1615829"/>
            <a:ext cx="1190622" cy="119062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1" name="自由: 形状 46"/>
          <p:cNvSpPr/>
          <p:nvPr/>
        </p:nvSpPr>
        <p:spPr>
          <a:xfrm>
            <a:off x="6317425" y="2211139"/>
            <a:ext cx="2171388" cy="3341690"/>
          </a:xfrm>
          <a:custGeom>
            <a:avLst/>
            <a:gdLst>
              <a:gd name="connsiteX0" fmla="*/ 0 w 2171388"/>
              <a:gd name="connsiteY0" fmla="*/ 0 h 2978152"/>
              <a:gd name="connsiteX1" fmla="*/ 2171387 w 2171388"/>
              <a:gd name="connsiteY1" fmla="*/ 0 h 2978152"/>
              <a:gd name="connsiteX2" fmla="*/ 2171387 w 2171388"/>
              <a:gd name="connsiteY2" fmla="*/ 602649 h 2978152"/>
              <a:gd name="connsiteX3" fmla="*/ 2171388 w 2171388"/>
              <a:gd name="connsiteY3" fmla="*/ 602649 h 2978152"/>
              <a:gd name="connsiteX4" fmla="*/ 2171388 w 2171388"/>
              <a:gd name="connsiteY4" fmla="*/ 2849747 h 2978152"/>
              <a:gd name="connsiteX5" fmla="*/ 2042395 w 2171388"/>
              <a:gd name="connsiteY5" fmla="*/ 2978152 h 2978152"/>
              <a:gd name="connsiteX6" fmla="*/ 128994 w 2171388"/>
              <a:gd name="connsiteY6" fmla="*/ 2978152 h 2978152"/>
              <a:gd name="connsiteX7" fmla="*/ 1 w 2171388"/>
              <a:gd name="connsiteY7" fmla="*/ 2849747 h 2978152"/>
              <a:gd name="connsiteX8" fmla="*/ 1 w 2171388"/>
              <a:gd name="connsiteY8" fmla="*/ 1177247 h 2978152"/>
              <a:gd name="connsiteX9" fmla="*/ 1 w 2171388"/>
              <a:gd name="connsiteY9" fmla="*/ 1098149 h 2978152"/>
              <a:gd name="connsiteX10" fmla="*/ 0 w 2171388"/>
              <a:gd name="connsiteY10" fmla="*/ 1098149 h 297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1388" h="2978152">
                <a:moveTo>
                  <a:pt x="0" y="0"/>
                </a:moveTo>
                <a:lnTo>
                  <a:pt x="2171387" y="0"/>
                </a:lnTo>
                <a:lnTo>
                  <a:pt x="2171387" y="602649"/>
                </a:lnTo>
                <a:lnTo>
                  <a:pt x="2171388" y="602649"/>
                </a:lnTo>
                <a:cubicBezTo>
                  <a:pt x="2171388" y="602649"/>
                  <a:pt x="2171388" y="602649"/>
                  <a:pt x="2171388" y="2849747"/>
                </a:cubicBezTo>
                <a:cubicBezTo>
                  <a:pt x="2171388" y="2921975"/>
                  <a:pt x="2112266" y="2978152"/>
                  <a:pt x="2042395" y="2978152"/>
                </a:cubicBezTo>
                <a:cubicBezTo>
                  <a:pt x="2042395" y="2978152"/>
                  <a:pt x="2042395" y="2978152"/>
                  <a:pt x="128994" y="2978152"/>
                </a:cubicBezTo>
                <a:cubicBezTo>
                  <a:pt x="59123" y="2978152"/>
                  <a:pt x="1" y="2921975"/>
                  <a:pt x="1" y="2849747"/>
                </a:cubicBezTo>
                <a:cubicBezTo>
                  <a:pt x="1" y="2849747"/>
                  <a:pt x="1" y="2849747"/>
                  <a:pt x="1" y="1177247"/>
                </a:cubicBezTo>
                <a:lnTo>
                  <a:pt x="1" y="1098149"/>
                </a:lnTo>
                <a:lnTo>
                  <a:pt x="0" y="1098149"/>
                </a:lnTo>
                <a:close/>
              </a:path>
            </a:pathLst>
          </a:cu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9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6514457" y="3796916"/>
            <a:ext cx="1777324" cy="162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本研究基于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phi-3-mini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轻量化大模型，通过</a:t>
            </a:r>
            <a:r>
              <a:rPr lang="en-US" altLang="zh-CN" sz="1200" dirty="0" err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ollama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这一开源框架，搭建纯本地、低算力、低成本、零网络依赖的架构，适配普通设备部署。</a:t>
            </a:r>
          </a:p>
        </p:txBody>
      </p:sp>
      <p:sp>
        <p:nvSpPr>
          <p:cNvPr id="153" name="矩形 152"/>
          <p:cNvSpPr/>
          <p:nvPr/>
        </p:nvSpPr>
        <p:spPr>
          <a:xfrm>
            <a:off x="6388509" y="2919576"/>
            <a:ext cx="20292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架构层</a:t>
            </a:r>
            <a:endParaRPr lang="en-US" altLang="zh-CN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轻量化低成本架构</a:t>
            </a:r>
          </a:p>
        </p:txBody>
      </p:sp>
      <p:sp>
        <p:nvSpPr>
          <p:cNvPr id="154" name="椭圆 153"/>
          <p:cNvSpPr/>
          <p:nvPr/>
        </p:nvSpPr>
        <p:spPr>
          <a:xfrm>
            <a:off x="6807808" y="1615829"/>
            <a:ext cx="1190622" cy="119062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5" name="自由: 形状 50"/>
          <p:cNvSpPr/>
          <p:nvPr/>
        </p:nvSpPr>
        <p:spPr>
          <a:xfrm>
            <a:off x="8882113" y="2211138"/>
            <a:ext cx="2171388" cy="3341689"/>
          </a:xfrm>
          <a:custGeom>
            <a:avLst/>
            <a:gdLst>
              <a:gd name="connsiteX0" fmla="*/ 0 w 2171388"/>
              <a:gd name="connsiteY0" fmla="*/ 0 h 2978152"/>
              <a:gd name="connsiteX1" fmla="*/ 2171387 w 2171388"/>
              <a:gd name="connsiteY1" fmla="*/ 0 h 2978152"/>
              <a:gd name="connsiteX2" fmla="*/ 2171387 w 2171388"/>
              <a:gd name="connsiteY2" fmla="*/ 602649 h 2978152"/>
              <a:gd name="connsiteX3" fmla="*/ 2171388 w 2171388"/>
              <a:gd name="connsiteY3" fmla="*/ 602649 h 2978152"/>
              <a:gd name="connsiteX4" fmla="*/ 2171388 w 2171388"/>
              <a:gd name="connsiteY4" fmla="*/ 2849747 h 2978152"/>
              <a:gd name="connsiteX5" fmla="*/ 2042395 w 2171388"/>
              <a:gd name="connsiteY5" fmla="*/ 2978152 h 2978152"/>
              <a:gd name="connsiteX6" fmla="*/ 128994 w 2171388"/>
              <a:gd name="connsiteY6" fmla="*/ 2978152 h 2978152"/>
              <a:gd name="connsiteX7" fmla="*/ 1 w 2171388"/>
              <a:gd name="connsiteY7" fmla="*/ 2849747 h 2978152"/>
              <a:gd name="connsiteX8" fmla="*/ 1 w 2171388"/>
              <a:gd name="connsiteY8" fmla="*/ 1177247 h 2978152"/>
              <a:gd name="connsiteX9" fmla="*/ 1 w 2171388"/>
              <a:gd name="connsiteY9" fmla="*/ 1098149 h 2978152"/>
              <a:gd name="connsiteX10" fmla="*/ 0 w 2171388"/>
              <a:gd name="connsiteY10" fmla="*/ 1098149 h 297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1388" h="2978152">
                <a:moveTo>
                  <a:pt x="0" y="0"/>
                </a:moveTo>
                <a:lnTo>
                  <a:pt x="2171387" y="0"/>
                </a:lnTo>
                <a:lnTo>
                  <a:pt x="2171387" y="602649"/>
                </a:lnTo>
                <a:lnTo>
                  <a:pt x="2171388" y="602649"/>
                </a:lnTo>
                <a:cubicBezTo>
                  <a:pt x="2171388" y="602649"/>
                  <a:pt x="2171388" y="602649"/>
                  <a:pt x="2171388" y="2849747"/>
                </a:cubicBezTo>
                <a:cubicBezTo>
                  <a:pt x="2171388" y="2921975"/>
                  <a:pt x="2112266" y="2978152"/>
                  <a:pt x="2042395" y="2978152"/>
                </a:cubicBezTo>
                <a:cubicBezTo>
                  <a:pt x="2042395" y="2978152"/>
                  <a:pt x="2042395" y="2978152"/>
                  <a:pt x="128994" y="2978152"/>
                </a:cubicBezTo>
                <a:cubicBezTo>
                  <a:pt x="59123" y="2978152"/>
                  <a:pt x="1" y="2921975"/>
                  <a:pt x="1" y="2849747"/>
                </a:cubicBezTo>
                <a:cubicBezTo>
                  <a:pt x="1" y="2849747"/>
                  <a:pt x="1" y="2849747"/>
                  <a:pt x="1" y="1177247"/>
                </a:cubicBezTo>
                <a:lnTo>
                  <a:pt x="1" y="1098149"/>
                </a:lnTo>
                <a:lnTo>
                  <a:pt x="0" y="1098149"/>
                </a:lnTo>
                <a:close/>
              </a:path>
            </a:pathLst>
          </a:cu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9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093998" y="3876429"/>
            <a:ext cx="1777324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本课题面向高中课内数学搭建专属结构化知识库，贴合日常课堂答疑需求，具备较强高中生教学落地实用价值。</a:t>
            </a:r>
          </a:p>
        </p:txBody>
      </p:sp>
      <p:sp>
        <p:nvSpPr>
          <p:cNvPr id="157" name="矩形 156"/>
          <p:cNvSpPr/>
          <p:nvPr/>
        </p:nvSpPr>
        <p:spPr>
          <a:xfrm>
            <a:off x="9111475" y="2922622"/>
            <a:ext cx="1740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应用领域</a:t>
            </a:r>
            <a:endParaRPr lang="en-US" altLang="zh-CN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现实针对性强</a:t>
            </a:r>
          </a:p>
        </p:txBody>
      </p:sp>
      <p:sp>
        <p:nvSpPr>
          <p:cNvPr id="158" name="椭圆 157"/>
          <p:cNvSpPr/>
          <p:nvPr/>
        </p:nvSpPr>
        <p:spPr>
          <a:xfrm>
            <a:off x="9372497" y="1615829"/>
            <a:ext cx="1190622" cy="11906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4</a:t>
            </a:r>
          </a:p>
        </p:txBody>
      </p:sp>
      <p:sp>
        <p:nvSpPr>
          <p:cNvPr id="19" name="object 11"/>
          <p:cNvSpPr txBox="1"/>
          <p:nvPr/>
        </p:nvSpPr>
        <p:spPr>
          <a:xfrm>
            <a:off x="6400800" y="6547834"/>
            <a:ext cx="5667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40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4140200" y="1536700"/>
            <a:ext cx="8046720" cy="3189731"/>
          </a:xfrm>
          <a:custGeom>
            <a:avLst/>
            <a:gdLst/>
            <a:ahLst/>
            <a:cxnLst/>
            <a:rect l="l" t="t" r="r" b="b"/>
            <a:pathLst>
              <a:path w="8046720" h="3189731">
                <a:moveTo>
                  <a:pt x="0" y="3189731"/>
                </a:moveTo>
                <a:lnTo>
                  <a:pt x="8046720" y="3189731"/>
                </a:lnTo>
                <a:lnTo>
                  <a:pt x="8046720" y="0"/>
                </a:lnTo>
                <a:lnTo>
                  <a:pt x="0" y="0"/>
                </a:lnTo>
                <a:lnTo>
                  <a:pt x="0" y="3189731"/>
                </a:lnTo>
                <a:close/>
              </a:path>
            </a:pathLst>
          </a:custGeom>
          <a:noFill/>
          <a:ln w="12700" cap="flat" cmpd="sng">
            <a:solidFill>
              <a:srgbClr val="F1F1F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67200" y="2260600"/>
            <a:ext cx="7747000" cy="259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4521200"/>
            <a:ext cx="39370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28600" y="50800"/>
            <a:ext cx="2171700" cy="71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6045200"/>
            <a:ext cx="12166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470400" y="3136900"/>
            <a:ext cx="32639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6000" b="1" i="0" u="none" strike="noStrike" dirty="0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研究过程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156200" y="952500"/>
            <a:ext cx="1879600" cy="1892300"/>
          </a:xfrm>
          <a:prstGeom prst="ellipse">
            <a:avLst/>
          </a:prstGeom>
          <a:noFill/>
          <a:ln w="50800" cap="flat" cmpd="sng">
            <a:solidFill>
              <a:srgbClr val="066C94">
                <a:alpha val="100000"/>
              </a:srgbClr>
            </a:solidFill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500" b="1" i="0" u="none" strike="noStrike" spc="-300">
                <a:solidFill>
                  <a:srgbClr val="1F497D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85992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数据预处理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/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009C48-7057-B4C4-33DC-E90821D87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3835"/>
            <a:ext cx="3303220" cy="14574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DA14EC7-F6E2-91C9-6312-37CAE52F6C0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64"/>
          <a:stretch>
            <a:fillRect/>
          </a:stretch>
        </p:blipFill>
        <p:spPr>
          <a:xfrm>
            <a:off x="457200" y="2608406"/>
            <a:ext cx="2668342" cy="161584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FAB8B2A-3764-01E2-6893-6BAE4F023460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15"/>
          <a:stretch>
            <a:fillRect/>
          </a:stretch>
        </p:blipFill>
        <p:spPr>
          <a:xfrm>
            <a:off x="457200" y="4536707"/>
            <a:ext cx="2668342" cy="15845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73A3FD9-658D-69B0-B3E3-A71B4A08A6CA}"/>
              </a:ext>
            </a:extLst>
          </p:cNvPr>
          <p:cNvSpPr txBox="1"/>
          <p:nvPr/>
        </p:nvSpPr>
        <p:spPr>
          <a:xfrm>
            <a:off x="5181600" y="1447800"/>
            <a:ext cx="597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MinerU</a:t>
            </a:r>
            <a:r>
              <a:rPr lang="zh-CN" altLang="en-US" dirty="0"/>
              <a:t>将数学课本的</a:t>
            </a:r>
            <a:r>
              <a:rPr lang="en-US" altLang="zh-CN" dirty="0"/>
              <a:t>PDF</a:t>
            </a:r>
            <a:r>
              <a:rPr lang="zh-CN" altLang="en-US" dirty="0"/>
              <a:t>转为</a:t>
            </a:r>
            <a:r>
              <a:rPr lang="zh-CN" altLang="en-US" sz="2400" b="1" dirty="0">
                <a:solidFill>
                  <a:srgbClr val="FF0000"/>
                </a:solidFill>
              </a:rPr>
              <a:t>可编辑的</a:t>
            </a:r>
            <a:r>
              <a:rPr lang="en-US" altLang="zh-CN" sz="2400" b="1" dirty="0">
                <a:solidFill>
                  <a:srgbClr val="FF0000"/>
                </a:solidFill>
              </a:rPr>
              <a:t>Markdown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2E3D0C-2682-6AAA-DC27-F82F9E463620}"/>
              </a:ext>
            </a:extLst>
          </p:cNvPr>
          <p:cNvSpPr txBox="1"/>
          <p:nvPr/>
        </p:nvSpPr>
        <p:spPr>
          <a:xfrm>
            <a:off x="4475723" y="3485586"/>
            <a:ext cx="6854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辅助</a:t>
            </a:r>
            <a:r>
              <a:rPr lang="zh-CN" altLang="en-US" sz="2400" b="1" dirty="0">
                <a:solidFill>
                  <a:srgbClr val="FF0000"/>
                </a:solidFill>
              </a:rPr>
              <a:t>调整</a:t>
            </a:r>
            <a:r>
              <a:rPr lang="en-US" altLang="zh-CN" sz="2400" b="1" dirty="0">
                <a:solidFill>
                  <a:srgbClr val="FF0000"/>
                </a:solidFill>
              </a:rPr>
              <a:t>Markdown</a:t>
            </a:r>
            <a:r>
              <a:rPr lang="zh-CN" altLang="en-US" sz="2400" b="1" dirty="0">
                <a:solidFill>
                  <a:srgbClr val="FF0000"/>
                </a:solidFill>
              </a:rPr>
              <a:t>格式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dirty="0"/>
              <a:t>层级完全对齐：</a:t>
            </a:r>
            <a:r>
              <a:rPr lang="en-US" altLang="zh-CN" dirty="0"/>
              <a:t>## 1.1</a:t>
            </a:r>
            <a:r>
              <a:rPr lang="zh-CN" altLang="en-US" dirty="0"/>
              <a:t>章</a:t>
            </a:r>
            <a:r>
              <a:rPr lang="en-US" altLang="zh-CN" dirty="0"/>
              <a:t> → ### 1.1.1</a:t>
            </a:r>
            <a:r>
              <a:rPr lang="zh-CN" altLang="en-US" dirty="0"/>
              <a:t>小节→ </a:t>
            </a:r>
            <a:r>
              <a:rPr lang="en-US" altLang="zh-CN" dirty="0"/>
              <a:t>#### </a:t>
            </a:r>
            <a:r>
              <a:rPr lang="zh-CN" altLang="en-US" dirty="0"/>
              <a:t>练习</a:t>
            </a:r>
            <a:endParaRPr lang="en-US" altLang="zh-CN" dirty="0"/>
          </a:p>
          <a:p>
            <a:r>
              <a:rPr lang="zh-CN" altLang="en-US" dirty="0"/>
              <a:t>保留数学公式：所有 </a:t>
            </a:r>
            <a:r>
              <a:rPr lang="en-US" altLang="zh-CN" dirty="0"/>
              <a:t>LaTeX</a:t>
            </a:r>
            <a:r>
              <a:rPr lang="zh-CN" altLang="en-US" dirty="0"/>
              <a:t>（</a:t>
            </a:r>
            <a:r>
              <a:rPr lang="en-US" altLang="zh-CN" dirty="0"/>
              <a:t>$...$</a:t>
            </a:r>
            <a:r>
              <a:rPr lang="zh-CN" altLang="en-US" dirty="0"/>
              <a:t>、</a:t>
            </a:r>
            <a:r>
              <a:rPr lang="en-US" altLang="zh-CN" dirty="0"/>
              <a:t>$$...$$</a:t>
            </a:r>
            <a:r>
              <a:rPr lang="zh-CN" altLang="en-US" dirty="0"/>
              <a:t>）均完好保留。</a:t>
            </a:r>
            <a:endParaRPr lang="en-US" altLang="zh-CN" dirty="0"/>
          </a:p>
          <a:p>
            <a:r>
              <a:rPr lang="zh-CN" altLang="en-US" dirty="0"/>
              <a:t>删除</a:t>
            </a:r>
            <a:r>
              <a:rPr lang="en-US" altLang="zh-CN" dirty="0"/>
              <a:t>OCR</a:t>
            </a:r>
            <a:r>
              <a:rPr lang="zh-CN" altLang="en-US" dirty="0"/>
              <a:t>噪声：删除了所有 </a:t>
            </a:r>
            <a:r>
              <a:rPr lang="en-US" altLang="zh-CN" dirty="0"/>
              <a:t>[</a:t>
            </a:r>
            <a:r>
              <a:rPr lang="en-US" altLang="zh-CN" dirty="0" err="1"/>
              <a:t>user_doc</a:t>
            </a:r>
            <a:r>
              <a:rPr lang="en-US" altLang="zh-CN" dirty="0"/>
              <a:t>...]</a:t>
            </a:r>
            <a:r>
              <a:rPr lang="zh-CN" altLang="en-US" dirty="0"/>
              <a:t>、</a:t>
            </a:r>
            <a:r>
              <a:rPr lang="en-US" altLang="zh-CN" dirty="0"/>
              <a:t>![image]...</a:t>
            </a:r>
            <a:r>
              <a:rPr lang="zh-CN" altLang="en-US" dirty="0"/>
              <a:t>、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题</a:t>
            </a:r>
            <a:r>
              <a:rPr lang="en-US" altLang="zh-CN" dirty="0"/>
              <a:t>) </a:t>
            </a:r>
            <a:r>
              <a:rPr lang="zh-CN" altLang="en-US" dirty="0"/>
              <a:t>等干扰</a:t>
            </a:r>
            <a:r>
              <a:rPr lang="en-US" altLang="zh-CN" dirty="0"/>
              <a:t>RAG</a:t>
            </a:r>
            <a:r>
              <a:rPr lang="zh-CN" altLang="en-US" dirty="0"/>
              <a:t>的垃圾信息。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B1C-7B05-C011-EFDC-2597B23D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C0D9F3-380E-CC13-BF07-FF09F6623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106566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ea typeface="微软雅黑" panose="020B0503020204020204" charset="-122"/>
              </a:rPr>
              <a:t>——</a:t>
            </a:r>
            <a:r>
              <a:rPr lang="zh-CN" altLang="en-US" sz="3200" dirty="0">
                <a:solidFill>
                  <a:srgbClr val="FFFFFF"/>
                </a:solidFill>
                <a:ea typeface="微软雅黑" panose="020B0503020204020204" charset="-122"/>
              </a:rPr>
              <a:t>文本切割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BAC78385-F70F-4202-7B02-4DABA3AE8514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068DF8-352D-316F-AAA6-9130D467DC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31" y="828201"/>
            <a:ext cx="4639368" cy="32296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701637-8053-4A1E-F2A3-7F034B06A9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31" y="4191000"/>
            <a:ext cx="3954414" cy="21743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BAF5BDC-E7D3-010D-E765-D7212CA0CBFD}"/>
              </a:ext>
            </a:extLst>
          </p:cNvPr>
          <p:cNvSpPr txBox="1"/>
          <p:nvPr/>
        </p:nvSpPr>
        <p:spPr>
          <a:xfrm>
            <a:off x="5867400" y="1923829"/>
            <a:ext cx="58958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读取整理好的</a:t>
            </a:r>
            <a:r>
              <a:rPr lang="en-US" altLang="zh-CN" dirty="0"/>
              <a:t>Markdown</a:t>
            </a:r>
            <a:r>
              <a:rPr lang="zh-CN" altLang="en-US" dirty="0"/>
              <a:t>文件，按照各级标题</a:t>
            </a:r>
            <a:r>
              <a:rPr lang="zh-CN" altLang="en-US" sz="2400" b="1" dirty="0">
                <a:solidFill>
                  <a:srgbClr val="FF0000"/>
                </a:solidFill>
              </a:rPr>
              <a:t>初次切分</a:t>
            </a:r>
            <a:r>
              <a:rPr lang="zh-CN" altLang="en-US" dirty="0"/>
              <a:t>，保留原始章节元数据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74FF60-3138-A59B-0E35-914A3B575DB8}"/>
              </a:ext>
            </a:extLst>
          </p:cNvPr>
          <p:cNvSpPr txBox="1"/>
          <p:nvPr/>
        </p:nvSpPr>
        <p:spPr>
          <a:xfrm>
            <a:off x="6096000" y="4800600"/>
            <a:ext cx="56672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对较长文本块</a:t>
            </a:r>
            <a:r>
              <a:rPr lang="zh-CN" altLang="en-US" sz="2400" b="1" dirty="0">
                <a:solidFill>
                  <a:srgbClr val="FF0000"/>
                </a:solidFill>
              </a:rPr>
              <a:t>二次切分</a:t>
            </a:r>
            <a:r>
              <a:rPr lang="zh-CN" altLang="en-US" dirty="0"/>
              <a:t>既保证语义完整性， 提升检索命中率，又适配小模型上下文窗口。</a:t>
            </a:r>
          </a:p>
        </p:txBody>
      </p:sp>
    </p:spTree>
    <p:extLst>
      <p:ext uri="{BB962C8B-B14F-4D97-AF65-F5344CB8AC3E}">
        <p14:creationId xmlns:p14="http://schemas.microsoft.com/office/powerpoint/2010/main" val="3395193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5099-8D21-AE23-6DE0-3CC60A82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33B5C0-8543-EA4D-9D3A-4D8F106C7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98184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文本向量化入库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496CF057-832A-88FC-69C2-5E87F877F9E2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B7FA17-29B9-7CD1-E27B-A0B9A576C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0600"/>
            <a:ext cx="4285520" cy="21706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5C07E3-EBF2-CD6F-8D1D-1613FBF23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350362"/>
            <a:ext cx="5213628" cy="28553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60ED88-F024-415C-7B5C-7547E9C9355A}"/>
              </a:ext>
            </a:extLst>
          </p:cNvPr>
          <p:cNvSpPr txBox="1"/>
          <p:nvPr/>
        </p:nvSpPr>
        <p:spPr>
          <a:xfrm>
            <a:off x="5715000" y="1743464"/>
            <a:ext cx="6094562" cy="6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dirty="0"/>
              <a:t>调用本地</a:t>
            </a:r>
            <a:r>
              <a:rPr lang="en-US" altLang="zh-CN" dirty="0"/>
              <a:t>Ollama</a:t>
            </a:r>
            <a:r>
              <a:rPr lang="zh-CN" altLang="en-US" dirty="0"/>
              <a:t>嵌入模型，将文本块</a:t>
            </a:r>
            <a:r>
              <a:rPr lang="zh-CN" altLang="en-US" sz="2400" b="1" dirty="0">
                <a:solidFill>
                  <a:srgbClr val="FF0000"/>
                </a:solidFill>
              </a:rPr>
              <a:t>转化为向量</a:t>
            </a:r>
            <a:r>
              <a:rPr lang="zh-CN" altLang="en-US" dirty="0"/>
              <a:t>并存入向量数据库。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6A569F-D296-4254-63CF-9A960B93A485}"/>
              </a:ext>
            </a:extLst>
          </p:cNvPr>
          <p:cNvSpPr txBox="1"/>
          <p:nvPr/>
        </p:nvSpPr>
        <p:spPr>
          <a:xfrm>
            <a:off x="6119004" y="4346193"/>
            <a:ext cx="4633256" cy="38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dirty="0"/>
              <a:t>每一百条向量储存一次，</a:t>
            </a:r>
            <a:r>
              <a:rPr lang="zh-CN" altLang="en-US" sz="2400" b="1" dirty="0">
                <a:solidFill>
                  <a:srgbClr val="FF0000"/>
                </a:solidFill>
              </a:rPr>
              <a:t>防止内存不足</a:t>
            </a:r>
          </a:p>
        </p:txBody>
      </p:sp>
    </p:spTree>
    <p:extLst>
      <p:ext uri="{BB962C8B-B14F-4D97-AF65-F5344CB8AC3E}">
        <p14:creationId xmlns:p14="http://schemas.microsoft.com/office/powerpoint/2010/main" val="911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20F1-D080-DCE6-E902-1FB190A9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09EA86-AD9C-AF4B-BA23-07CE73CC1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79134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检索和重排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7D06DAFF-A8C5-AF43-8EBE-BF56E4E6CDE3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EF48C9-0FDA-7C71-420D-75435C165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5887856" cy="36128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B27525-735B-5E5B-0427-A8E1D909E80E}"/>
              </a:ext>
            </a:extLst>
          </p:cNvPr>
          <p:cNvSpPr txBox="1"/>
          <p:nvPr/>
        </p:nvSpPr>
        <p:spPr>
          <a:xfrm>
            <a:off x="6917797" y="2570752"/>
            <a:ext cx="4633256" cy="1735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dirty="0"/>
              <a:t>根据用户的问题，在向量库中寻找</a:t>
            </a:r>
            <a:r>
              <a:rPr lang="zh-CN" altLang="en-US" sz="2400" b="1" dirty="0">
                <a:solidFill>
                  <a:srgbClr val="FF0000"/>
                </a:solidFill>
              </a:rPr>
              <a:t>匹配的向量文本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dirty="0"/>
              <a:t>对检索结果按定义、定理等关键词进行加权重排，确保</a:t>
            </a:r>
            <a:r>
              <a:rPr lang="zh-CN" altLang="en-US" sz="2400" b="1" dirty="0">
                <a:solidFill>
                  <a:srgbClr val="FF0000"/>
                </a:solidFill>
              </a:rPr>
              <a:t>核心知识优先被调用。</a:t>
            </a:r>
          </a:p>
        </p:txBody>
      </p:sp>
    </p:spTree>
    <p:extLst>
      <p:ext uri="{BB962C8B-B14F-4D97-AF65-F5344CB8AC3E}">
        <p14:creationId xmlns:p14="http://schemas.microsoft.com/office/powerpoint/2010/main" val="1224460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DE32-4B03-E0AE-6C45-5402AB20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588E19-AF04-B1C5-5FE3-448CCA248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110376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——prompt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和模型调用（有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ED5D2CE1-201C-593A-83A3-5E8EF6011C9D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1D6B52-CAB7-7149-CE64-FFF332227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58" y="924002"/>
            <a:ext cx="5909836" cy="24287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F7A1BE-8625-75D5-A57B-71905E5451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58" y="3505200"/>
            <a:ext cx="4983720" cy="26882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F891B4C-2911-BD77-2A02-1E32398A8957}"/>
              </a:ext>
            </a:extLst>
          </p:cNvPr>
          <p:cNvSpPr txBox="1"/>
          <p:nvPr/>
        </p:nvSpPr>
        <p:spPr>
          <a:xfrm>
            <a:off x="6644344" y="3182034"/>
            <a:ext cx="51801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将检索到的课本内容</a:t>
            </a:r>
            <a:r>
              <a:rPr lang="zh-CN" altLang="en-US" sz="2400" b="1" dirty="0">
                <a:solidFill>
                  <a:srgbClr val="FF0000"/>
                </a:solidFill>
              </a:rPr>
              <a:t>注入提示词</a:t>
            </a:r>
            <a:r>
              <a:rPr lang="zh-CN" altLang="en-US" dirty="0"/>
              <a:t>，约束模型基于课内知识生成答案</a:t>
            </a:r>
          </a:p>
        </p:txBody>
      </p:sp>
    </p:spTree>
    <p:extLst>
      <p:ext uri="{BB962C8B-B14F-4D97-AF65-F5344CB8AC3E}">
        <p14:creationId xmlns:p14="http://schemas.microsoft.com/office/powerpoint/2010/main" val="1300456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5630-B480-D0EF-2EAF-86C1786C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4455E4-2B03-3BA4-9569-ABF40F905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110376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——prompt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和模型调用（无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EBDD4AD-202C-DF37-1515-C7568C54B04E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1FA2E3-EA3D-83A6-FFC0-D564011AF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600200"/>
            <a:ext cx="6553200" cy="21433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597D7D8-9D0A-63D0-15F0-B5415489C3A3}"/>
              </a:ext>
            </a:extLst>
          </p:cNvPr>
          <p:cNvSpPr txBox="1"/>
          <p:nvPr/>
        </p:nvSpPr>
        <p:spPr>
          <a:xfrm>
            <a:off x="5257800" y="4679728"/>
            <a:ext cx="60945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直接提问</a:t>
            </a:r>
            <a:r>
              <a:rPr lang="zh-CN" altLang="en-US" dirty="0"/>
              <a:t>大模型，作为对照组以验证知识库对抑制幻觉的实际效果。</a:t>
            </a:r>
          </a:p>
        </p:txBody>
      </p:sp>
    </p:spTree>
    <p:extLst>
      <p:ext uri="{BB962C8B-B14F-4D97-AF65-F5344CB8AC3E}">
        <p14:creationId xmlns:p14="http://schemas.microsoft.com/office/powerpoint/2010/main" val="422870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FD1D-DB84-BF77-7223-FF962BEF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B02978-43AA-410F-F13D-E8C8C75B5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88278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课题研究的具体过程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大模型的运行和输出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44F5338D-EE6B-BA6C-7584-ABF5FC2D79A2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C96FCF-AC77-977F-B256-05E94654F8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5999"/>
            <a:ext cx="3892292" cy="24539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A6309D-1873-3D5F-ED38-B3DFDEABA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74" y="3304418"/>
            <a:ext cx="4071690" cy="24026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83668D-8704-2B69-C59A-11310CE491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800734"/>
            <a:ext cx="3546310" cy="8040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C8D4B8-2B35-41ED-5545-1A71CE2DF4BF}"/>
              </a:ext>
            </a:extLst>
          </p:cNvPr>
          <p:cNvSpPr txBox="1"/>
          <p:nvPr/>
        </p:nvSpPr>
        <p:spPr>
          <a:xfrm>
            <a:off x="5105400" y="4038600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自动将模型回答与耗时记录存入</a:t>
            </a:r>
            <a:r>
              <a:rPr lang="en-US" altLang="zh-CN" dirty="0"/>
              <a:t>CSV</a:t>
            </a:r>
            <a:r>
              <a:rPr lang="zh-CN" altLang="en-US" dirty="0"/>
              <a:t>文件，便于后续量化对比分析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C67967-FDEF-8D95-2386-7552F4EB720A}"/>
              </a:ext>
            </a:extLst>
          </p:cNvPr>
          <p:cNvSpPr txBox="1"/>
          <p:nvPr/>
        </p:nvSpPr>
        <p:spPr>
          <a:xfrm>
            <a:off x="5334000" y="193832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正式将问题输入模型，观察结果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8482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7"/>
            <a:chOff x="0" y="0"/>
            <a:chExt cx="12192000" cy="68579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" y="0"/>
              <a:ext cx="12188951" cy="68579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45280" y="1537716"/>
              <a:ext cx="8046720" cy="3190240"/>
            </a:xfrm>
            <a:custGeom>
              <a:avLst/>
              <a:gdLst/>
              <a:ahLst/>
              <a:cxnLst/>
              <a:rect l="l" t="t" r="r" b="b"/>
              <a:pathLst>
                <a:path w="8046720" h="3190240">
                  <a:moveTo>
                    <a:pt x="0" y="3189731"/>
                  </a:moveTo>
                  <a:lnTo>
                    <a:pt x="8046720" y="3189731"/>
                  </a:lnTo>
                  <a:lnTo>
                    <a:pt x="8046720" y="0"/>
                  </a:lnTo>
                  <a:lnTo>
                    <a:pt x="0" y="0"/>
                  </a:lnTo>
                  <a:lnTo>
                    <a:pt x="0" y="3189731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00" y="2255596"/>
              <a:ext cx="7752588" cy="25907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2031" y="4523307"/>
              <a:ext cx="3934967" cy="2087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503" y="51815"/>
              <a:ext cx="2170176" cy="7117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041135"/>
              <a:ext cx="12167615" cy="413004"/>
            </a:xfrm>
            <a:prstGeom prst="rect">
              <a:avLst/>
            </a:prstGeom>
          </p:spPr>
        </p:pic>
      </p:grpSp>
      <p:sp>
        <p:nvSpPr>
          <p:cNvPr id="16" name="矩形 15"/>
          <p:cNvSpPr/>
          <p:nvPr/>
        </p:nvSpPr>
        <p:spPr>
          <a:xfrm>
            <a:off x="4464784" y="3135320"/>
            <a:ext cx="326243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BE322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研究结论</a:t>
            </a:r>
          </a:p>
        </p:txBody>
      </p:sp>
      <p:sp>
        <p:nvSpPr>
          <p:cNvPr id="22" name="Oval 8"/>
          <p:cNvSpPr>
            <a:spLocks noChangeArrowheads="1"/>
          </p:cNvSpPr>
          <p:nvPr/>
        </p:nvSpPr>
        <p:spPr bwMode="auto">
          <a:xfrm>
            <a:off x="5155406" y="947986"/>
            <a:ext cx="1881187" cy="1887026"/>
          </a:xfrm>
          <a:prstGeom prst="ellipse">
            <a:avLst/>
          </a:prstGeom>
          <a:noFill/>
          <a:ln w="57150">
            <a:solidFill>
              <a:srgbClr val="C00000"/>
            </a:solidFill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7500" b="1" spc="-3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04</a:t>
            </a:r>
            <a:endParaRPr lang="zh-CN" altLang="en-US" sz="7500" b="1" spc="-3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B465-4802-0254-1706-F36BFBD0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6EAB70-8F9E-5E9E-B2DC-1E824173A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425582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</a:t>
            </a:r>
            <a:r>
              <a:rPr lang="zh-CN" altLang="en-US" sz="3200" dirty="0">
                <a:solidFill>
                  <a:srgbClr val="FFFFFF"/>
                </a:solidFill>
                <a:ea typeface="微软雅黑" panose="020B0503020204020204" charset="-122"/>
              </a:rPr>
              <a:t>成果和结论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B5BF0BA-ECCA-B670-59C1-9BBA0565874E}"/>
              </a:ext>
            </a:extLst>
          </p:cNvPr>
          <p:cNvGrpSpPr/>
          <p:nvPr/>
        </p:nvGrpSpPr>
        <p:grpSpPr>
          <a:xfrm>
            <a:off x="1600200" y="1828800"/>
            <a:ext cx="3642782" cy="3472498"/>
            <a:chOff x="4790018" y="3702052"/>
            <a:chExt cx="2535768" cy="2417232"/>
          </a:xfrm>
        </p:grpSpPr>
        <p:grpSp>
          <p:nvGrpSpPr>
            <p:cNvPr id="33" name="Group 154">
              <a:extLst>
                <a:ext uri="{FF2B5EF4-FFF2-40B4-BE49-F238E27FC236}">
                  <a16:creationId xmlns:a16="http://schemas.microsoft.com/office/drawing/2014/main" id="{39E9D450-E4E6-F28A-8394-FC01E3CF4631}"/>
                </a:ext>
              </a:extLst>
            </p:cNvPr>
            <p:cNvGrpSpPr/>
            <p:nvPr/>
          </p:nvGrpSpPr>
          <p:grpSpPr>
            <a:xfrm>
              <a:off x="5069418" y="3702052"/>
              <a:ext cx="1119717" cy="2406649"/>
              <a:chOff x="3802063" y="2776538"/>
              <a:chExt cx="839788" cy="1804987"/>
            </a:xfrm>
            <a:solidFill>
              <a:schemeClr val="accent1"/>
            </a:solidFill>
          </p:grpSpPr>
          <p:sp>
            <p:nvSpPr>
              <p:cNvPr id="37" name="Freeform 31">
                <a:extLst>
                  <a:ext uri="{FF2B5EF4-FFF2-40B4-BE49-F238E27FC236}">
                    <a16:creationId xmlns:a16="http://schemas.microsoft.com/office/drawing/2014/main" id="{A3AEB3E7-ADE9-2DFE-A51B-CCE0E2DD23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3813" y="2776538"/>
                <a:ext cx="425450" cy="425450"/>
              </a:xfrm>
              <a:custGeom>
                <a:avLst/>
                <a:gdLst/>
                <a:ahLst/>
                <a:cxnLst>
                  <a:cxn ang="0">
                    <a:pos x="96" y="193"/>
                  </a:cxn>
                  <a:cxn ang="0">
                    <a:pos x="193" y="96"/>
                  </a:cxn>
                  <a:cxn ang="0">
                    <a:pos x="96" y="0"/>
                  </a:cxn>
                  <a:cxn ang="0">
                    <a:pos x="0" y="96"/>
                  </a:cxn>
                  <a:cxn ang="0">
                    <a:pos x="96" y="193"/>
                  </a:cxn>
                  <a:cxn ang="0">
                    <a:pos x="96" y="193"/>
                  </a:cxn>
                  <a:cxn ang="0">
                    <a:pos x="96" y="193"/>
                  </a:cxn>
                </a:cxnLst>
                <a:rect l="0" t="0" r="r" b="b"/>
                <a:pathLst>
                  <a:path w="193" h="193">
                    <a:moveTo>
                      <a:pt x="96" y="193"/>
                    </a:moveTo>
                    <a:cubicBezTo>
                      <a:pt x="150" y="193"/>
                      <a:pt x="193" y="150"/>
                      <a:pt x="193" y="96"/>
                    </a:cubicBezTo>
                    <a:cubicBezTo>
                      <a:pt x="193" y="43"/>
                      <a:pt x="150" y="0"/>
                      <a:pt x="96" y="0"/>
                    </a:cubicBezTo>
                    <a:cubicBezTo>
                      <a:pt x="43" y="0"/>
                      <a:pt x="0" y="43"/>
                      <a:pt x="0" y="96"/>
                    </a:cubicBezTo>
                    <a:cubicBezTo>
                      <a:pt x="0" y="150"/>
                      <a:pt x="43" y="193"/>
                      <a:pt x="96" y="193"/>
                    </a:cubicBezTo>
                    <a:close/>
                    <a:moveTo>
                      <a:pt x="96" y="193"/>
                    </a:moveTo>
                    <a:cubicBezTo>
                      <a:pt x="96" y="193"/>
                      <a:pt x="96" y="193"/>
                      <a:pt x="96" y="193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375410"/>
                <a:endParaRPr lang="en-US" sz="2665">
                  <a:solidFill>
                    <a:srgbClr val="262626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Freeform 32">
                <a:extLst>
                  <a:ext uri="{FF2B5EF4-FFF2-40B4-BE49-F238E27FC236}">
                    <a16:creationId xmlns:a16="http://schemas.microsoft.com/office/drawing/2014/main" id="{6F66E169-D1F5-2782-74B7-0492429974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2063" y="3208338"/>
                <a:ext cx="839788" cy="1373187"/>
              </a:xfrm>
              <a:custGeom>
                <a:avLst/>
                <a:gdLst/>
                <a:ahLst/>
                <a:cxnLst>
                  <a:cxn ang="0">
                    <a:pos x="298" y="315"/>
                  </a:cxn>
                  <a:cxn ang="0">
                    <a:pos x="254" y="276"/>
                  </a:cxn>
                  <a:cxn ang="0">
                    <a:pos x="254" y="276"/>
                  </a:cxn>
                  <a:cxn ang="0">
                    <a:pos x="177" y="276"/>
                  </a:cxn>
                  <a:cxn ang="0">
                    <a:pos x="177" y="170"/>
                  </a:cxn>
                  <a:cxn ang="0">
                    <a:pos x="270" y="207"/>
                  </a:cxn>
                  <a:cxn ang="0">
                    <a:pos x="351" y="190"/>
                  </a:cxn>
                  <a:cxn ang="0">
                    <a:pos x="372" y="141"/>
                  </a:cxn>
                  <a:cxn ang="0">
                    <a:pos x="324" y="120"/>
                  </a:cxn>
                  <a:cxn ang="0">
                    <a:pos x="167" y="42"/>
                  </a:cxn>
                  <a:cxn ang="0">
                    <a:pos x="167" y="41"/>
                  </a:cxn>
                  <a:cxn ang="0">
                    <a:pos x="110" y="3"/>
                  </a:cxn>
                  <a:cxn ang="0">
                    <a:pos x="89" y="0"/>
                  </a:cxn>
                  <a:cxn ang="0">
                    <a:pos x="67" y="3"/>
                  </a:cxn>
                  <a:cxn ang="0">
                    <a:pos x="67" y="3"/>
                  </a:cxn>
                  <a:cxn ang="0">
                    <a:pos x="0" y="77"/>
                  </a:cxn>
                  <a:cxn ang="0">
                    <a:pos x="0" y="290"/>
                  </a:cxn>
                  <a:cxn ang="0">
                    <a:pos x="89" y="365"/>
                  </a:cxn>
                  <a:cxn ang="0">
                    <a:pos x="96" y="364"/>
                  </a:cxn>
                  <a:cxn ang="0">
                    <a:pos x="215" y="364"/>
                  </a:cxn>
                  <a:cxn ang="0">
                    <a:pos x="240" y="583"/>
                  </a:cxn>
                  <a:cxn ang="0">
                    <a:pos x="284" y="622"/>
                  </a:cxn>
                  <a:cxn ang="0">
                    <a:pos x="289" y="622"/>
                  </a:cxn>
                  <a:cxn ang="0">
                    <a:pos x="328" y="573"/>
                  </a:cxn>
                  <a:cxn ang="0">
                    <a:pos x="298" y="315"/>
                  </a:cxn>
                  <a:cxn ang="0">
                    <a:pos x="298" y="315"/>
                  </a:cxn>
                  <a:cxn ang="0">
                    <a:pos x="298" y="315"/>
                  </a:cxn>
                </a:cxnLst>
                <a:rect l="0" t="0" r="r" b="b"/>
                <a:pathLst>
                  <a:path w="380" h="622">
                    <a:moveTo>
                      <a:pt x="298" y="315"/>
                    </a:moveTo>
                    <a:cubicBezTo>
                      <a:pt x="295" y="292"/>
                      <a:pt x="276" y="276"/>
                      <a:pt x="254" y="276"/>
                    </a:cubicBezTo>
                    <a:cubicBezTo>
                      <a:pt x="254" y="276"/>
                      <a:pt x="254" y="276"/>
                      <a:pt x="254" y="276"/>
                    </a:cubicBezTo>
                    <a:cubicBezTo>
                      <a:pt x="177" y="276"/>
                      <a:pt x="177" y="276"/>
                      <a:pt x="177" y="276"/>
                    </a:cubicBezTo>
                    <a:cubicBezTo>
                      <a:pt x="177" y="170"/>
                      <a:pt x="177" y="170"/>
                      <a:pt x="177" y="170"/>
                    </a:cubicBezTo>
                    <a:cubicBezTo>
                      <a:pt x="203" y="193"/>
                      <a:pt x="232" y="207"/>
                      <a:pt x="270" y="207"/>
                    </a:cubicBezTo>
                    <a:cubicBezTo>
                      <a:pt x="293" y="207"/>
                      <a:pt x="320" y="202"/>
                      <a:pt x="351" y="190"/>
                    </a:cubicBezTo>
                    <a:cubicBezTo>
                      <a:pt x="370" y="182"/>
                      <a:pt x="380" y="161"/>
                      <a:pt x="372" y="141"/>
                    </a:cubicBezTo>
                    <a:cubicBezTo>
                      <a:pt x="365" y="122"/>
                      <a:pt x="343" y="113"/>
                      <a:pt x="324" y="120"/>
                    </a:cubicBezTo>
                    <a:cubicBezTo>
                      <a:pt x="248" y="149"/>
                      <a:pt x="233" y="133"/>
                      <a:pt x="167" y="42"/>
                    </a:cubicBezTo>
                    <a:cubicBezTo>
                      <a:pt x="167" y="42"/>
                      <a:pt x="167" y="42"/>
                      <a:pt x="167" y="41"/>
                    </a:cubicBezTo>
                    <a:cubicBezTo>
                      <a:pt x="154" y="22"/>
                      <a:pt x="132" y="8"/>
                      <a:pt x="110" y="3"/>
                    </a:cubicBezTo>
                    <a:cubicBezTo>
                      <a:pt x="110" y="3"/>
                      <a:pt x="100" y="0"/>
                      <a:pt x="89" y="0"/>
                    </a:cubicBezTo>
                    <a:cubicBezTo>
                      <a:pt x="79" y="0"/>
                      <a:pt x="67" y="3"/>
                      <a:pt x="67" y="3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35" y="11"/>
                      <a:pt x="0" y="37"/>
                      <a:pt x="0" y="77"/>
                    </a:cubicBezTo>
                    <a:cubicBezTo>
                      <a:pt x="0" y="290"/>
                      <a:pt x="0" y="290"/>
                      <a:pt x="0" y="290"/>
                    </a:cubicBezTo>
                    <a:cubicBezTo>
                      <a:pt x="0" y="336"/>
                      <a:pt x="46" y="365"/>
                      <a:pt x="89" y="365"/>
                    </a:cubicBezTo>
                    <a:cubicBezTo>
                      <a:pt x="91" y="365"/>
                      <a:pt x="93" y="364"/>
                      <a:pt x="96" y="364"/>
                    </a:cubicBezTo>
                    <a:cubicBezTo>
                      <a:pt x="215" y="364"/>
                      <a:pt x="215" y="364"/>
                      <a:pt x="215" y="364"/>
                    </a:cubicBez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42" y="605"/>
                      <a:pt x="262" y="622"/>
                      <a:pt x="284" y="622"/>
                    </a:cubicBezTo>
                    <a:cubicBezTo>
                      <a:pt x="285" y="622"/>
                      <a:pt x="287" y="622"/>
                      <a:pt x="289" y="622"/>
                    </a:cubicBezTo>
                    <a:cubicBezTo>
                      <a:pt x="313" y="619"/>
                      <a:pt x="331" y="597"/>
                      <a:pt x="328" y="573"/>
                    </a:cubicBezTo>
                    <a:lnTo>
                      <a:pt x="298" y="315"/>
                    </a:lnTo>
                    <a:close/>
                    <a:moveTo>
                      <a:pt x="298" y="315"/>
                    </a:moveTo>
                    <a:cubicBezTo>
                      <a:pt x="298" y="315"/>
                      <a:pt x="298" y="315"/>
                      <a:pt x="298" y="315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375410"/>
                <a:endParaRPr lang="en-US" sz="2665">
                  <a:solidFill>
                    <a:srgbClr val="262626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45190E6-C135-F00B-7F0D-3EB3AA999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90018" y="4400551"/>
              <a:ext cx="878417" cy="1718733"/>
            </a:xfrm>
            <a:custGeom>
              <a:avLst/>
              <a:gdLst/>
              <a:ahLst/>
              <a:cxnLst>
                <a:cxn ang="0">
                  <a:pos x="298" y="372"/>
                </a:cxn>
                <a:cxn ang="0">
                  <a:pos x="260" y="335"/>
                </a:cxn>
                <a:cxn ang="0">
                  <a:pos x="75" y="335"/>
                </a:cxn>
                <a:cxn ang="0">
                  <a:pos x="75" y="38"/>
                </a:cxn>
                <a:cxn ang="0">
                  <a:pos x="38" y="0"/>
                </a:cxn>
                <a:cxn ang="0">
                  <a:pos x="0" y="38"/>
                </a:cxn>
                <a:cxn ang="0">
                  <a:pos x="0" y="372"/>
                </a:cxn>
                <a:cxn ang="0">
                  <a:pos x="19" y="405"/>
                </a:cxn>
                <a:cxn ang="0">
                  <a:pos x="8" y="448"/>
                </a:cxn>
                <a:cxn ang="0">
                  <a:pos x="8" y="552"/>
                </a:cxn>
                <a:cxn ang="0">
                  <a:pos x="39" y="584"/>
                </a:cxn>
                <a:cxn ang="0">
                  <a:pos x="70" y="552"/>
                </a:cxn>
                <a:cxn ang="0">
                  <a:pos x="70" y="448"/>
                </a:cxn>
                <a:cxn ang="0">
                  <a:pos x="96" y="422"/>
                </a:cxn>
                <a:cxn ang="0">
                  <a:pos x="201" y="422"/>
                </a:cxn>
                <a:cxn ang="0">
                  <a:pos x="226" y="448"/>
                </a:cxn>
                <a:cxn ang="0">
                  <a:pos x="226" y="552"/>
                </a:cxn>
                <a:cxn ang="0">
                  <a:pos x="258" y="584"/>
                </a:cxn>
                <a:cxn ang="0">
                  <a:pos x="289" y="552"/>
                </a:cxn>
                <a:cxn ang="0">
                  <a:pos x="289" y="448"/>
                </a:cxn>
                <a:cxn ang="0">
                  <a:pos x="278" y="405"/>
                </a:cxn>
                <a:cxn ang="0">
                  <a:pos x="298" y="372"/>
                </a:cxn>
                <a:cxn ang="0">
                  <a:pos x="298" y="372"/>
                </a:cxn>
                <a:cxn ang="0">
                  <a:pos x="298" y="372"/>
                </a:cxn>
              </a:cxnLst>
              <a:rect l="0" t="0" r="r" b="b"/>
              <a:pathLst>
                <a:path w="298" h="584">
                  <a:moveTo>
                    <a:pt x="298" y="372"/>
                  </a:moveTo>
                  <a:cubicBezTo>
                    <a:pt x="298" y="352"/>
                    <a:pt x="281" y="335"/>
                    <a:pt x="260" y="335"/>
                  </a:cubicBezTo>
                  <a:cubicBezTo>
                    <a:pt x="75" y="335"/>
                    <a:pt x="75" y="335"/>
                    <a:pt x="75" y="335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5" y="17"/>
                    <a:pt x="59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386"/>
                    <a:pt x="8" y="398"/>
                    <a:pt x="19" y="405"/>
                  </a:cubicBezTo>
                  <a:cubicBezTo>
                    <a:pt x="12" y="417"/>
                    <a:pt x="8" y="432"/>
                    <a:pt x="8" y="448"/>
                  </a:cubicBezTo>
                  <a:cubicBezTo>
                    <a:pt x="8" y="552"/>
                    <a:pt x="8" y="552"/>
                    <a:pt x="8" y="552"/>
                  </a:cubicBezTo>
                  <a:cubicBezTo>
                    <a:pt x="8" y="570"/>
                    <a:pt x="22" y="584"/>
                    <a:pt x="39" y="584"/>
                  </a:cubicBezTo>
                  <a:cubicBezTo>
                    <a:pt x="56" y="584"/>
                    <a:pt x="70" y="570"/>
                    <a:pt x="70" y="552"/>
                  </a:cubicBezTo>
                  <a:cubicBezTo>
                    <a:pt x="70" y="448"/>
                    <a:pt x="70" y="448"/>
                    <a:pt x="70" y="448"/>
                  </a:cubicBezTo>
                  <a:cubicBezTo>
                    <a:pt x="70" y="433"/>
                    <a:pt x="82" y="422"/>
                    <a:pt x="96" y="422"/>
                  </a:cubicBezTo>
                  <a:cubicBezTo>
                    <a:pt x="201" y="422"/>
                    <a:pt x="201" y="422"/>
                    <a:pt x="201" y="422"/>
                  </a:cubicBezTo>
                  <a:cubicBezTo>
                    <a:pt x="215" y="422"/>
                    <a:pt x="226" y="433"/>
                    <a:pt x="226" y="448"/>
                  </a:cubicBezTo>
                  <a:cubicBezTo>
                    <a:pt x="226" y="552"/>
                    <a:pt x="226" y="552"/>
                    <a:pt x="226" y="552"/>
                  </a:cubicBezTo>
                  <a:cubicBezTo>
                    <a:pt x="226" y="570"/>
                    <a:pt x="240" y="584"/>
                    <a:pt x="258" y="584"/>
                  </a:cubicBezTo>
                  <a:cubicBezTo>
                    <a:pt x="275" y="584"/>
                    <a:pt x="289" y="570"/>
                    <a:pt x="289" y="552"/>
                  </a:cubicBezTo>
                  <a:cubicBezTo>
                    <a:pt x="289" y="448"/>
                    <a:pt x="289" y="448"/>
                    <a:pt x="289" y="448"/>
                  </a:cubicBezTo>
                  <a:cubicBezTo>
                    <a:pt x="289" y="432"/>
                    <a:pt x="285" y="418"/>
                    <a:pt x="278" y="405"/>
                  </a:cubicBezTo>
                  <a:cubicBezTo>
                    <a:pt x="290" y="399"/>
                    <a:pt x="298" y="387"/>
                    <a:pt x="298" y="372"/>
                  </a:cubicBezTo>
                  <a:close/>
                  <a:moveTo>
                    <a:pt x="298" y="372"/>
                  </a:moveTo>
                  <a:cubicBezTo>
                    <a:pt x="298" y="372"/>
                    <a:pt x="298" y="372"/>
                    <a:pt x="298" y="372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cs typeface="+mn-ea"/>
                <a:sym typeface="+mn-lt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3B97D38-4F74-157B-17A9-410D072124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88569" y="4910668"/>
              <a:ext cx="1437217" cy="1147233"/>
            </a:xfrm>
            <a:custGeom>
              <a:avLst/>
              <a:gdLst/>
              <a:ahLst/>
              <a:cxnLst>
                <a:cxn ang="0">
                  <a:pos x="452" y="0"/>
                </a:cxn>
                <a:cxn ang="0">
                  <a:pos x="36" y="0"/>
                </a:cxn>
                <a:cxn ang="0">
                  <a:pos x="0" y="36"/>
                </a:cxn>
                <a:cxn ang="0">
                  <a:pos x="36" y="72"/>
                </a:cxn>
                <a:cxn ang="0">
                  <a:pos x="85" y="72"/>
                </a:cxn>
                <a:cxn ang="0">
                  <a:pos x="85" y="390"/>
                </a:cxn>
                <a:cxn ang="0">
                  <a:pos x="403" y="390"/>
                </a:cxn>
                <a:cxn ang="0">
                  <a:pos x="403" y="72"/>
                </a:cxn>
                <a:cxn ang="0">
                  <a:pos x="452" y="72"/>
                </a:cxn>
                <a:cxn ang="0">
                  <a:pos x="488" y="36"/>
                </a:cxn>
                <a:cxn ang="0">
                  <a:pos x="452" y="0"/>
                </a:cxn>
                <a:cxn ang="0">
                  <a:pos x="452" y="0"/>
                </a:cxn>
                <a:cxn ang="0">
                  <a:pos x="452" y="0"/>
                </a:cxn>
              </a:cxnLst>
              <a:rect l="0" t="0" r="r" b="b"/>
              <a:pathLst>
                <a:path w="488" h="390">
                  <a:moveTo>
                    <a:pt x="45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390"/>
                    <a:pt x="85" y="390"/>
                    <a:pt x="85" y="390"/>
                  </a:cubicBezTo>
                  <a:cubicBezTo>
                    <a:pt x="403" y="390"/>
                    <a:pt x="403" y="390"/>
                    <a:pt x="403" y="390"/>
                  </a:cubicBezTo>
                  <a:cubicBezTo>
                    <a:pt x="403" y="72"/>
                    <a:pt x="403" y="72"/>
                    <a:pt x="403" y="72"/>
                  </a:cubicBezTo>
                  <a:cubicBezTo>
                    <a:pt x="452" y="72"/>
                    <a:pt x="452" y="72"/>
                    <a:pt x="452" y="72"/>
                  </a:cubicBezTo>
                  <a:cubicBezTo>
                    <a:pt x="472" y="72"/>
                    <a:pt x="488" y="56"/>
                    <a:pt x="488" y="36"/>
                  </a:cubicBezTo>
                  <a:cubicBezTo>
                    <a:pt x="488" y="16"/>
                    <a:pt x="472" y="0"/>
                    <a:pt x="452" y="0"/>
                  </a:cubicBezTo>
                  <a:close/>
                  <a:moveTo>
                    <a:pt x="452" y="0"/>
                  </a:moveTo>
                  <a:cubicBezTo>
                    <a:pt x="452" y="0"/>
                    <a:pt x="452" y="0"/>
                    <a:pt x="452" y="0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cs typeface="+mn-ea"/>
                <a:sym typeface="+mn-lt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7A13490-C8F3-7C62-4707-53C95580D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6869" y="4089400"/>
              <a:ext cx="994833" cy="785283"/>
            </a:xfrm>
            <a:custGeom>
              <a:avLst/>
              <a:gdLst/>
              <a:ahLst/>
              <a:cxnLst>
                <a:cxn ang="0">
                  <a:pos x="264" y="145"/>
                </a:cxn>
                <a:cxn ang="0">
                  <a:pos x="236" y="236"/>
                </a:cxn>
                <a:cxn ang="0">
                  <a:pos x="16" y="236"/>
                </a:cxn>
                <a:cxn ang="0">
                  <a:pos x="0" y="252"/>
                </a:cxn>
                <a:cxn ang="0">
                  <a:pos x="16" y="267"/>
                </a:cxn>
                <a:cxn ang="0">
                  <a:pos x="248" y="267"/>
                </a:cxn>
                <a:cxn ang="0">
                  <a:pos x="262" y="256"/>
                </a:cxn>
                <a:cxn ang="0">
                  <a:pos x="335" y="22"/>
                </a:cxn>
                <a:cxn ang="0">
                  <a:pos x="325" y="3"/>
                </a:cxn>
                <a:cxn ang="0">
                  <a:pos x="305" y="13"/>
                </a:cxn>
                <a:cxn ang="0">
                  <a:pos x="264" y="145"/>
                </a:cxn>
                <a:cxn ang="0">
                  <a:pos x="281" y="92"/>
                </a:cxn>
                <a:cxn ang="0">
                  <a:pos x="274" y="114"/>
                </a:cxn>
              </a:cxnLst>
              <a:rect l="0" t="0" r="r" b="b"/>
              <a:pathLst>
                <a:path w="338" h="267">
                  <a:moveTo>
                    <a:pt x="264" y="145"/>
                  </a:moveTo>
                  <a:cubicBezTo>
                    <a:pt x="236" y="236"/>
                    <a:pt x="236" y="236"/>
                    <a:pt x="236" y="236"/>
                  </a:cubicBezTo>
                  <a:cubicBezTo>
                    <a:pt x="16" y="236"/>
                    <a:pt x="16" y="236"/>
                    <a:pt x="16" y="236"/>
                  </a:cubicBezTo>
                  <a:cubicBezTo>
                    <a:pt x="7" y="236"/>
                    <a:pt x="0" y="243"/>
                    <a:pt x="0" y="252"/>
                  </a:cubicBezTo>
                  <a:cubicBezTo>
                    <a:pt x="0" y="260"/>
                    <a:pt x="7" y="267"/>
                    <a:pt x="16" y="267"/>
                  </a:cubicBezTo>
                  <a:cubicBezTo>
                    <a:pt x="248" y="267"/>
                    <a:pt x="248" y="267"/>
                    <a:pt x="248" y="267"/>
                  </a:cubicBezTo>
                  <a:cubicBezTo>
                    <a:pt x="254" y="267"/>
                    <a:pt x="260" y="263"/>
                    <a:pt x="262" y="256"/>
                  </a:cubicBezTo>
                  <a:cubicBezTo>
                    <a:pt x="335" y="22"/>
                    <a:pt x="335" y="22"/>
                    <a:pt x="335" y="22"/>
                  </a:cubicBezTo>
                  <a:cubicBezTo>
                    <a:pt x="338" y="14"/>
                    <a:pt x="333" y="5"/>
                    <a:pt x="325" y="3"/>
                  </a:cubicBezTo>
                  <a:cubicBezTo>
                    <a:pt x="317" y="0"/>
                    <a:pt x="308" y="5"/>
                    <a:pt x="305" y="13"/>
                  </a:cubicBezTo>
                  <a:cubicBezTo>
                    <a:pt x="264" y="145"/>
                    <a:pt x="264" y="145"/>
                    <a:pt x="264" y="145"/>
                  </a:cubicBezTo>
                  <a:moveTo>
                    <a:pt x="281" y="92"/>
                  </a:moveTo>
                  <a:cubicBezTo>
                    <a:pt x="274" y="114"/>
                    <a:pt x="274" y="114"/>
                    <a:pt x="274" y="114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9" name="Oval 7">
            <a:extLst>
              <a:ext uri="{FF2B5EF4-FFF2-40B4-BE49-F238E27FC236}">
                <a16:creationId xmlns:a16="http://schemas.microsoft.com/office/drawing/2014/main" id="{9B6C3ABE-7E82-C869-3B7C-0B23391F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493" y="1692694"/>
            <a:ext cx="729681" cy="732089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7815492-AEE3-C8BF-2FA3-02A190296030}"/>
              </a:ext>
            </a:extLst>
          </p:cNvPr>
          <p:cNvGrpSpPr/>
          <p:nvPr/>
        </p:nvGrpSpPr>
        <p:grpSpPr>
          <a:xfrm>
            <a:off x="6793622" y="1533338"/>
            <a:ext cx="3991323" cy="975845"/>
            <a:chOff x="6821140" y="1881424"/>
            <a:chExt cx="3991323" cy="975845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8E04629-C6BB-5B74-1471-FF254AE721E3}"/>
                </a:ext>
              </a:extLst>
            </p:cNvPr>
            <p:cNvSpPr/>
            <p:nvPr/>
          </p:nvSpPr>
          <p:spPr>
            <a:xfrm>
              <a:off x="6832600" y="2340524"/>
              <a:ext cx="3979863" cy="516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成功搭建基于数学课本的轻量化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RAG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问答原型系统，集成文档解析、向量检索与大模型调用模块，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13BD97F-2528-99A3-5D11-3431F9E58B4B}"/>
                </a:ext>
              </a:extLst>
            </p:cNvPr>
            <p:cNvSpPr/>
            <p:nvPr/>
          </p:nvSpPr>
          <p:spPr>
            <a:xfrm>
              <a:off x="6821140" y="1881424"/>
              <a:ext cx="1415772" cy="497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系统成果</a:t>
              </a:r>
              <a:endParaRPr lang="en-US" altLang="zh-CN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3" name="Oval 7">
            <a:extLst>
              <a:ext uri="{FF2B5EF4-FFF2-40B4-BE49-F238E27FC236}">
                <a16:creationId xmlns:a16="http://schemas.microsoft.com/office/drawing/2014/main" id="{DB5B86EC-1849-0307-8333-40C1CBE32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493" y="3072044"/>
            <a:ext cx="729681" cy="732089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C6900F4-5757-33A9-0022-6F29300AE96E}"/>
              </a:ext>
            </a:extLst>
          </p:cNvPr>
          <p:cNvGrpSpPr/>
          <p:nvPr/>
        </p:nvGrpSpPr>
        <p:grpSpPr>
          <a:xfrm>
            <a:off x="6793622" y="2912688"/>
            <a:ext cx="3991323" cy="975845"/>
            <a:chOff x="6821140" y="1881424"/>
            <a:chExt cx="3991323" cy="975845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EA72AEE-C507-D283-9092-EE34992BA786}"/>
                </a:ext>
              </a:extLst>
            </p:cNvPr>
            <p:cNvSpPr/>
            <p:nvPr/>
          </p:nvSpPr>
          <p:spPr>
            <a:xfrm>
              <a:off x="6832600" y="2340524"/>
              <a:ext cx="3979863" cy="516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选取典型数学题与易幻觉题目开展测试，验证系统可有效抑制事实错误型幻觉，答案准确率提升。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6DF6469-3B68-32C9-BE7D-1376B6C510AB}"/>
                </a:ext>
              </a:extLst>
            </p:cNvPr>
            <p:cNvSpPr/>
            <p:nvPr/>
          </p:nvSpPr>
          <p:spPr>
            <a:xfrm>
              <a:off x="6821140" y="1881424"/>
              <a:ext cx="1415772" cy="497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实验结论</a:t>
              </a:r>
              <a:endPara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7" name="Oval 7">
            <a:extLst>
              <a:ext uri="{FF2B5EF4-FFF2-40B4-BE49-F238E27FC236}">
                <a16:creationId xmlns:a16="http://schemas.microsoft.com/office/drawing/2014/main" id="{5FAC6227-4BF9-83D2-D406-A5856AA2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493" y="4451394"/>
            <a:ext cx="729681" cy="732089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94203AF-CEB9-046E-9E05-858FB3A86A3F}"/>
              </a:ext>
            </a:extLst>
          </p:cNvPr>
          <p:cNvGrpSpPr/>
          <p:nvPr/>
        </p:nvGrpSpPr>
        <p:grpSpPr>
          <a:xfrm>
            <a:off x="6793622" y="4292038"/>
            <a:ext cx="3991323" cy="975845"/>
            <a:chOff x="6821140" y="1881424"/>
            <a:chExt cx="3991323" cy="97584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03CCAC8-4285-4B91-9F51-8E9199B35485}"/>
                </a:ext>
              </a:extLst>
            </p:cNvPr>
            <p:cNvSpPr/>
            <p:nvPr/>
          </p:nvSpPr>
          <p:spPr>
            <a:xfrm>
              <a:off x="6832600" y="2340524"/>
              <a:ext cx="3979863" cy="516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搭建了涵盖高中数学必修课本知识点的数据库，构建了适配高中课内数学的结构化标注体系。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954442B-B1BC-3106-E61B-63FF8F5F7029}"/>
                </a:ext>
              </a:extLst>
            </p:cNvPr>
            <p:cNvSpPr/>
            <p:nvPr/>
          </p:nvSpPr>
          <p:spPr>
            <a:xfrm>
              <a:off x="6821140" y="1881424"/>
              <a:ext cx="1415772" cy="497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数据成果</a:t>
              </a:r>
              <a:endParaRPr lang="en-US" altLang="zh-CN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2" name="object 11">
            <a:extLst>
              <a:ext uri="{FF2B5EF4-FFF2-40B4-BE49-F238E27FC236}">
                <a16:creationId xmlns:a16="http://schemas.microsoft.com/office/drawing/2014/main" id="{B8CAA73A-ED95-D2F0-8067-E63448EFF687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001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2E7F-9AD6-AE76-5230-AA60A56F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A74885-1B1E-FF4C-9844-EEC78C7F3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341762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典型案例对照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33B26294-044B-B60B-9AB3-691E33B5E70D}"/>
              </a:ext>
            </a:extLst>
          </p:cNvPr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FA9601-E789-6198-7753-5E4F6464B5D6}"/>
              </a:ext>
            </a:extLst>
          </p:cNvPr>
          <p:cNvSpPr txBox="1"/>
          <p:nvPr/>
        </p:nvSpPr>
        <p:spPr>
          <a:xfrm>
            <a:off x="5640572" y="297711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7849A0-8B5D-F84F-662A-76CDF2C9C042}"/>
              </a:ext>
            </a:extLst>
          </p:cNvPr>
          <p:cNvSpPr txBox="1"/>
          <p:nvPr/>
        </p:nvSpPr>
        <p:spPr>
          <a:xfrm>
            <a:off x="5716772" y="848654"/>
            <a:ext cx="635526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知识调用</a:t>
            </a:r>
            <a:r>
              <a:rPr lang="zh-CN" altLang="en-US" sz="1600" dirty="0"/>
              <a:t>：</a:t>
            </a:r>
            <a:r>
              <a:rPr lang="en-US" altLang="zh-CN" sz="1600" dirty="0"/>
              <a:t>  </a:t>
            </a:r>
            <a:endParaRPr lang="zh-CN" altLang="zh-CN" sz="1600" dirty="0">
              <a:solidFill>
                <a:srgbClr val="FF0000"/>
              </a:solidFill>
            </a:endParaRPr>
          </a:p>
          <a:p>
            <a:r>
              <a:rPr lang="zh-CN" altLang="zh-CN" sz="1600" dirty="0">
                <a:solidFill>
                  <a:srgbClr val="FF0000"/>
                </a:solidFill>
              </a:rPr>
              <a:t>我们已经知道，根据数学基本概念，设</a:t>
            </a:r>
            <a:r>
              <a:rPr lang="en-US" altLang="zh-CN" sz="1600" dirty="0">
                <a:solidFill>
                  <a:srgbClr val="FF0000"/>
                </a:solidFill>
              </a:rPr>
              <a:t> U </a:t>
            </a:r>
            <a:r>
              <a:rPr lang="zh-CN" altLang="zh-CN" sz="1600" dirty="0">
                <a:solidFill>
                  <a:srgbClr val="FF0000"/>
                </a:solidFill>
              </a:rPr>
              <a:t>为全集</a:t>
            </a:r>
            <a:r>
              <a:rPr lang="en-US" altLang="zh-CN" sz="1600" dirty="0">
                <a:solidFill>
                  <a:srgbClr val="FF0000"/>
                </a:solidFill>
              </a:rPr>
              <a:t>, A </a:t>
            </a:r>
            <a:r>
              <a:rPr lang="zh-CN" altLang="zh-CN" sz="1600" dirty="0">
                <a:solidFill>
                  <a:srgbClr val="FF0000"/>
                </a:solidFill>
              </a:rPr>
              <a:t>是</a:t>
            </a:r>
            <a:r>
              <a:rPr lang="en-US" altLang="zh-CN" sz="1600" dirty="0">
                <a:solidFill>
                  <a:srgbClr val="FF0000"/>
                </a:solidFill>
              </a:rPr>
              <a:t> U </a:t>
            </a:r>
            <a:r>
              <a:rPr lang="zh-CN" altLang="zh-CN" sz="1600" dirty="0">
                <a:solidFill>
                  <a:srgbClr val="FF0000"/>
                </a:solidFill>
              </a:rPr>
              <a:t>的子集</a:t>
            </a:r>
            <a:r>
              <a:rPr lang="en-US" altLang="zh-CN" sz="1600" dirty="0">
                <a:solidFill>
                  <a:srgbClr val="FF0000"/>
                </a:solidFill>
              </a:rPr>
              <a:t>. </a:t>
            </a:r>
            <a:r>
              <a:rPr lang="zh-CN" altLang="zh-CN" sz="1600" dirty="0">
                <a:solidFill>
                  <a:srgbClr val="FF0000"/>
                </a:solidFill>
              </a:rPr>
              <a:t>由</a:t>
            </a:r>
            <a:r>
              <a:rPr lang="en-US" altLang="zh-CN" sz="1600" dirty="0">
                <a:solidFill>
                  <a:srgbClr val="FF0000"/>
                </a:solidFill>
              </a:rPr>
              <a:t> U </a:t>
            </a:r>
            <a:r>
              <a:rPr lang="zh-CN" altLang="zh-CN" sz="1600" dirty="0">
                <a:solidFill>
                  <a:srgbClr val="FF0000"/>
                </a:solidFill>
              </a:rPr>
              <a:t>中所有不属于</a:t>
            </a:r>
            <a:r>
              <a:rPr lang="en-US" altLang="zh-CN" sz="1600" dirty="0">
                <a:solidFill>
                  <a:srgbClr val="FF0000"/>
                </a:solidFill>
              </a:rPr>
              <a:t> A </a:t>
            </a:r>
            <a:r>
              <a:rPr lang="zh-CN" altLang="zh-CN" sz="1600" dirty="0">
                <a:solidFill>
                  <a:srgbClr val="FF0000"/>
                </a:solidFill>
              </a:rPr>
              <a:t>的元素组成的集合称为集合</a:t>
            </a:r>
            <a:r>
              <a:rPr lang="en-US" altLang="zh-CN" sz="1600" dirty="0">
                <a:solidFill>
                  <a:srgbClr val="FF0000"/>
                </a:solidFill>
              </a:rPr>
              <a:t> A </a:t>
            </a:r>
            <a:r>
              <a:rPr lang="zh-CN" altLang="zh-CN" sz="1600" dirty="0">
                <a:solidFill>
                  <a:srgbClr val="FF0000"/>
                </a:solidFill>
              </a:rPr>
              <a:t>在全集</a:t>
            </a:r>
            <a:r>
              <a:rPr lang="en-US" altLang="zh-CN" sz="1600" dirty="0">
                <a:solidFill>
                  <a:srgbClr val="FF0000"/>
                </a:solidFill>
              </a:rPr>
              <a:t> U </a:t>
            </a:r>
            <a:r>
              <a:rPr lang="zh-CN" altLang="zh-CN" sz="1600" dirty="0">
                <a:solidFill>
                  <a:srgbClr val="FF0000"/>
                </a:solidFill>
              </a:rPr>
              <a:t>中的补集</a:t>
            </a:r>
            <a:r>
              <a:rPr lang="en-US" altLang="zh-CN" sz="1600" dirty="0">
                <a:solidFill>
                  <a:srgbClr val="FF0000"/>
                </a:solidFill>
              </a:rPr>
              <a:t> (complementary set), </a:t>
            </a:r>
            <a:r>
              <a:rPr lang="zh-CN" altLang="zh-CN" sz="1600" dirty="0">
                <a:solidFill>
                  <a:srgbClr val="FF0000"/>
                </a:solidFill>
              </a:rPr>
              <a:t>记作</a:t>
            </a:r>
            <a:r>
              <a:rPr lang="en-US" altLang="zh-CN" sz="1600" dirty="0">
                <a:solidFill>
                  <a:srgbClr val="FF0000"/>
                </a:solidFill>
              </a:rPr>
              <a:t> $\overline{A}$ (</a:t>
            </a:r>
            <a:r>
              <a:rPr lang="zh-CN" altLang="zh-CN" sz="1600" dirty="0">
                <a:solidFill>
                  <a:srgbClr val="FF0000"/>
                </a:solidFill>
              </a:rPr>
              <a:t>读作 “</a:t>
            </a:r>
            <a:r>
              <a:rPr lang="en-US" altLang="zh-CN" sz="1600" dirty="0">
                <a:solidFill>
                  <a:srgbClr val="FF0000"/>
                </a:solidFill>
              </a:rPr>
              <a:t>A </a:t>
            </a:r>
            <a:r>
              <a:rPr lang="zh-CN" altLang="zh-CN" sz="1600" dirty="0">
                <a:solidFill>
                  <a:srgbClr val="FF0000"/>
                </a:solidFill>
              </a:rPr>
              <a:t>补”</a:t>
            </a:r>
            <a:r>
              <a:rPr lang="en-US" altLang="zh-CN" sz="1600" dirty="0">
                <a:solidFill>
                  <a:srgbClr val="FF0000"/>
                </a:solidFill>
              </a:rPr>
              <a:t>),</a:t>
            </a:r>
            <a:endParaRPr lang="zh-CN" altLang="zh-CN" sz="1600" dirty="0">
              <a:solidFill>
                <a:srgbClr val="FF0000"/>
              </a:solidFill>
            </a:endParaRPr>
          </a:p>
          <a:p>
            <a:r>
              <a:rPr lang="zh-CN" altLang="zh-CN" sz="1600" dirty="0"/>
              <a:t>根据题目信息，我们有以下定义和公式</a:t>
            </a:r>
            <a:r>
              <a:rPr lang="zh-CN" altLang="en-US" sz="1600" dirty="0"/>
              <a:t>：</a:t>
            </a:r>
            <a:r>
              <a:rPr lang="zh-CN" altLang="zh-CN" sz="1600" dirty="0"/>
              <a:t>全集</a:t>
            </a:r>
            <a:r>
              <a:rPr lang="en-US" altLang="zh-CN" sz="1600" dirty="0"/>
              <a:t> U = {x</a:t>
            </a:r>
            <a:r>
              <a:rPr lang="zh-CN" altLang="zh-CN" sz="1600" dirty="0"/>
              <a:t>∣</a:t>
            </a:r>
            <a:r>
              <a:rPr lang="en-US" altLang="zh-CN" sz="1600" dirty="0"/>
              <a:t>2</a:t>
            </a:r>
            <a:r>
              <a:rPr lang="zh-CN" altLang="zh-CN" sz="1600" dirty="0"/>
              <a:t>≤</a:t>
            </a:r>
            <a:r>
              <a:rPr lang="en-US" altLang="zh-CN" sz="1600" dirty="0"/>
              <a:t>x</a:t>
            </a:r>
            <a:r>
              <a:rPr lang="zh-CN" altLang="zh-CN" sz="1600" dirty="0"/>
              <a:t>≤</a:t>
            </a:r>
            <a:r>
              <a:rPr lang="en-US" altLang="zh-CN" sz="1600" dirty="0"/>
              <a:t>5, x</a:t>
            </a:r>
            <a:r>
              <a:rPr lang="zh-CN" altLang="zh-CN" sz="1600" dirty="0"/>
              <a:t>∈</a:t>
            </a:r>
            <a:r>
              <a:rPr lang="en-US" altLang="zh-CN" sz="1600" dirty="0"/>
              <a:t>R} </a:t>
            </a:r>
            <a:r>
              <a:rPr lang="zh-CN" altLang="en-US" sz="1600" dirty="0"/>
              <a:t>；</a:t>
            </a:r>
            <a:r>
              <a:rPr lang="zh-CN" altLang="zh-CN" sz="1600" dirty="0"/>
              <a:t>子集</a:t>
            </a:r>
            <a:r>
              <a:rPr lang="en-US" altLang="zh-CN" sz="1600" dirty="0"/>
              <a:t> A = {x</a:t>
            </a:r>
            <a:r>
              <a:rPr lang="zh-CN" altLang="zh-CN" sz="1600" dirty="0"/>
              <a:t>∣</a:t>
            </a:r>
            <a:r>
              <a:rPr lang="en-US" altLang="zh-CN" sz="1600" dirty="0"/>
              <a:t>2</a:t>
            </a:r>
            <a:r>
              <a:rPr lang="zh-CN" altLang="zh-CN" sz="1600" dirty="0"/>
              <a:t>≤</a:t>
            </a:r>
            <a:r>
              <a:rPr lang="en-US" altLang="zh-CN" sz="1600" dirty="0"/>
              <a:t>x &lt; 4, x</a:t>
            </a:r>
            <a:r>
              <a:rPr lang="zh-CN" altLang="zh-CN" sz="1600" dirty="0"/>
              <a:t>∈</a:t>
            </a:r>
            <a:r>
              <a:rPr lang="en-US" altLang="zh-CN" sz="1600" dirty="0"/>
              <a:t>R}  </a:t>
            </a:r>
            <a:endParaRPr lang="zh-CN" altLang="zh-CN" sz="1600" dirty="0"/>
          </a:p>
          <a:p>
            <a:r>
              <a:rPr lang="en-US" altLang="zh-CN" sz="1600" dirty="0"/>
              <a:t> </a:t>
            </a:r>
            <a:endParaRPr lang="zh-CN" altLang="zh-CN" sz="1600" dirty="0"/>
          </a:p>
          <a:p>
            <a:r>
              <a:rPr lang="zh-CN" altLang="zh-CN" sz="1600" dirty="0"/>
              <a:t>逐步推理：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1. </a:t>
            </a:r>
            <a:r>
              <a:rPr lang="zh-CN" altLang="zh-CN" sz="1600" dirty="0"/>
              <a:t>我们知道，集合</a:t>
            </a:r>
            <a:r>
              <a:rPr lang="en-US" altLang="zh-CN" sz="1600" dirty="0"/>
              <a:t> A </a:t>
            </a:r>
            <a:r>
              <a:rPr lang="zh-CN" altLang="zh-CN" sz="1600" dirty="0"/>
              <a:t>的元素是从</a:t>
            </a:r>
            <a:r>
              <a:rPr lang="en-US" altLang="zh-CN" sz="1600" dirty="0"/>
              <a:t>2</a:t>
            </a:r>
            <a:r>
              <a:rPr lang="zh-CN" altLang="zh-CN" sz="1600" dirty="0"/>
              <a:t>到小于</a:t>
            </a:r>
            <a:r>
              <a:rPr lang="en-US" altLang="zh-CN" sz="1600" dirty="0"/>
              <a:t>4</a:t>
            </a:r>
            <a:r>
              <a:rPr lang="zh-CN" altLang="zh-CN" sz="1600" dirty="0"/>
              <a:t>的实数。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2. </a:t>
            </a:r>
            <a:r>
              <a:rPr lang="zh-CN" altLang="zh-CN" sz="1600" dirty="0"/>
              <a:t>由于全集</a:t>
            </a:r>
            <a:r>
              <a:rPr lang="en-US" altLang="zh-CN" sz="1600" dirty="0"/>
              <a:t> U</a:t>
            </a:r>
            <a:r>
              <a:rPr lang="zh-CN" altLang="zh-CN" sz="1600" dirty="0"/>
              <a:t>包含了集合</a:t>
            </a:r>
            <a:r>
              <a:rPr lang="en-US" altLang="zh-CN" sz="1600" dirty="0"/>
              <a:t> A</a:t>
            </a:r>
            <a:r>
              <a:rPr lang="zh-CN" altLang="zh-CN" sz="1600" dirty="0"/>
              <a:t>，所以集合</a:t>
            </a:r>
            <a:r>
              <a:rPr lang="en-US" altLang="zh-CN" sz="1600" dirty="0"/>
              <a:t> A </a:t>
            </a:r>
            <a:r>
              <a:rPr lang="zh-CN" altLang="zh-CN" sz="1600" dirty="0"/>
              <a:t>也是一个子集。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3. </a:t>
            </a:r>
            <a:r>
              <a:rPr lang="zh-CN" altLang="zh-CN" sz="1600" dirty="0"/>
              <a:t>为了找到集合</a:t>
            </a:r>
            <a:r>
              <a:rPr lang="en-US" altLang="zh-CN" sz="1600" dirty="0"/>
              <a:t> A </a:t>
            </a:r>
            <a:r>
              <a:rPr lang="zh-CN" altLang="zh-CN" sz="1600" dirty="0"/>
              <a:t>的补集，我们需要找到全集</a:t>
            </a:r>
            <a:r>
              <a:rPr lang="en-US" altLang="zh-CN" sz="1600" dirty="0"/>
              <a:t> U </a:t>
            </a:r>
            <a:r>
              <a:rPr lang="zh-CN" altLang="zh-CN" sz="1600" dirty="0"/>
              <a:t>中不属于</a:t>
            </a:r>
            <a:r>
              <a:rPr lang="en-US" altLang="zh-CN" sz="1600" dirty="0"/>
              <a:t> A </a:t>
            </a:r>
            <a:r>
              <a:rPr lang="zh-CN" altLang="zh-CN" sz="1600" dirty="0"/>
              <a:t>的元素。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4. </a:t>
            </a:r>
            <a:r>
              <a:rPr lang="zh-CN" altLang="zh-CN" sz="1600" dirty="0"/>
              <a:t>由于全集</a:t>
            </a:r>
            <a:r>
              <a:rPr lang="en-US" altLang="zh-CN" sz="1600" dirty="0"/>
              <a:t> U </a:t>
            </a:r>
            <a:r>
              <a:rPr lang="zh-CN" altLang="zh-CN" sz="1600" dirty="0"/>
              <a:t>的元素在</a:t>
            </a:r>
            <a:r>
              <a:rPr lang="en-US" altLang="zh-CN" sz="1600" dirty="0"/>
              <a:t>2</a:t>
            </a:r>
            <a:r>
              <a:rPr lang="zh-CN" altLang="zh-CN" sz="1600" dirty="0"/>
              <a:t>到</a:t>
            </a:r>
            <a:r>
              <a:rPr lang="en-US" altLang="zh-CN" sz="1600" dirty="0"/>
              <a:t>5</a:t>
            </a:r>
            <a:r>
              <a:rPr lang="zh-CN" altLang="zh-CN" sz="1600" dirty="0"/>
              <a:t>之间，而且集合</a:t>
            </a:r>
            <a:r>
              <a:rPr lang="en-US" altLang="zh-CN" sz="1600" dirty="0"/>
              <a:t> A </a:t>
            </a:r>
            <a:r>
              <a:rPr lang="zh-CN" altLang="zh-CN" sz="1600" dirty="0"/>
              <a:t>只包含了从</a:t>
            </a:r>
            <a:r>
              <a:rPr lang="en-US" altLang="zh-CN" sz="1600" dirty="0"/>
              <a:t>2</a:t>
            </a:r>
            <a:r>
              <a:rPr lang="zh-CN" altLang="zh-CN" sz="1600" dirty="0"/>
              <a:t>到小于</a:t>
            </a:r>
            <a:r>
              <a:rPr lang="en-US" altLang="zh-CN" sz="1600" dirty="0"/>
              <a:t>4</a:t>
            </a:r>
            <a:r>
              <a:rPr lang="zh-CN" altLang="zh-CN" sz="1600" dirty="0"/>
              <a:t>的元素，那么补集</a:t>
            </a:r>
            <a:r>
              <a:rPr lang="en-US" altLang="zh-CN" sz="1600" dirty="0"/>
              <a:t> A </a:t>
            </a:r>
            <a:r>
              <a:rPr lang="zh-CN" altLang="zh-CN" sz="1600" dirty="0"/>
              <a:t>的元素就是从</a:t>
            </a:r>
            <a:r>
              <a:rPr lang="en-US" altLang="zh-CN" sz="1600" dirty="0"/>
              <a:t>4</a:t>
            </a:r>
            <a:r>
              <a:rPr lang="zh-CN" altLang="zh-CN" sz="1600" dirty="0"/>
              <a:t>到小于等于</a:t>
            </a:r>
            <a:r>
              <a:rPr lang="en-US" altLang="zh-CN" sz="1600" dirty="0"/>
              <a:t>5</a:t>
            </a:r>
            <a:r>
              <a:rPr lang="zh-CN" altLang="zh-CN" sz="1600" dirty="0"/>
              <a:t>的实数。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 </a:t>
            </a:r>
            <a:endParaRPr lang="zh-CN" altLang="zh-CN" sz="1600" dirty="0"/>
          </a:p>
          <a:p>
            <a:r>
              <a:rPr lang="zh-CN" altLang="zh-CN" sz="1600" dirty="0"/>
              <a:t>最终结论：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- </a:t>
            </a:r>
            <a:r>
              <a:rPr lang="zh-CN" altLang="zh-CN" sz="1600" dirty="0"/>
              <a:t>集合</a:t>
            </a:r>
            <a:r>
              <a:rPr lang="en-US" altLang="zh-CN" sz="1600" dirty="0"/>
              <a:t> A </a:t>
            </a:r>
            <a:r>
              <a:rPr lang="zh-CN" altLang="zh-CN" sz="1600" dirty="0"/>
              <a:t>的补集</a:t>
            </a:r>
            <a:r>
              <a:rPr lang="en-US" altLang="zh-CN" sz="1600" dirty="0"/>
              <a:t> $\overline{A}$ </a:t>
            </a:r>
            <a:r>
              <a:rPr lang="zh-CN" altLang="zh-CN" sz="1600" dirty="0"/>
              <a:t>等于 </a:t>
            </a:r>
            <a:r>
              <a:rPr lang="en-US" altLang="zh-CN" sz="1600" dirty="0"/>
              <a:t>[4, 5]</a:t>
            </a:r>
            <a:r>
              <a:rPr lang="zh-CN" altLang="zh-CN" sz="1600" dirty="0"/>
              <a:t>。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r>
              <a:rPr lang="en-US" altLang="zh-CN" sz="1600" dirty="0"/>
              <a:t> </a:t>
            </a:r>
            <a:endParaRPr lang="zh-CN" altLang="zh-CN" sz="1600" dirty="0"/>
          </a:p>
          <a:p>
            <a:r>
              <a:rPr lang="zh-CN" altLang="zh-CN" sz="1600" dirty="0"/>
              <a:t>自我检查：</a:t>
            </a:r>
            <a:r>
              <a:rPr lang="en-US" altLang="zh-CN" sz="1600" dirty="0"/>
              <a:t>  </a:t>
            </a:r>
            <a:endParaRPr lang="zh-CN" altLang="zh-CN" sz="1600" dirty="0"/>
          </a:p>
          <a:p>
            <a:pPr marL="285750" indent="-285750">
              <a:buFontTx/>
              <a:buChar char="-"/>
            </a:pPr>
            <a:r>
              <a:rPr lang="zh-CN" altLang="zh-CN" sz="1600" dirty="0"/>
              <a:t>我们确认了，由于全集</a:t>
            </a:r>
            <a:r>
              <a:rPr lang="en-US" altLang="zh-CN" sz="1600" dirty="0"/>
              <a:t> U </a:t>
            </a:r>
            <a:r>
              <a:rPr lang="zh-CN" altLang="zh-CN" sz="1600" dirty="0"/>
              <a:t>包含了</a:t>
            </a:r>
            <a:r>
              <a:rPr lang="en-US" altLang="zh-CN" sz="1600" dirty="0"/>
              <a:t>2</a:t>
            </a:r>
            <a:r>
              <a:rPr lang="zh-CN" altLang="zh-CN" sz="1600" dirty="0"/>
              <a:t>到</a:t>
            </a:r>
            <a:r>
              <a:rPr lang="en-US" altLang="zh-CN" sz="1600" dirty="0"/>
              <a:t>5</a:t>
            </a:r>
            <a:r>
              <a:rPr lang="zh-CN" altLang="zh-CN" sz="1600" dirty="0"/>
              <a:t>之间的元素，而且集合</a:t>
            </a:r>
            <a:r>
              <a:rPr lang="en-US" altLang="zh-CN" sz="1600" dirty="0"/>
              <a:t> A </a:t>
            </a:r>
            <a:r>
              <a:rPr lang="zh-CN" altLang="zh-CN" sz="1600" dirty="0"/>
              <a:t>只包含了</a:t>
            </a:r>
            <a:r>
              <a:rPr lang="en-US" altLang="zh-CN" sz="1600" dirty="0"/>
              <a:t>2</a:t>
            </a:r>
            <a:r>
              <a:rPr lang="zh-CN" altLang="zh-CN" sz="1600" dirty="0"/>
              <a:t>到小于</a:t>
            </a:r>
            <a:r>
              <a:rPr lang="en-US" altLang="zh-CN" sz="1600" dirty="0"/>
              <a:t>4</a:t>
            </a:r>
            <a:r>
              <a:rPr lang="zh-CN" altLang="zh-CN" sz="1600" dirty="0"/>
              <a:t>的元素，因此补集</a:t>
            </a:r>
            <a:r>
              <a:rPr lang="en-US" altLang="zh-CN" sz="1600" dirty="0"/>
              <a:t> A </a:t>
            </a:r>
            <a:r>
              <a:rPr lang="zh-CN" altLang="zh-CN" sz="1600" dirty="0"/>
              <a:t>的元素必然是</a:t>
            </a:r>
            <a:r>
              <a:rPr lang="en-US" altLang="zh-CN" sz="1600" dirty="0"/>
              <a:t>4</a:t>
            </a:r>
            <a:r>
              <a:rPr lang="zh-CN" altLang="zh-CN" sz="1600" dirty="0"/>
              <a:t>到小于等于</a:t>
            </a:r>
            <a:r>
              <a:rPr lang="en-US" altLang="zh-CN" sz="1600" dirty="0"/>
              <a:t>5</a:t>
            </a:r>
            <a:r>
              <a:rPr lang="zh-CN" altLang="zh-CN" sz="1600" dirty="0"/>
              <a:t>的元素。</a:t>
            </a:r>
            <a:endParaRPr lang="en-US" altLang="zh-CN" sz="1600" dirty="0"/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r>
              <a:rPr lang="en-US" altLang="zh-CN" sz="1600" dirty="0"/>
              <a:t>  </a:t>
            </a:r>
            <a:endParaRPr lang="zh-CN" altLang="zh-CN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74181B-E1F1-BEC1-C546-17595F83121B}"/>
              </a:ext>
            </a:extLst>
          </p:cNvPr>
          <p:cNvSpPr txBox="1"/>
          <p:nvPr/>
        </p:nvSpPr>
        <p:spPr>
          <a:xfrm>
            <a:off x="230119" y="3025676"/>
            <a:ext cx="44942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根据定义，集合</a:t>
            </a:r>
            <a:r>
              <a:rPr lang="en-US" altLang="zh-CN" sz="1600" dirty="0"/>
              <a:t>A</a:t>
            </a:r>
            <a:r>
              <a:rPr lang="zh-CN" altLang="en-US" sz="1600" dirty="0"/>
              <a:t>是包含了所有在</a:t>
            </a:r>
            <a:r>
              <a:rPr lang="en-US" altLang="zh-CN" sz="1600" dirty="0"/>
              <a:t>2</a:t>
            </a:r>
            <a:r>
              <a:rPr lang="zh-CN" altLang="en-US" sz="1600" dirty="0"/>
              <a:t>到</a:t>
            </a:r>
            <a:r>
              <a:rPr lang="en-US" altLang="zh-CN" sz="1600" dirty="0"/>
              <a:t>4</a:t>
            </a:r>
            <a:r>
              <a:rPr lang="zh-CN" altLang="en-US" sz="1600" dirty="0"/>
              <a:t>之前的实数，但不包括</a:t>
            </a:r>
            <a:r>
              <a:rPr lang="en-US" altLang="zh-CN" sz="1600" dirty="0"/>
              <a:t>4</a:t>
            </a:r>
            <a:r>
              <a:rPr lang="zh-CN" altLang="en-US" sz="1600" dirty="0"/>
              <a:t>本身。因此，集合</a:t>
            </a:r>
            <a:r>
              <a:rPr lang="en-US" altLang="zh-CN" sz="1600" dirty="0"/>
              <a:t>A</a:t>
            </a:r>
            <a:r>
              <a:rPr lang="zh-CN" altLang="en-US" sz="1600" dirty="0"/>
              <a:t>的上界（或者称作几何上限）为</a:t>
            </a:r>
            <a:r>
              <a:rPr lang="en-US" altLang="zh-CN" sz="1600" dirty="0"/>
              <a:t>4</a:t>
            </a:r>
            <a:r>
              <a:rPr lang="zh-CN" altLang="en-US" sz="1600" dirty="0"/>
              <a:t>，并且没有下界。由于集合</a:t>
            </a:r>
            <a:r>
              <a:rPr lang="en-US" altLang="zh-CN" sz="1600" dirty="0"/>
              <a:t>A</a:t>
            </a:r>
            <a:r>
              <a:rPr lang="zh-CN" altLang="en-US" sz="1600" dirty="0"/>
              <a:t>是一个开区间，我们用小</a:t>
            </a:r>
            <a:r>
              <a:rPr lang="en-US" altLang="zh-CN" sz="1600" dirty="0"/>
              <a:t>er</a:t>
            </a:r>
            <a:r>
              <a:rPr lang="zh-CN" altLang="en-US" sz="1600" dirty="0"/>
              <a:t>括号表示它：</a:t>
            </a:r>
            <a:r>
              <a:rPr lang="en-US" altLang="zh-CN" sz="1600" dirty="0"/>
              <a:t>A = (2, 4)</a:t>
            </a:r>
            <a:r>
              <a:rPr lang="zh-CN" altLang="en-US" sz="1600" dirty="0"/>
              <a:t>。这意味着集合</a:t>
            </a:r>
            <a:r>
              <a:rPr lang="en-US" altLang="zh-CN" sz="1600" dirty="0"/>
              <a:t>A</a:t>
            </a:r>
            <a:r>
              <a:rPr lang="zh-CN" altLang="en-US" sz="1600" dirty="0"/>
              <a:t>包含了所有在</a:t>
            </a:r>
            <a:r>
              <a:rPr lang="en-US" altLang="zh-CN" sz="1600" dirty="0"/>
              <a:t>2</a:t>
            </a:r>
            <a:r>
              <a:rPr lang="zh-CN" altLang="en-US" sz="1600" dirty="0"/>
              <a:t>到</a:t>
            </a:r>
            <a:r>
              <a:rPr lang="en-US" altLang="zh-CN" sz="1600" dirty="0"/>
              <a:t>4</a:t>
            </a:r>
            <a:r>
              <a:rPr lang="zh-CN" altLang="en-US" sz="1600" dirty="0"/>
              <a:t>之前的实数，但不包括</a:t>
            </a:r>
            <a:r>
              <a:rPr lang="en-US" altLang="zh-CN" sz="1600" dirty="0"/>
              <a:t>2</a:t>
            </a:r>
            <a:r>
              <a:rPr lang="zh-CN" altLang="en-US" sz="1600" dirty="0"/>
              <a:t>和</a:t>
            </a:r>
            <a:r>
              <a:rPr lang="en-US" altLang="zh-CN" sz="1600" dirty="0"/>
              <a:t>4</a:t>
            </a:r>
            <a:r>
              <a:rPr lang="zh-CN" altLang="en-US" sz="1600" dirty="0"/>
              <a:t>本身。</a:t>
            </a:r>
            <a:r>
              <a:rPr lang="zh-CN" altLang="en-US" sz="1600" dirty="0">
                <a:solidFill>
                  <a:srgbClr val="FF0000"/>
                </a:solidFill>
              </a:rPr>
              <a:t>集合</a:t>
            </a:r>
            <a:r>
              <a:rPr lang="en-US" altLang="zh-CN" sz="1600" dirty="0">
                <a:solidFill>
                  <a:srgbClr val="FF0000"/>
                </a:solidFill>
              </a:rPr>
              <a:t>A</a:t>
            </a:r>
            <a:r>
              <a:rPr lang="zh-CN" altLang="en-US" sz="1600" dirty="0">
                <a:solidFill>
                  <a:srgbClr val="FF0000"/>
                </a:solidFill>
              </a:rPr>
              <a:t>的补集（或者称作减去集）是集合</a:t>
            </a:r>
            <a:r>
              <a:rPr lang="en-US" altLang="zh-CN" sz="1600" dirty="0">
                <a:solidFill>
                  <a:srgbClr val="FF0000"/>
                </a:solidFill>
              </a:rPr>
              <a:t>U</a:t>
            </a:r>
            <a:r>
              <a:rPr lang="zh-CN" altLang="en-US" sz="1600" dirty="0">
                <a:solidFill>
                  <a:srgbClr val="FF0000"/>
                </a:solidFill>
              </a:rPr>
              <a:t>中的所有元素，且不包括这些元素的最大值和最小值。</a:t>
            </a:r>
            <a:r>
              <a:rPr lang="zh-CN" altLang="en-US" sz="1600" dirty="0"/>
              <a:t>因此，集合</a:t>
            </a:r>
            <a:r>
              <a:rPr lang="en-US" altLang="zh-CN" sz="1600" dirty="0"/>
              <a:t>A</a:t>
            </a:r>
            <a:r>
              <a:rPr lang="zh-CN" altLang="en-US" sz="1600" dirty="0"/>
              <a:t>的补集</a:t>
            </a:r>
            <a:r>
              <a:rPr lang="en-US" altLang="zh-CN" sz="1600" dirty="0"/>
              <a:t>¯A = {x∣2≤x≤5, </a:t>
            </a:r>
            <a:r>
              <a:rPr lang="en-US" altLang="zh-CN" sz="1600" dirty="0" err="1"/>
              <a:t>x∉A</a:t>
            </a:r>
            <a:r>
              <a:rPr lang="en-US" altLang="zh-CN" sz="1600" dirty="0"/>
              <a:t>}</a:t>
            </a:r>
            <a:r>
              <a:rPr lang="zh-CN" altLang="en-US" sz="1600" dirty="0"/>
              <a:t>，即</a:t>
            </a:r>
            <a:r>
              <a:rPr lang="en-US" altLang="zh-CN" sz="1600" dirty="0"/>
              <a:t>{x∣2≤x≤4}</a:t>
            </a:r>
            <a:r>
              <a:rPr lang="zh-CN" altLang="en-US" sz="1600" dirty="0"/>
              <a:t>。在数学上，我们可以表示这个集合的补集为</a:t>
            </a:r>
            <a:r>
              <a:rPr lang="en-US" altLang="zh-CN" sz="1600" dirty="0"/>
              <a:t>A</a:t>
            </a:r>
            <a:r>
              <a:rPr lang="zh-CN" altLang="en-US" sz="1600" dirty="0"/>
              <a:t>本身，也就是</a:t>
            </a:r>
            <a:r>
              <a:rPr lang="en-US" altLang="zh-CN" sz="1600" dirty="0"/>
              <a:t>A = (2, 4)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6196F5-3785-A645-CF5C-1F005C79AAA0}"/>
              </a:ext>
            </a:extLst>
          </p:cNvPr>
          <p:cNvSpPr/>
          <p:nvPr/>
        </p:nvSpPr>
        <p:spPr>
          <a:xfrm>
            <a:off x="266270" y="1097329"/>
            <a:ext cx="4088472" cy="84752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75AFBDAB-0CDA-1FE1-21EF-E8D486C1C512}"/>
              </a:ext>
            </a:extLst>
          </p:cNvPr>
          <p:cNvSpPr txBox="1"/>
          <p:nvPr/>
        </p:nvSpPr>
        <p:spPr>
          <a:xfrm>
            <a:off x="238838" y="1076911"/>
            <a:ext cx="4088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原题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zh-CN" altLang="en-US" dirty="0"/>
              <a:t>已知全集</a:t>
            </a:r>
            <a:r>
              <a:rPr lang="en-US" altLang="zh-CN" dirty="0"/>
              <a:t>U = {x∣2≤x≤5, </a:t>
            </a:r>
            <a:r>
              <a:rPr lang="en-US" altLang="zh-CN" dirty="0" err="1"/>
              <a:t>x∈R</a:t>
            </a:r>
            <a:r>
              <a:rPr lang="en-US" altLang="zh-CN" dirty="0"/>
              <a:t>} </a:t>
            </a:r>
            <a:r>
              <a:rPr lang="zh-CN" altLang="en-US" dirty="0"/>
              <a:t>，集合</a:t>
            </a:r>
            <a:r>
              <a:rPr lang="en-US" altLang="zh-CN" dirty="0"/>
              <a:t>A = {x∣2≤x &lt; 4, </a:t>
            </a:r>
            <a:r>
              <a:rPr lang="en-US" altLang="zh-CN" dirty="0" err="1"/>
              <a:t>x∈R</a:t>
            </a:r>
            <a:r>
              <a:rPr lang="en-US" altLang="zh-CN" dirty="0"/>
              <a:t>} </a:t>
            </a:r>
            <a:r>
              <a:rPr lang="zh-CN" altLang="en-US" dirty="0"/>
              <a:t>，则 </a:t>
            </a:r>
            <a:r>
              <a:rPr lang="en-US" altLang="zh-CN" dirty="0"/>
              <a:t>¯A = ____."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83862-1B7E-14A3-E181-C6B47888D944}"/>
              </a:ext>
            </a:extLst>
          </p:cNvPr>
          <p:cNvSpPr txBox="1"/>
          <p:nvPr/>
        </p:nvSpPr>
        <p:spPr>
          <a:xfrm>
            <a:off x="3998564" y="992588"/>
            <a:ext cx="2063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有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RAG</a:t>
            </a: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成果</a:t>
            </a:r>
            <a:endParaRPr lang="en-US" altLang="zh-CN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4D27A63-022F-5B49-A338-7D07B18E0991}"/>
              </a:ext>
            </a:extLst>
          </p:cNvPr>
          <p:cNvSpPr/>
          <p:nvPr/>
        </p:nvSpPr>
        <p:spPr>
          <a:xfrm>
            <a:off x="2145914" y="2060344"/>
            <a:ext cx="304800" cy="685800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08AB07-78B6-D7CA-0C35-2B38F47C7B62}"/>
              </a:ext>
            </a:extLst>
          </p:cNvPr>
          <p:cNvSpPr txBox="1"/>
          <p:nvPr/>
        </p:nvSpPr>
        <p:spPr>
          <a:xfrm>
            <a:off x="1929841" y="2096750"/>
            <a:ext cx="2397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RAG</a:t>
            </a: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成果</a:t>
            </a:r>
            <a:endParaRPr lang="en-US" altLang="zh-CN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054DF-5C20-7F49-5FEE-B48614DEE36A}"/>
              </a:ext>
            </a:extLst>
          </p:cNvPr>
          <p:cNvSpPr/>
          <p:nvPr/>
        </p:nvSpPr>
        <p:spPr>
          <a:xfrm>
            <a:off x="254503" y="2977116"/>
            <a:ext cx="4393697" cy="287784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67266AF-774C-ABED-7BBE-C4BFDBBF9B7A}"/>
              </a:ext>
            </a:extLst>
          </p:cNvPr>
          <p:cNvSpPr/>
          <p:nvPr/>
        </p:nvSpPr>
        <p:spPr>
          <a:xfrm>
            <a:off x="4495800" y="1349062"/>
            <a:ext cx="1205732" cy="28506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C397C-4563-67E9-706F-FB8A910E47C0}"/>
              </a:ext>
            </a:extLst>
          </p:cNvPr>
          <p:cNvSpPr/>
          <p:nvPr/>
        </p:nvSpPr>
        <p:spPr>
          <a:xfrm>
            <a:off x="5701532" y="839469"/>
            <a:ext cx="6351278" cy="551176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31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6313222" cy="50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课题研究过程中的参考文献与资料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065882" y="1823826"/>
            <a:ext cx="2470496" cy="2470496"/>
          </a:xfrm>
          <a:prstGeom prst="ellipse">
            <a:avLst/>
          </a:prstGeom>
          <a:solidFill>
            <a:schemeClr val="accent1">
              <a:alpha val="95000"/>
            </a:schemeClr>
          </a:solidFill>
          <a:ln w="38100">
            <a:noFill/>
          </a:ln>
          <a:effectLst/>
        </p:spPr>
        <p:txBody>
          <a:bodyPr vert="horz" wrap="square" lIns="0" tIns="0" rIns="0" bIns="108000" numCol="1" anchor="ctr" anchorCtr="0" compatLnSpc="1"/>
          <a:lstStyle/>
          <a:p>
            <a:pPr algn="ctr"/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官方文献</a:t>
            </a:r>
          </a:p>
        </p:txBody>
      </p:sp>
      <p:sp>
        <p:nvSpPr>
          <p:cNvPr id="33" name="椭圆 32"/>
          <p:cNvSpPr/>
          <p:nvPr/>
        </p:nvSpPr>
        <p:spPr>
          <a:xfrm>
            <a:off x="916532" y="3292511"/>
            <a:ext cx="2470496" cy="2470496"/>
          </a:xfrm>
          <a:prstGeom prst="ellipse">
            <a:avLst/>
          </a:prstGeom>
          <a:solidFill>
            <a:schemeClr val="accent2">
              <a:lumMod val="60000"/>
              <a:lumOff val="40000"/>
              <a:alpha val="90000"/>
            </a:schemeClr>
          </a:solidFill>
          <a:ln w="38100">
            <a:noFill/>
          </a:ln>
          <a:effectLst/>
        </p:spPr>
        <p:txBody>
          <a:bodyPr vert="horz" wrap="square" lIns="0" tIns="0" rIns="0" bIns="108000" numCol="1" anchor="ctr" anchorCtr="0" compatLnSpc="1"/>
          <a:lstStyle/>
          <a:p>
            <a:pPr algn="ctr"/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技术论坛</a:t>
            </a:r>
          </a:p>
        </p:txBody>
      </p:sp>
      <p:sp>
        <p:nvSpPr>
          <p:cNvPr id="34" name="椭圆 33"/>
          <p:cNvSpPr/>
          <p:nvPr/>
        </p:nvSpPr>
        <p:spPr>
          <a:xfrm>
            <a:off x="3053661" y="3292511"/>
            <a:ext cx="2470496" cy="2470496"/>
          </a:xfrm>
          <a:prstGeom prst="ellipse">
            <a:avLst/>
          </a:prstGeom>
          <a:solidFill>
            <a:schemeClr val="accent2">
              <a:alpha val="90000"/>
            </a:schemeClr>
          </a:solidFill>
          <a:ln w="38100">
            <a:noFill/>
          </a:ln>
          <a:effectLst/>
        </p:spPr>
        <p:txBody>
          <a:bodyPr vert="horz" wrap="square" lIns="0" tIns="0" rIns="0" bIns="108000" numCol="1" anchor="ctr" anchorCtr="0" compatLnSpc="1"/>
          <a:lstStyle/>
          <a:p>
            <a:pPr algn="ctr"/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个人博客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6821140" y="1986059"/>
            <a:ext cx="3620965" cy="985633"/>
            <a:chOff x="6821140" y="1909859"/>
            <a:chExt cx="3620965" cy="985633"/>
          </a:xfrm>
        </p:grpSpPr>
        <p:sp>
          <p:nvSpPr>
            <p:cNvPr id="36" name="矩形 35"/>
            <p:cNvSpPr/>
            <p:nvPr/>
          </p:nvSpPr>
          <p:spPr>
            <a:xfrm>
              <a:off x="6859240" y="2308023"/>
              <a:ext cx="3582865" cy="5874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查找文献，了解前沿理论以及前人的研究边界。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6821140" y="1909859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中国知网等</a:t>
              </a:r>
            </a:p>
          </p:txBody>
        </p:sp>
      </p:grpSp>
      <p:sp>
        <p:nvSpPr>
          <p:cNvPr id="38" name="椭圆 37"/>
          <p:cNvSpPr/>
          <p:nvPr/>
        </p:nvSpPr>
        <p:spPr>
          <a:xfrm>
            <a:off x="6122442" y="1969143"/>
            <a:ext cx="698698" cy="6986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txBody>
          <a:bodyPr vert="horz" wrap="square" lIns="0" tIns="0" rIns="0" bIns="36000" numCol="1" anchor="ctr" anchorCtr="0" compatLnSpc="1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官方文献</a:t>
            </a:r>
          </a:p>
        </p:txBody>
      </p:sp>
      <p:cxnSp>
        <p:nvCxnSpPr>
          <p:cNvPr id="39" name="直接连接符 38"/>
          <p:cNvCxnSpPr/>
          <p:nvPr/>
        </p:nvCxnSpPr>
        <p:spPr>
          <a:xfrm>
            <a:off x="6096000" y="3187700"/>
            <a:ext cx="47164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6821140" y="3355868"/>
            <a:ext cx="3620965" cy="727100"/>
            <a:chOff x="6821140" y="1909859"/>
            <a:chExt cx="3620965" cy="727100"/>
          </a:xfrm>
        </p:grpSpPr>
        <p:sp>
          <p:nvSpPr>
            <p:cNvPr id="41" name="矩形 40"/>
            <p:cNvSpPr/>
            <p:nvPr/>
          </p:nvSpPr>
          <p:spPr>
            <a:xfrm>
              <a:off x="6859240" y="2308023"/>
              <a:ext cx="3582865" cy="3289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查找代码原理及教学。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6821140" y="1909859"/>
              <a:ext cx="11897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CSDN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等</a:t>
              </a:r>
            </a:p>
          </p:txBody>
        </p:sp>
      </p:grpSp>
      <p:sp>
        <p:nvSpPr>
          <p:cNvPr id="43" name="椭圆 42"/>
          <p:cNvSpPr/>
          <p:nvPr/>
        </p:nvSpPr>
        <p:spPr>
          <a:xfrm>
            <a:off x="6122442" y="3338952"/>
            <a:ext cx="698698" cy="6986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</a:ln>
          <a:effectLst/>
        </p:spPr>
        <p:txBody>
          <a:bodyPr vert="horz" wrap="square" lIns="0" tIns="0" rIns="0" bIns="36000" numCol="1" anchor="ctr" anchorCtr="0" compatLnSpc="1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技术论坛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6096000" y="4557509"/>
            <a:ext cx="47164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6821140" y="4725677"/>
            <a:ext cx="3620965" cy="985633"/>
            <a:chOff x="6821140" y="1909859"/>
            <a:chExt cx="3620965" cy="985633"/>
          </a:xfrm>
        </p:grpSpPr>
        <p:sp>
          <p:nvSpPr>
            <p:cNvPr id="46" name="矩形 45"/>
            <p:cNvSpPr/>
            <p:nvPr/>
          </p:nvSpPr>
          <p:spPr>
            <a:xfrm>
              <a:off x="6859240" y="2308023"/>
              <a:ext cx="3582865" cy="5874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学习 </a:t>
              </a:r>
              <a:r>
                <a:rPr lang="en-US" altLang="zh-CN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RAG </a:t>
              </a: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知识库完整搭建流程，梳理不同 </a:t>
              </a:r>
              <a:r>
                <a:rPr lang="en-US" altLang="zh-CN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RAG </a:t>
              </a: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方案的优势与现存缺陷。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6821140" y="1909859"/>
              <a:ext cx="175240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Bilibili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等网站</a:t>
              </a:r>
            </a:p>
          </p:txBody>
        </p:sp>
      </p:grpSp>
      <p:sp>
        <p:nvSpPr>
          <p:cNvPr id="48" name="椭圆 47"/>
          <p:cNvSpPr/>
          <p:nvPr/>
        </p:nvSpPr>
        <p:spPr>
          <a:xfrm>
            <a:off x="6122442" y="4708761"/>
            <a:ext cx="698698" cy="6986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  <a:effectLst/>
        </p:spPr>
        <p:txBody>
          <a:bodyPr vert="horz" wrap="square" lIns="0" tIns="0" rIns="0" bIns="36000" numCol="1" anchor="ctr" anchorCtr="0" compatLnSpc="1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个人博客</a:t>
            </a:r>
          </a:p>
        </p:txBody>
      </p:sp>
      <p:sp>
        <p:nvSpPr>
          <p:cNvPr id="20" name="object 11"/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7"/>
            <a:chOff x="0" y="0"/>
            <a:chExt cx="12192000" cy="68579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" y="0"/>
              <a:ext cx="12188951" cy="68579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45280" y="1537716"/>
              <a:ext cx="8046720" cy="3190240"/>
            </a:xfrm>
            <a:custGeom>
              <a:avLst/>
              <a:gdLst/>
              <a:ahLst/>
              <a:cxnLst/>
              <a:rect l="l" t="t" r="r" b="b"/>
              <a:pathLst>
                <a:path w="8046720" h="3190240">
                  <a:moveTo>
                    <a:pt x="0" y="3189731"/>
                  </a:moveTo>
                  <a:lnTo>
                    <a:pt x="8046720" y="3189731"/>
                  </a:lnTo>
                  <a:lnTo>
                    <a:pt x="8046720" y="0"/>
                  </a:lnTo>
                  <a:lnTo>
                    <a:pt x="0" y="0"/>
                  </a:lnTo>
                  <a:lnTo>
                    <a:pt x="0" y="3189731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00" y="2255596"/>
              <a:ext cx="7752588" cy="25907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2031" y="4523307"/>
              <a:ext cx="3934967" cy="2087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503" y="51815"/>
              <a:ext cx="2170176" cy="7117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041135"/>
              <a:ext cx="12167615" cy="413004"/>
            </a:xfrm>
            <a:prstGeom prst="rect">
              <a:avLst/>
            </a:prstGeom>
          </p:spPr>
        </p:pic>
      </p:grpSp>
      <p:sp>
        <p:nvSpPr>
          <p:cNvPr id="16" name="矩形 15"/>
          <p:cNvSpPr/>
          <p:nvPr/>
        </p:nvSpPr>
        <p:spPr>
          <a:xfrm>
            <a:off x="4464784" y="3135320"/>
            <a:ext cx="326243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研究总结</a:t>
            </a:r>
          </a:p>
        </p:txBody>
      </p:sp>
      <p:sp>
        <p:nvSpPr>
          <p:cNvPr id="22" name="Oval 8"/>
          <p:cNvSpPr>
            <a:spLocks noChangeArrowheads="1"/>
          </p:cNvSpPr>
          <p:nvPr/>
        </p:nvSpPr>
        <p:spPr bwMode="auto">
          <a:xfrm>
            <a:off x="5155406" y="947986"/>
            <a:ext cx="1881187" cy="1887026"/>
          </a:xfrm>
          <a:prstGeom prst="ellipse">
            <a:avLst/>
          </a:prstGeom>
          <a:noFill/>
          <a:ln w="57150">
            <a:solidFill>
              <a:srgbClr val="066C94"/>
            </a:solidFill>
            <a:round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altLang="zh-CN" sz="7500" b="1" spc="-3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05</a:t>
            </a:r>
            <a:endParaRPr lang="zh-CN" altLang="en-US" sz="7500" b="1" spc="-3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882782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课题研究过程中碰到的困难</a:t>
            </a:r>
            <a:r>
              <a:rPr lang="zh-CN" altLang="en-US" sz="3200" dirty="0">
                <a:solidFill>
                  <a:srgbClr val="FFFFFF"/>
                </a:solidFill>
                <a:ea typeface="微软雅黑" panose="020B0503020204020204" charset="-122"/>
              </a:rPr>
              <a:t>与解决方案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1452"/>
          <p:cNvSpPr/>
          <p:nvPr/>
        </p:nvSpPr>
        <p:spPr>
          <a:xfrm>
            <a:off x="1607019" y="1752600"/>
            <a:ext cx="2597618" cy="419100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" name="Shape 1454"/>
          <p:cNvSpPr/>
          <p:nvPr/>
        </p:nvSpPr>
        <p:spPr>
          <a:xfrm>
            <a:off x="4697587" y="1752599"/>
            <a:ext cx="2597620" cy="4190999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2" name="Shape 1456"/>
          <p:cNvSpPr/>
          <p:nvPr/>
        </p:nvSpPr>
        <p:spPr>
          <a:xfrm>
            <a:off x="7696200" y="1752600"/>
            <a:ext cx="2597620" cy="4190998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" name="Shape 1460"/>
          <p:cNvSpPr/>
          <p:nvPr/>
        </p:nvSpPr>
        <p:spPr>
          <a:xfrm>
            <a:off x="1949736" y="979015"/>
            <a:ext cx="1912184" cy="1926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25" name="Group 20"/>
          <p:cNvGrpSpPr/>
          <p:nvPr/>
        </p:nvGrpSpPr>
        <p:grpSpPr>
          <a:xfrm>
            <a:off x="1958179" y="1105169"/>
            <a:ext cx="537032" cy="541128"/>
            <a:chOff x="1369087" y="2088729"/>
            <a:chExt cx="474017" cy="474016"/>
          </a:xfrm>
        </p:grpSpPr>
        <p:sp>
          <p:nvSpPr>
            <p:cNvPr id="26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8" name="Shape 1465"/>
          <p:cNvSpPr/>
          <p:nvPr/>
        </p:nvSpPr>
        <p:spPr>
          <a:xfrm>
            <a:off x="5040305" y="979015"/>
            <a:ext cx="1912184" cy="1926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9" name="Shape 1468"/>
          <p:cNvSpPr/>
          <p:nvPr/>
        </p:nvSpPr>
        <p:spPr>
          <a:xfrm>
            <a:off x="8057017" y="979397"/>
            <a:ext cx="1908268" cy="1922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1" name="Group 32"/>
          <p:cNvGrpSpPr/>
          <p:nvPr/>
        </p:nvGrpSpPr>
        <p:grpSpPr>
          <a:xfrm>
            <a:off x="5038921" y="1105168"/>
            <a:ext cx="537032" cy="541128"/>
            <a:chOff x="3906591" y="2088732"/>
            <a:chExt cx="474017" cy="474017"/>
          </a:xfrm>
          <a:solidFill>
            <a:schemeClr val="bg1"/>
          </a:solidFill>
        </p:grpSpPr>
        <p:sp>
          <p:nvSpPr>
            <p:cNvPr id="49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50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  <a:grpFill/>
          </p:grpSpPr>
          <p:sp>
            <p:nvSpPr>
              <p:cNvPr id="51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56" name="Text Placeholder 5"/>
          <p:cNvSpPr txBox="1"/>
          <p:nvPr/>
        </p:nvSpPr>
        <p:spPr>
          <a:xfrm>
            <a:off x="1911408" y="1612548"/>
            <a:ext cx="1924656" cy="6597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效率低下</a:t>
            </a:r>
          </a:p>
        </p:txBody>
      </p:sp>
      <p:sp>
        <p:nvSpPr>
          <p:cNvPr id="57" name="Text Placeholder 6"/>
          <p:cNvSpPr txBox="1"/>
          <p:nvPr/>
        </p:nvSpPr>
        <p:spPr>
          <a:xfrm>
            <a:off x="1741728" y="2977941"/>
            <a:ext cx="2327088" cy="27748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初期依赖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Markdown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整理课题知识点，但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Markdown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不具备检索功能，大模型阅读时耗时久，花费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token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多，效率低下。</a:t>
            </a: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解决方案：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在网络上了解到有信息检索、重排序功能的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RAG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知识库，提取数学书中的关键知识点，大大缩短模型回答等待时间。</a:t>
            </a:r>
          </a:p>
        </p:txBody>
      </p:sp>
      <p:sp>
        <p:nvSpPr>
          <p:cNvPr id="58" name="Text Placeholder 5"/>
          <p:cNvSpPr txBox="1"/>
          <p:nvPr/>
        </p:nvSpPr>
        <p:spPr>
          <a:xfrm>
            <a:off x="5135259" y="1612548"/>
            <a:ext cx="1790020" cy="65970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格式混乱</a:t>
            </a:r>
          </a:p>
        </p:txBody>
      </p:sp>
      <p:sp>
        <p:nvSpPr>
          <p:cNvPr id="60" name="Text Placeholder 6"/>
          <p:cNvSpPr txBox="1"/>
          <p:nvPr/>
        </p:nvSpPr>
        <p:spPr>
          <a:xfrm>
            <a:off x="4968118" y="2977941"/>
            <a:ext cx="2056558" cy="27748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作为典型例题测试的资料多为非结构化数据，排版杂乱、标识不统一，缺乏规范格式，无法直接被程序解析调用，手动调整费时费力。</a:t>
            </a: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解决方案：</a:t>
            </a: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先将文件截图，使用</a:t>
            </a:r>
            <a:r>
              <a:rPr lang="en-US" altLang="zh-CN" sz="1200" dirty="0" err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MinerU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帮助提取，直接将文本以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word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形式导出，绕过手动调整这一步。</a:t>
            </a:r>
          </a:p>
        </p:txBody>
      </p:sp>
      <p:sp>
        <p:nvSpPr>
          <p:cNvPr id="61" name="Text Placeholder 6"/>
          <p:cNvSpPr txBox="1"/>
          <p:nvPr/>
        </p:nvSpPr>
        <p:spPr>
          <a:xfrm>
            <a:off x="7977895" y="2977942"/>
            <a:ext cx="2056558" cy="2774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程序运行时一次性加载数据过多，导致物理内存耗尽并占用大量虚拟内存，引发系统频繁卡顿甚至崩溃，单次实验耗时过长。</a:t>
            </a: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解决方案：</a:t>
            </a:r>
            <a:endParaRPr lang="en-US" altLang="zh-CN" sz="1200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经检查发现作为虚拟内存的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C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盘空间不足，将虚拟内存改成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D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盘，成功缩短运行时间。</a:t>
            </a:r>
          </a:p>
        </p:txBody>
      </p:sp>
      <p:sp>
        <p:nvSpPr>
          <p:cNvPr id="63" name="Text Placeholder 5"/>
          <p:cNvSpPr txBox="1"/>
          <p:nvPr/>
        </p:nvSpPr>
        <p:spPr>
          <a:xfrm>
            <a:off x="8145035" y="1612548"/>
            <a:ext cx="1790020" cy="65970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内存不足</a:t>
            </a:r>
          </a:p>
        </p:txBody>
      </p:sp>
      <p:sp>
        <p:nvSpPr>
          <p:cNvPr id="64" name="Shape 1475"/>
          <p:cNvSpPr/>
          <p:nvPr/>
        </p:nvSpPr>
        <p:spPr>
          <a:xfrm>
            <a:off x="8054841" y="1105168"/>
            <a:ext cx="537032" cy="5411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5" name="Shape 1480"/>
          <p:cNvSpPr/>
          <p:nvPr/>
        </p:nvSpPr>
        <p:spPr>
          <a:xfrm>
            <a:off x="8217474" y="1248591"/>
            <a:ext cx="211120" cy="212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2" name="object 11"/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389543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课题研究存在的不足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Freeform 4"/>
          <p:cNvSpPr/>
          <p:nvPr/>
        </p:nvSpPr>
        <p:spPr bwMode="auto">
          <a:xfrm>
            <a:off x="1477611" y="1219200"/>
            <a:ext cx="5905411" cy="3082471"/>
          </a:xfrm>
          <a:custGeom>
            <a:avLst/>
            <a:gdLst/>
            <a:ahLst/>
            <a:cxnLst>
              <a:cxn ang="0">
                <a:pos x="1558" y="337"/>
              </a:cxn>
              <a:cxn ang="0">
                <a:pos x="1221" y="0"/>
              </a:cxn>
              <a:cxn ang="0">
                <a:pos x="407" y="814"/>
              </a:cxn>
              <a:cxn ang="0">
                <a:pos x="0" y="407"/>
              </a:cxn>
              <a:cxn ang="0">
                <a:pos x="402" y="5"/>
              </a:cxn>
              <a:cxn ang="0">
                <a:pos x="734" y="337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bg2">
                <a:lumMod val="75000"/>
              </a:schemeClr>
            </a:solidFill>
            <a:prstDash val="solid"/>
            <a:round/>
          </a:ln>
          <a:effectLst/>
        </p:spPr>
        <p:txBody>
          <a:bodyPr wrap="none" lIns="0" tIns="0" rIns="0" b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Freeform 5"/>
          <p:cNvSpPr/>
          <p:nvPr/>
        </p:nvSpPr>
        <p:spPr bwMode="auto">
          <a:xfrm flipH="1" flipV="1">
            <a:off x="4809219" y="1219200"/>
            <a:ext cx="5905170" cy="3082471"/>
          </a:xfrm>
          <a:custGeom>
            <a:avLst/>
            <a:gdLst>
              <a:gd name="T0" fmla="*/ 4406472 w 1558"/>
              <a:gd name="T1" fmla="*/ 952548 h 814"/>
              <a:gd name="T2" fmla="*/ 3453339 w 1558"/>
              <a:gd name="T3" fmla="*/ 0 h 814"/>
              <a:gd name="T4" fmla="*/ 1151113 w 1558"/>
              <a:gd name="T5" fmla="*/ 2300813 h 814"/>
              <a:gd name="T6" fmla="*/ 0 w 1558"/>
              <a:gd name="T7" fmla="*/ 1150407 h 814"/>
              <a:gd name="T8" fmla="*/ 1136972 w 1558"/>
              <a:gd name="T9" fmla="*/ 14133 h 814"/>
              <a:gd name="T10" fmla="*/ 2075963 w 1558"/>
              <a:gd name="T11" fmla="*/ 952548 h 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58"/>
              <a:gd name="T19" fmla="*/ 0 h 814"/>
              <a:gd name="T20" fmla="*/ 1558 w 1558"/>
              <a:gd name="T21" fmla="*/ 814 h 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bg2">
                <a:lumMod val="75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37852" y="4301671"/>
            <a:ext cx="19897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数据集覆盖范围较为单一</a:t>
            </a:r>
          </a:p>
        </p:txBody>
      </p:sp>
      <p:sp>
        <p:nvSpPr>
          <p:cNvPr id="19" name="矩形 18"/>
          <p:cNvSpPr/>
          <p:nvPr/>
        </p:nvSpPr>
        <p:spPr>
          <a:xfrm>
            <a:off x="1681297" y="5120054"/>
            <a:ext cx="2702898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本研究仅以高中课内数学教材为数据源，未纳入教辅习题、历年真题、易错题等拓展资源。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049813" y="1717565"/>
            <a:ext cx="2092373" cy="2092374"/>
            <a:chOff x="5049813" y="2127140"/>
            <a:chExt cx="2092373" cy="2092374"/>
          </a:xfrm>
        </p:grpSpPr>
        <p:sp>
          <p:nvSpPr>
            <p:cNvPr id="21" name="任意多边形: 形状 20"/>
            <p:cNvSpPr/>
            <p:nvPr/>
          </p:nvSpPr>
          <p:spPr>
            <a:xfrm>
              <a:off x="5049813" y="2127140"/>
              <a:ext cx="2092373" cy="2092374"/>
            </a:xfrm>
            <a:custGeom>
              <a:avLst/>
              <a:gdLst>
                <a:gd name="connsiteX0" fmla="*/ 1046336 w 2092373"/>
                <a:gd name="connsiteY0" fmla="*/ 0 h 2092374"/>
                <a:gd name="connsiteX1" fmla="*/ 2092373 w 2092373"/>
                <a:gd name="connsiteY1" fmla="*/ 1046038 h 2092374"/>
                <a:gd name="connsiteX2" fmla="*/ 1046037 w 2092373"/>
                <a:gd name="connsiteY2" fmla="*/ 2092374 h 2092374"/>
                <a:gd name="connsiteX3" fmla="*/ 0 w 2092373"/>
                <a:gd name="connsiteY3" fmla="*/ 1046337 h 209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373" h="2092374">
                  <a:moveTo>
                    <a:pt x="1046336" y="0"/>
                  </a:moveTo>
                  <a:lnTo>
                    <a:pt x="2092373" y="1046038"/>
                  </a:lnTo>
                  <a:lnTo>
                    <a:pt x="1046037" y="2092374"/>
                  </a:lnTo>
                  <a:lnTo>
                    <a:pt x="0" y="1046337"/>
                  </a:lnTo>
                  <a:close/>
                </a:path>
              </a:pathLst>
            </a:custGeom>
            <a:solidFill>
              <a:schemeClr val="accent2"/>
            </a:solidFill>
            <a:ln w="6350">
              <a:noFill/>
              <a:miter lim="800000"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eaLnBrk="0" hangingPunct="0"/>
              <a:endParaRPr lang="zh-CN" altLang="en-US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5834095" y="2294119"/>
              <a:ext cx="513169" cy="513170"/>
            </a:xfrm>
            <a:custGeom>
              <a:avLst/>
              <a:gdLst>
                <a:gd name="connsiteX0" fmla="*/ 256621 w 513169"/>
                <a:gd name="connsiteY0" fmla="*/ 0 h 513170"/>
                <a:gd name="connsiteX1" fmla="*/ 513169 w 513169"/>
                <a:gd name="connsiteY1" fmla="*/ 256549 h 513170"/>
                <a:gd name="connsiteX2" fmla="*/ 256548 w 513169"/>
                <a:gd name="connsiteY2" fmla="*/ 513170 h 513170"/>
                <a:gd name="connsiteX3" fmla="*/ 0 w 513169"/>
                <a:gd name="connsiteY3" fmla="*/ 256622 h 5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169" h="513170">
                  <a:moveTo>
                    <a:pt x="256621" y="0"/>
                  </a:moveTo>
                  <a:lnTo>
                    <a:pt x="513169" y="256549"/>
                  </a:lnTo>
                  <a:lnTo>
                    <a:pt x="256548" y="513170"/>
                  </a:lnTo>
                  <a:lnTo>
                    <a:pt x="0" y="25662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02</a:t>
              </a:r>
              <a:endPara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Freeform 165"/>
            <p:cNvSpPr>
              <a:spLocks noEditPoints="1"/>
            </p:cNvSpPr>
            <p:nvPr/>
          </p:nvSpPr>
          <p:spPr bwMode="auto">
            <a:xfrm>
              <a:off x="5912734" y="3170010"/>
              <a:ext cx="366530" cy="250858"/>
            </a:xfrm>
            <a:custGeom>
              <a:avLst/>
              <a:gdLst>
                <a:gd name="T0" fmla="*/ 135 w 140"/>
                <a:gd name="T1" fmla="*/ 11 h 96"/>
                <a:gd name="T2" fmla="*/ 121 w 140"/>
                <a:gd name="T3" fmla="*/ 5 h 96"/>
                <a:gd name="T4" fmla="*/ 108 w 140"/>
                <a:gd name="T5" fmla="*/ 11 h 96"/>
                <a:gd name="T6" fmla="*/ 102 w 140"/>
                <a:gd name="T7" fmla="*/ 24 h 96"/>
                <a:gd name="T8" fmla="*/ 104 w 140"/>
                <a:gd name="T9" fmla="*/ 32 h 96"/>
                <a:gd name="T10" fmla="*/ 81 w 140"/>
                <a:gd name="T11" fmla="*/ 52 h 96"/>
                <a:gd name="T12" fmla="*/ 69 w 140"/>
                <a:gd name="T13" fmla="*/ 49 h 96"/>
                <a:gd name="T14" fmla="*/ 57 w 140"/>
                <a:gd name="T15" fmla="*/ 52 h 96"/>
                <a:gd name="T16" fmla="*/ 41 w 140"/>
                <a:gd name="T17" fmla="*/ 33 h 96"/>
                <a:gd name="T18" fmla="*/ 37 w 140"/>
                <a:gd name="T19" fmla="*/ 6 h 96"/>
                <a:gd name="T20" fmla="*/ 22 w 140"/>
                <a:gd name="T21" fmla="*/ 0 h 96"/>
                <a:gd name="T22" fmla="*/ 6 w 140"/>
                <a:gd name="T23" fmla="*/ 6 h 96"/>
                <a:gd name="T24" fmla="*/ 0 w 140"/>
                <a:gd name="T25" fmla="*/ 22 h 96"/>
                <a:gd name="T26" fmla="*/ 6 w 140"/>
                <a:gd name="T27" fmla="*/ 37 h 96"/>
                <a:gd name="T28" fmla="*/ 22 w 140"/>
                <a:gd name="T29" fmla="*/ 43 h 96"/>
                <a:gd name="T30" fmla="*/ 32 w 140"/>
                <a:gd name="T31" fmla="*/ 41 h 96"/>
                <a:gd name="T32" fmla="*/ 49 w 140"/>
                <a:gd name="T33" fmla="*/ 60 h 96"/>
                <a:gd name="T34" fmla="*/ 52 w 140"/>
                <a:gd name="T35" fmla="*/ 89 h 96"/>
                <a:gd name="T36" fmla="*/ 69 w 140"/>
                <a:gd name="T37" fmla="*/ 96 h 96"/>
                <a:gd name="T38" fmla="*/ 85 w 140"/>
                <a:gd name="T39" fmla="*/ 89 h 96"/>
                <a:gd name="T40" fmla="*/ 89 w 140"/>
                <a:gd name="T41" fmla="*/ 61 h 96"/>
                <a:gd name="T42" fmla="*/ 113 w 140"/>
                <a:gd name="T43" fmla="*/ 41 h 96"/>
                <a:gd name="T44" fmla="*/ 121 w 140"/>
                <a:gd name="T45" fmla="*/ 43 h 96"/>
                <a:gd name="T46" fmla="*/ 135 w 140"/>
                <a:gd name="T47" fmla="*/ 37 h 96"/>
                <a:gd name="T48" fmla="*/ 140 w 140"/>
                <a:gd name="T49" fmla="*/ 24 h 96"/>
                <a:gd name="T50" fmla="*/ 135 w 140"/>
                <a:gd name="T51" fmla="*/ 11 h 96"/>
                <a:gd name="T52" fmla="*/ 15 w 140"/>
                <a:gd name="T53" fmla="*/ 29 h 96"/>
                <a:gd name="T54" fmla="*/ 12 w 140"/>
                <a:gd name="T55" fmla="*/ 22 h 96"/>
                <a:gd name="T56" fmla="*/ 15 w 140"/>
                <a:gd name="T57" fmla="*/ 15 h 96"/>
                <a:gd name="T58" fmla="*/ 22 w 140"/>
                <a:gd name="T59" fmla="*/ 12 h 96"/>
                <a:gd name="T60" fmla="*/ 29 w 140"/>
                <a:gd name="T61" fmla="*/ 15 h 96"/>
                <a:gd name="T62" fmla="*/ 29 w 140"/>
                <a:gd name="T63" fmla="*/ 29 h 96"/>
                <a:gd name="T64" fmla="*/ 15 w 140"/>
                <a:gd name="T65" fmla="*/ 29 h 96"/>
                <a:gd name="T66" fmla="*/ 126 w 140"/>
                <a:gd name="T67" fmla="*/ 29 h 96"/>
                <a:gd name="T68" fmla="*/ 116 w 140"/>
                <a:gd name="T69" fmla="*/ 29 h 96"/>
                <a:gd name="T70" fmla="*/ 114 w 140"/>
                <a:gd name="T71" fmla="*/ 24 h 96"/>
                <a:gd name="T72" fmla="*/ 116 w 140"/>
                <a:gd name="T73" fmla="*/ 19 h 96"/>
                <a:gd name="T74" fmla="*/ 121 w 140"/>
                <a:gd name="T75" fmla="*/ 17 h 96"/>
                <a:gd name="T76" fmla="*/ 126 w 140"/>
                <a:gd name="T77" fmla="*/ 19 h 96"/>
                <a:gd name="T78" fmla="*/ 128 w 140"/>
                <a:gd name="T79" fmla="*/ 24 h 96"/>
                <a:gd name="T80" fmla="*/ 126 w 140"/>
                <a:gd name="T81" fmla="*/ 2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0" h="96">
                  <a:moveTo>
                    <a:pt x="135" y="11"/>
                  </a:moveTo>
                  <a:cubicBezTo>
                    <a:pt x="131" y="7"/>
                    <a:pt x="126" y="5"/>
                    <a:pt x="121" y="5"/>
                  </a:cubicBezTo>
                  <a:cubicBezTo>
                    <a:pt x="116" y="5"/>
                    <a:pt x="111" y="7"/>
                    <a:pt x="108" y="11"/>
                  </a:cubicBezTo>
                  <a:cubicBezTo>
                    <a:pt x="104" y="14"/>
                    <a:pt x="102" y="19"/>
                    <a:pt x="102" y="24"/>
                  </a:cubicBezTo>
                  <a:cubicBezTo>
                    <a:pt x="102" y="27"/>
                    <a:pt x="103" y="30"/>
                    <a:pt x="104" y="32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77" y="50"/>
                    <a:pt x="73" y="49"/>
                    <a:pt x="69" y="49"/>
                  </a:cubicBezTo>
                  <a:cubicBezTo>
                    <a:pt x="65" y="49"/>
                    <a:pt x="61" y="50"/>
                    <a:pt x="57" y="52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5" y="24"/>
                    <a:pt x="44" y="13"/>
                    <a:pt x="37" y="6"/>
                  </a:cubicBezTo>
                  <a:cubicBezTo>
                    <a:pt x="33" y="2"/>
                    <a:pt x="28" y="0"/>
                    <a:pt x="22" y="0"/>
                  </a:cubicBezTo>
                  <a:cubicBezTo>
                    <a:pt x="16" y="0"/>
                    <a:pt x="11" y="2"/>
                    <a:pt x="6" y="6"/>
                  </a:cubicBezTo>
                  <a:cubicBezTo>
                    <a:pt x="2" y="10"/>
                    <a:pt x="0" y="16"/>
                    <a:pt x="0" y="22"/>
                  </a:cubicBezTo>
                  <a:cubicBezTo>
                    <a:pt x="0" y="27"/>
                    <a:pt x="2" y="33"/>
                    <a:pt x="6" y="37"/>
                  </a:cubicBezTo>
                  <a:cubicBezTo>
                    <a:pt x="11" y="41"/>
                    <a:pt x="16" y="43"/>
                    <a:pt x="22" y="43"/>
                  </a:cubicBezTo>
                  <a:cubicBezTo>
                    <a:pt x="25" y="43"/>
                    <a:pt x="29" y="42"/>
                    <a:pt x="32" y="41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3" y="69"/>
                    <a:pt x="44" y="81"/>
                    <a:pt x="52" y="89"/>
                  </a:cubicBezTo>
                  <a:cubicBezTo>
                    <a:pt x="56" y="94"/>
                    <a:pt x="62" y="96"/>
                    <a:pt x="69" y="96"/>
                  </a:cubicBezTo>
                  <a:cubicBezTo>
                    <a:pt x="75" y="96"/>
                    <a:pt x="81" y="94"/>
                    <a:pt x="85" y="89"/>
                  </a:cubicBezTo>
                  <a:cubicBezTo>
                    <a:pt x="93" y="82"/>
                    <a:pt x="94" y="70"/>
                    <a:pt x="89" y="61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15" y="42"/>
                    <a:pt x="118" y="43"/>
                    <a:pt x="121" y="43"/>
                  </a:cubicBezTo>
                  <a:cubicBezTo>
                    <a:pt x="126" y="43"/>
                    <a:pt x="131" y="41"/>
                    <a:pt x="135" y="37"/>
                  </a:cubicBezTo>
                  <a:cubicBezTo>
                    <a:pt x="138" y="34"/>
                    <a:pt x="140" y="29"/>
                    <a:pt x="140" y="24"/>
                  </a:cubicBezTo>
                  <a:cubicBezTo>
                    <a:pt x="140" y="19"/>
                    <a:pt x="138" y="14"/>
                    <a:pt x="135" y="11"/>
                  </a:cubicBezTo>
                  <a:close/>
                  <a:moveTo>
                    <a:pt x="15" y="29"/>
                  </a:moveTo>
                  <a:cubicBezTo>
                    <a:pt x="13" y="27"/>
                    <a:pt x="12" y="24"/>
                    <a:pt x="12" y="22"/>
                  </a:cubicBezTo>
                  <a:cubicBezTo>
                    <a:pt x="12" y="19"/>
                    <a:pt x="13" y="17"/>
                    <a:pt x="15" y="15"/>
                  </a:cubicBezTo>
                  <a:cubicBezTo>
                    <a:pt x="17" y="13"/>
                    <a:pt x="19" y="12"/>
                    <a:pt x="22" y="12"/>
                  </a:cubicBezTo>
                  <a:cubicBezTo>
                    <a:pt x="24" y="12"/>
                    <a:pt x="27" y="13"/>
                    <a:pt x="29" y="15"/>
                  </a:cubicBezTo>
                  <a:cubicBezTo>
                    <a:pt x="33" y="18"/>
                    <a:pt x="33" y="25"/>
                    <a:pt x="29" y="29"/>
                  </a:cubicBezTo>
                  <a:cubicBezTo>
                    <a:pt x="25" y="32"/>
                    <a:pt x="19" y="32"/>
                    <a:pt x="15" y="29"/>
                  </a:cubicBezTo>
                  <a:close/>
                  <a:moveTo>
                    <a:pt x="126" y="29"/>
                  </a:moveTo>
                  <a:cubicBezTo>
                    <a:pt x="123" y="32"/>
                    <a:pt x="119" y="32"/>
                    <a:pt x="116" y="29"/>
                  </a:cubicBezTo>
                  <a:cubicBezTo>
                    <a:pt x="115" y="28"/>
                    <a:pt x="114" y="26"/>
                    <a:pt x="114" y="24"/>
                  </a:cubicBezTo>
                  <a:cubicBezTo>
                    <a:pt x="114" y="22"/>
                    <a:pt x="115" y="21"/>
                    <a:pt x="116" y="19"/>
                  </a:cubicBezTo>
                  <a:cubicBezTo>
                    <a:pt x="118" y="18"/>
                    <a:pt x="119" y="17"/>
                    <a:pt x="121" y="17"/>
                  </a:cubicBezTo>
                  <a:cubicBezTo>
                    <a:pt x="123" y="17"/>
                    <a:pt x="125" y="18"/>
                    <a:pt x="126" y="19"/>
                  </a:cubicBezTo>
                  <a:cubicBezTo>
                    <a:pt x="127" y="21"/>
                    <a:pt x="128" y="22"/>
                    <a:pt x="128" y="24"/>
                  </a:cubicBezTo>
                  <a:cubicBezTo>
                    <a:pt x="128" y="26"/>
                    <a:pt x="127" y="28"/>
                    <a:pt x="126" y="2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127931" y="1717565"/>
            <a:ext cx="2092373" cy="2092374"/>
            <a:chOff x="8127931" y="2127140"/>
            <a:chExt cx="2092373" cy="2092374"/>
          </a:xfrm>
        </p:grpSpPr>
        <p:sp>
          <p:nvSpPr>
            <p:cNvPr id="25" name="任意多边形: 形状 24"/>
            <p:cNvSpPr/>
            <p:nvPr/>
          </p:nvSpPr>
          <p:spPr>
            <a:xfrm>
              <a:off x="8127931" y="2127140"/>
              <a:ext cx="2092373" cy="2092374"/>
            </a:xfrm>
            <a:custGeom>
              <a:avLst/>
              <a:gdLst>
                <a:gd name="connsiteX0" fmla="*/ 1046336 w 2092373"/>
                <a:gd name="connsiteY0" fmla="*/ 0 h 2092374"/>
                <a:gd name="connsiteX1" fmla="*/ 2092373 w 2092373"/>
                <a:gd name="connsiteY1" fmla="*/ 1046038 h 2092374"/>
                <a:gd name="connsiteX2" fmla="*/ 1046037 w 2092373"/>
                <a:gd name="connsiteY2" fmla="*/ 2092374 h 2092374"/>
                <a:gd name="connsiteX3" fmla="*/ 0 w 2092373"/>
                <a:gd name="connsiteY3" fmla="*/ 1046337 h 209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373" h="2092374">
                  <a:moveTo>
                    <a:pt x="1046336" y="0"/>
                  </a:moveTo>
                  <a:lnTo>
                    <a:pt x="2092373" y="1046038"/>
                  </a:lnTo>
                  <a:lnTo>
                    <a:pt x="1046037" y="2092374"/>
                  </a:lnTo>
                  <a:lnTo>
                    <a:pt x="0" y="1046337"/>
                  </a:lnTo>
                  <a:close/>
                </a:path>
              </a:pathLst>
            </a:custGeom>
            <a:solidFill>
              <a:schemeClr val="accent3"/>
            </a:solidFill>
            <a:ln w="6350">
              <a:solidFill>
                <a:schemeClr val="bg1"/>
              </a:solidFill>
              <a:miter lim="800000"/>
            </a:ln>
          </p:spPr>
          <p:txBody>
            <a:bodyPr wrap="none" lIns="0" tIns="0" rIns="0" bIns="0" anchor="ctr"/>
            <a:lstStyle/>
            <a:p>
              <a:pPr eaLnBrk="0" hangingPunct="0"/>
              <a:endParaRPr lang="zh-CN" altLang="en-US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8917533" y="2294119"/>
              <a:ext cx="513169" cy="513170"/>
            </a:xfrm>
            <a:custGeom>
              <a:avLst/>
              <a:gdLst>
                <a:gd name="connsiteX0" fmla="*/ 256621 w 513169"/>
                <a:gd name="connsiteY0" fmla="*/ 0 h 513170"/>
                <a:gd name="connsiteX1" fmla="*/ 513169 w 513169"/>
                <a:gd name="connsiteY1" fmla="*/ 256549 h 513170"/>
                <a:gd name="connsiteX2" fmla="*/ 256548 w 513169"/>
                <a:gd name="connsiteY2" fmla="*/ 513170 h 513170"/>
                <a:gd name="connsiteX3" fmla="*/ 0 w 513169"/>
                <a:gd name="connsiteY3" fmla="*/ 256622 h 5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169" h="513170">
                  <a:moveTo>
                    <a:pt x="256621" y="0"/>
                  </a:moveTo>
                  <a:lnTo>
                    <a:pt x="513169" y="256549"/>
                  </a:lnTo>
                  <a:lnTo>
                    <a:pt x="256548" y="513170"/>
                  </a:lnTo>
                  <a:lnTo>
                    <a:pt x="0" y="25662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03</a:t>
              </a:r>
              <a:endParaRPr lang="zh-CN" altLang="en-US" sz="2000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990852" y="3123782"/>
              <a:ext cx="366530" cy="363743"/>
              <a:chOff x="8388351" y="2273300"/>
              <a:chExt cx="417513" cy="414337"/>
            </a:xfrm>
            <a:solidFill>
              <a:schemeClr val="bg2"/>
            </a:solidFill>
          </p:grpSpPr>
          <p:sp>
            <p:nvSpPr>
              <p:cNvPr id="28" name="Freeform 78"/>
              <p:cNvSpPr>
                <a:spLocks noEditPoints="1"/>
              </p:cNvSpPr>
              <p:nvPr/>
            </p:nvSpPr>
            <p:spPr bwMode="auto">
              <a:xfrm>
                <a:off x="8388351" y="2273300"/>
                <a:ext cx="417513" cy="311150"/>
              </a:xfrm>
              <a:custGeom>
                <a:avLst/>
                <a:gdLst>
                  <a:gd name="T0" fmla="*/ 52 w 140"/>
                  <a:gd name="T1" fmla="*/ 75 h 105"/>
                  <a:gd name="T2" fmla="*/ 52 w 140"/>
                  <a:gd name="T3" fmla="*/ 76 h 105"/>
                  <a:gd name="T4" fmla="*/ 53 w 140"/>
                  <a:gd name="T5" fmla="*/ 76 h 105"/>
                  <a:gd name="T6" fmla="*/ 52 w 140"/>
                  <a:gd name="T7" fmla="*/ 75 h 105"/>
                  <a:gd name="T8" fmla="*/ 136 w 140"/>
                  <a:gd name="T9" fmla="*/ 0 h 105"/>
                  <a:gd name="T10" fmla="*/ 4 w 140"/>
                  <a:gd name="T11" fmla="*/ 0 h 105"/>
                  <a:gd name="T12" fmla="*/ 0 w 140"/>
                  <a:gd name="T13" fmla="*/ 4 h 105"/>
                  <a:gd name="T14" fmla="*/ 0 w 140"/>
                  <a:gd name="T15" fmla="*/ 16 h 105"/>
                  <a:gd name="T16" fmla="*/ 4 w 140"/>
                  <a:gd name="T17" fmla="*/ 20 h 105"/>
                  <a:gd name="T18" fmla="*/ 6 w 140"/>
                  <a:gd name="T19" fmla="*/ 20 h 105"/>
                  <a:gd name="T20" fmla="*/ 10 w 140"/>
                  <a:gd name="T21" fmla="*/ 24 h 105"/>
                  <a:gd name="T22" fmla="*/ 10 w 140"/>
                  <a:gd name="T23" fmla="*/ 101 h 105"/>
                  <a:gd name="T24" fmla="*/ 14 w 140"/>
                  <a:gd name="T25" fmla="*/ 105 h 105"/>
                  <a:gd name="T26" fmla="*/ 126 w 140"/>
                  <a:gd name="T27" fmla="*/ 105 h 105"/>
                  <a:gd name="T28" fmla="*/ 130 w 140"/>
                  <a:gd name="T29" fmla="*/ 101 h 105"/>
                  <a:gd name="T30" fmla="*/ 130 w 140"/>
                  <a:gd name="T31" fmla="*/ 24 h 105"/>
                  <a:gd name="T32" fmla="*/ 134 w 140"/>
                  <a:gd name="T33" fmla="*/ 20 h 105"/>
                  <a:gd name="T34" fmla="*/ 136 w 140"/>
                  <a:gd name="T35" fmla="*/ 20 h 105"/>
                  <a:gd name="T36" fmla="*/ 140 w 140"/>
                  <a:gd name="T37" fmla="*/ 16 h 105"/>
                  <a:gd name="T38" fmla="*/ 140 w 140"/>
                  <a:gd name="T39" fmla="*/ 4 h 105"/>
                  <a:gd name="T40" fmla="*/ 136 w 140"/>
                  <a:gd name="T41" fmla="*/ 0 h 105"/>
                  <a:gd name="T42" fmla="*/ 86 w 140"/>
                  <a:gd name="T43" fmla="*/ 56 h 105"/>
                  <a:gd name="T44" fmla="*/ 72 w 140"/>
                  <a:gd name="T45" fmla="*/ 56 h 105"/>
                  <a:gd name="T46" fmla="*/ 72 w 140"/>
                  <a:gd name="T47" fmla="*/ 42 h 105"/>
                  <a:gd name="T48" fmla="*/ 86 w 140"/>
                  <a:gd name="T49" fmla="*/ 56 h 105"/>
                  <a:gd name="T50" fmla="*/ 77 w 140"/>
                  <a:gd name="T51" fmla="*/ 82 h 105"/>
                  <a:gd name="T52" fmla="*/ 70 w 140"/>
                  <a:gd name="T53" fmla="*/ 83 h 105"/>
                  <a:gd name="T54" fmla="*/ 53 w 140"/>
                  <a:gd name="T55" fmla="*/ 76 h 105"/>
                  <a:gd name="T56" fmla="*/ 52 w 140"/>
                  <a:gd name="T57" fmla="*/ 75 h 105"/>
                  <a:gd name="T58" fmla="*/ 45 w 140"/>
                  <a:gd name="T59" fmla="*/ 58 h 105"/>
                  <a:gd name="T60" fmla="*/ 47 w 140"/>
                  <a:gd name="T61" fmla="*/ 51 h 105"/>
                  <a:gd name="T62" fmla="*/ 68 w 140"/>
                  <a:gd name="T63" fmla="*/ 34 h 105"/>
                  <a:gd name="T64" fmla="*/ 68 w 140"/>
                  <a:gd name="T65" fmla="*/ 60 h 105"/>
                  <a:gd name="T66" fmla="*/ 95 w 140"/>
                  <a:gd name="T67" fmla="*/ 60 h 105"/>
                  <a:gd name="T68" fmla="*/ 77 w 140"/>
                  <a:gd name="T69" fmla="*/ 82 h 105"/>
                  <a:gd name="T70" fmla="*/ 52 w 140"/>
                  <a:gd name="T71" fmla="*/ 75 h 105"/>
                  <a:gd name="T72" fmla="*/ 52 w 140"/>
                  <a:gd name="T73" fmla="*/ 76 h 105"/>
                  <a:gd name="T74" fmla="*/ 53 w 140"/>
                  <a:gd name="T75" fmla="*/ 76 h 105"/>
                  <a:gd name="T76" fmla="*/ 52 w 140"/>
                  <a:gd name="T77" fmla="*/ 7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0" h="105">
                    <a:moveTo>
                      <a:pt x="52" y="75"/>
                    </a:moveTo>
                    <a:cubicBezTo>
                      <a:pt x="52" y="76"/>
                      <a:pt x="52" y="76"/>
                      <a:pt x="52" y="76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53" y="76"/>
                      <a:pt x="52" y="75"/>
                      <a:pt x="52" y="75"/>
                    </a:cubicBezTo>
                    <a:close/>
                    <a:moveTo>
                      <a:pt x="13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0"/>
                      <a:pt x="4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8" y="20"/>
                      <a:pt x="10" y="22"/>
                      <a:pt x="10" y="24"/>
                    </a:cubicBezTo>
                    <a:cubicBezTo>
                      <a:pt x="10" y="101"/>
                      <a:pt x="10" y="101"/>
                      <a:pt x="10" y="101"/>
                    </a:cubicBezTo>
                    <a:cubicBezTo>
                      <a:pt x="10" y="103"/>
                      <a:pt x="11" y="105"/>
                      <a:pt x="14" y="105"/>
                    </a:cubicBezTo>
                    <a:cubicBezTo>
                      <a:pt x="126" y="105"/>
                      <a:pt x="126" y="105"/>
                      <a:pt x="126" y="105"/>
                    </a:cubicBezTo>
                    <a:cubicBezTo>
                      <a:pt x="129" y="105"/>
                      <a:pt x="130" y="103"/>
                      <a:pt x="130" y="101"/>
                    </a:cubicBezTo>
                    <a:cubicBezTo>
                      <a:pt x="130" y="24"/>
                      <a:pt x="130" y="24"/>
                      <a:pt x="130" y="24"/>
                    </a:cubicBezTo>
                    <a:cubicBezTo>
                      <a:pt x="130" y="22"/>
                      <a:pt x="132" y="20"/>
                      <a:pt x="134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8" y="20"/>
                      <a:pt x="140" y="19"/>
                      <a:pt x="140" y="16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140" y="2"/>
                      <a:pt x="138" y="0"/>
                      <a:pt x="136" y="0"/>
                    </a:cubicBezTo>
                    <a:close/>
                    <a:moveTo>
                      <a:pt x="86" y="56"/>
                    </a:move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9" y="43"/>
                      <a:pt x="85" y="49"/>
                      <a:pt x="86" y="56"/>
                    </a:cubicBezTo>
                    <a:close/>
                    <a:moveTo>
                      <a:pt x="77" y="82"/>
                    </a:moveTo>
                    <a:cubicBezTo>
                      <a:pt x="75" y="82"/>
                      <a:pt x="73" y="83"/>
                      <a:pt x="70" y="83"/>
                    </a:cubicBezTo>
                    <a:cubicBezTo>
                      <a:pt x="64" y="83"/>
                      <a:pt x="58" y="80"/>
                      <a:pt x="53" y="76"/>
                    </a:cubicBezTo>
                    <a:cubicBezTo>
                      <a:pt x="53" y="76"/>
                      <a:pt x="52" y="75"/>
                      <a:pt x="52" y="75"/>
                    </a:cubicBezTo>
                    <a:cubicBezTo>
                      <a:pt x="48" y="70"/>
                      <a:pt x="45" y="65"/>
                      <a:pt x="45" y="58"/>
                    </a:cubicBezTo>
                    <a:cubicBezTo>
                      <a:pt x="45" y="56"/>
                      <a:pt x="46" y="53"/>
                      <a:pt x="47" y="51"/>
                    </a:cubicBezTo>
                    <a:cubicBezTo>
                      <a:pt x="49" y="41"/>
                      <a:pt x="58" y="35"/>
                      <a:pt x="68" y="3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95" y="60"/>
                      <a:pt x="95" y="60"/>
                      <a:pt x="95" y="60"/>
                    </a:cubicBezTo>
                    <a:cubicBezTo>
                      <a:pt x="94" y="70"/>
                      <a:pt x="87" y="79"/>
                      <a:pt x="77" y="82"/>
                    </a:cubicBezTo>
                    <a:close/>
                    <a:moveTo>
                      <a:pt x="52" y="75"/>
                    </a:moveTo>
                    <a:cubicBezTo>
                      <a:pt x="52" y="76"/>
                      <a:pt x="52" y="76"/>
                      <a:pt x="52" y="76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53" y="76"/>
                      <a:pt x="52" y="75"/>
                      <a:pt x="52" y="7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Freeform 79"/>
              <p:cNvSpPr/>
              <p:nvPr/>
            </p:nvSpPr>
            <p:spPr bwMode="auto">
              <a:xfrm>
                <a:off x="8489951" y="2611437"/>
                <a:ext cx="214313" cy="76200"/>
              </a:xfrm>
              <a:custGeom>
                <a:avLst/>
                <a:gdLst>
                  <a:gd name="T0" fmla="*/ 47 w 72"/>
                  <a:gd name="T1" fmla="*/ 0 h 26"/>
                  <a:gd name="T2" fmla="*/ 40 w 72"/>
                  <a:gd name="T3" fmla="*/ 0 h 26"/>
                  <a:gd name="T4" fmla="*/ 32 w 72"/>
                  <a:gd name="T5" fmla="*/ 0 h 26"/>
                  <a:gd name="T6" fmla="*/ 14 w 72"/>
                  <a:gd name="T7" fmla="*/ 0 h 26"/>
                  <a:gd name="T8" fmla="*/ 9 w 72"/>
                  <a:gd name="T9" fmla="*/ 3 h 26"/>
                  <a:gd name="T10" fmla="*/ 1 w 72"/>
                  <a:gd name="T11" fmla="*/ 22 h 26"/>
                  <a:gd name="T12" fmla="*/ 3 w 72"/>
                  <a:gd name="T13" fmla="*/ 26 h 26"/>
                  <a:gd name="T14" fmla="*/ 14 w 72"/>
                  <a:gd name="T15" fmla="*/ 26 h 26"/>
                  <a:gd name="T16" fmla="*/ 20 w 72"/>
                  <a:gd name="T17" fmla="*/ 22 h 26"/>
                  <a:gd name="T18" fmla="*/ 23 w 72"/>
                  <a:gd name="T19" fmla="*/ 16 h 26"/>
                  <a:gd name="T20" fmla="*/ 29 w 72"/>
                  <a:gd name="T21" fmla="*/ 13 h 26"/>
                  <a:gd name="T22" fmla="*/ 43 w 72"/>
                  <a:gd name="T23" fmla="*/ 13 h 26"/>
                  <a:gd name="T24" fmla="*/ 49 w 72"/>
                  <a:gd name="T25" fmla="*/ 16 h 26"/>
                  <a:gd name="T26" fmla="*/ 52 w 72"/>
                  <a:gd name="T27" fmla="*/ 22 h 26"/>
                  <a:gd name="T28" fmla="*/ 58 w 72"/>
                  <a:gd name="T29" fmla="*/ 26 h 26"/>
                  <a:gd name="T30" fmla="*/ 69 w 72"/>
                  <a:gd name="T31" fmla="*/ 26 h 26"/>
                  <a:gd name="T32" fmla="*/ 71 w 72"/>
                  <a:gd name="T33" fmla="*/ 22 h 26"/>
                  <a:gd name="T34" fmla="*/ 63 w 72"/>
                  <a:gd name="T35" fmla="*/ 3 h 26"/>
                  <a:gd name="T36" fmla="*/ 58 w 72"/>
                  <a:gd name="T37" fmla="*/ 0 h 26"/>
                  <a:gd name="T38" fmla="*/ 47 w 72"/>
                  <a:gd name="T3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26">
                    <a:moveTo>
                      <a:pt x="47" y="0"/>
                    </a:moveTo>
                    <a:cubicBezTo>
                      <a:pt x="45" y="0"/>
                      <a:pt x="42" y="0"/>
                      <a:pt x="40" y="0"/>
                    </a:cubicBezTo>
                    <a:cubicBezTo>
                      <a:pt x="38" y="0"/>
                      <a:pt x="34" y="0"/>
                      <a:pt x="32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0"/>
                      <a:pt x="10" y="1"/>
                      <a:pt x="9" y="3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1" y="26"/>
                      <a:pt x="3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7" y="26"/>
                      <a:pt x="19" y="24"/>
                      <a:pt x="20" y="22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4" y="14"/>
                      <a:pt x="27" y="13"/>
                      <a:pt x="29" y="13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5" y="13"/>
                      <a:pt x="48" y="14"/>
                      <a:pt x="49" y="16"/>
                    </a:cubicBezTo>
                    <a:cubicBezTo>
                      <a:pt x="52" y="22"/>
                      <a:pt x="52" y="22"/>
                      <a:pt x="52" y="22"/>
                    </a:cubicBezTo>
                    <a:cubicBezTo>
                      <a:pt x="53" y="24"/>
                      <a:pt x="55" y="26"/>
                      <a:pt x="5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1" y="26"/>
                      <a:pt x="72" y="24"/>
                      <a:pt x="71" y="22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2" y="1"/>
                      <a:pt x="60" y="0"/>
                      <a:pt x="58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1989113" y="1717565"/>
            <a:ext cx="2092373" cy="2092374"/>
            <a:chOff x="1989113" y="2127140"/>
            <a:chExt cx="2092373" cy="2092374"/>
          </a:xfrm>
        </p:grpSpPr>
        <p:sp>
          <p:nvSpPr>
            <p:cNvPr id="31" name="任意多边形: 形状 30"/>
            <p:cNvSpPr/>
            <p:nvPr/>
          </p:nvSpPr>
          <p:spPr>
            <a:xfrm>
              <a:off x="1989113" y="2127140"/>
              <a:ext cx="2092373" cy="2092374"/>
            </a:xfrm>
            <a:custGeom>
              <a:avLst/>
              <a:gdLst>
                <a:gd name="connsiteX0" fmla="*/ 1046336 w 2092373"/>
                <a:gd name="connsiteY0" fmla="*/ 0 h 2092374"/>
                <a:gd name="connsiteX1" fmla="*/ 2092373 w 2092373"/>
                <a:gd name="connsiteY1" fmla="*/ 1046038 h 2092374"/>
                <a:gd name="connsiteX2" fmla="*/ 1046037 w 2092373"/>
                <a:gd name="connsiteY2" fmla="*/ 2092374 h 2092374"/>
                <a:gd name="connsiteX3" fmla="*/ 0 w 2092373"/>
                <a:gd name="connsiteY3" fmla="*/ 1046337 h 209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373" h="2092374">
                  <a:moveTo>
                    <a:pt x="1046336" y="0"/>
                  </a:moveTo>
                  <a:lnTo>
                    <a:pt x="2092373" y="1046038"/>
                  </a:lnTo>
                  <a:lnTo>
                    <a:pt x="1046037" y="2092374"/>
                  </a:lnTo>
                  <a:lnTo>
                    <a:pt x="0" y="1046337"/>
                  </a:lnTo>
                  <a:close/>
                </a:path>
              </a:pathLst>
            </a:custGeom>
            <a:solidFill>
              <a:schemeClr val="accent1"/>
            </a:solidFill>
            <a:ln w="6350">
              <a:noFill/>
              <a:miter lim="800000"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eaLnBrk="0" hangingPunct="0"/>
              <a:endParaRPr lang="zh-CN" altLang="en-US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2778715" y="2294119"/>
              <a:ext cx="513169" cy="513170"/>
            </a:xfrm>
            <a:custGeom>
              <a:avLst/>
              <a:gdLst>
                <a:gd name="connsiteX0" fmla="*/ 256621 w 513169"/>
                <a:gd name="connsiteY0" fmla="*/ 0 h 513170"/>
                <a:gd name="connsiteX1" fmla="*/ 513169 w 513169"/>
                <a:gd name="connsiteY1" fmla="*/ 256549 h 513170"/>
                <a:gd name="connsiteX2" fmla="*/ 256548 w 513169"/>
                <a:gd name="connsiteY2" fmla="*/ 513170 h 513170"/>
                <a:gd name="connsiteX3" fmla="*/ 0 w 513169"/>
                <a:gd name="connsiteY3" fmla="*/ 256622 h 5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169" h="513170">
                  <a:moveTo>
                    <a:pt x="256621" y="0"/>
                  </a:moveTo>
                  <a:lnTo>
                    <a:pt x="513169" y="256549"/>
                  </a:lnTo>
                  <a:lnTo>
                    <a:pt x="256548" y="513170"/>
                  </a:lnTo>
                  <a:lnTo>
                    <a:pt x="0" y="25662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altLang="zh-CN" sz="20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01</a:t>
              </a:r>
              <a:endParaRPr lang="zh-CN" altLang="en-US" sz="2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" name="Freeform 107"/>
            <p:cNvSpPr>
              <a:spLocks noEditPoints="1"/>
            </p:cNvSpPr>
            <p:nvPr/>
          </p:nvSpPr>
          <p:spPr bwMode="auto">
            <a:xfrm>
              <a:off x="2852034" y="3087398"/>
              <a:ext cx="366530" cy="317753"/>
            </a:xfrm>
            <a:custGeom>
              <a:avLst/>
              <a:gdLst>
                <a:gd name="T0" fmla="*/ 136 w 140"/>
                <a:gd name="T1" fmla="*/ 0 h 122"/>
                <a:gd name="T2" fmla="*/ 28 w 140"/>
                <a:gd name="T3" fmla="*/ 0 h 122"/>
                <a:gd name="T4" fmla="*/ 24 w 140"/>
                <a:gd name="T5" fmla="*/ 4 h 122"/>
                <a:gd name="T6" fmla="*/ 24 w 140"/>
                <a:gd name="T7" fmla="*/ 9 h 122"/>
                <a:gd name="T8" fmla="*/ 24 w 140"/>
                <a:gd name="T9" fmla="*/ 13 h 122"/>
                <a:gd name="T10" fmla="*/ 24 w 140"/>
                <a:gd name="T11" fmla="*/ 16 h 122"/>
                <a:gd name="T12" fmla="*/ 24 w 140"/>
                <a:gd name="T13" fmla="*/ 23 h 122"/>
                <a:gd name="T14" fmla="*/ 24 w 140"/>
                <a:gd name="T15" fmla="*/ 24 h 122"/>
                <a:gd name="T16" fmla="*/ 4 w 140"/>
                <a:gd name="T17" fmla="*/ 24 h 122"/>
                <a:gd name="T18" fmla="*/ 0 w 140"/>
                <a:gd name="T19" fmla="*/ 28 h 122"/>
                <a:gd name="T20" fmla="*/ 0 w 140"/>
                <a:gd name="T21" fmla="*/ 118 h 122"/>
                <a:gd name="T22" fmla="*/ 4 w 140"/>
                <a:gd name="T23" fmla="*/ 122 h 122"/>
                <a:gd name="T24" fmla="*/ 112 w 140"/>
                <a:gd name="T25" fmla="*/ 122 h 122"/>
                <a:gd name="T26" fmla="*/ 116 w 140"/>
                <a:gd name="T27" fmla="*/ 118 h 122"/>
                <a:gd name="T28" fmla="*/ 116 w 140"/>
                <a:gd name="T29" fmla="*/ 98 h 122"/>
                <a:gd name="T30" fmla="*/ 136 w 140"/>
                <a:gd name="T31" fmla="*/ 98 h 122"/>
                <a:gd name="T32" fmla="*/ 140 w 140"/>
                <a:gd name="T33" fmla="*/ 94 h 122"/>
                <a:gd name="T34" fmla="*/ 140 w 140"/>
                <a:gd name="T35" fmla="*/ 89 h 122"/>
                <a:gd name="T36" fmla="*/ 140 w 140"/>
                <a:gd name="T37" fmla="*/ 85 h 122"/>
                <a:gd name="T38" fmla="*/ 140 w 140"/>
                <a:gd name="T39" fmla="*/ 81 h 122"/>
                <a:gd name="T40" fmla="*/ 140 w 140"/>
                <a:gd name="T41" fmla="*/ 17 h 122"/>
                <a:gd name="T42" fmla="*/ 140 w 140"/>
                <a:gd name="T43" fmla="*/ 13 h 122"/>
                <a:gd name="T44" fmla="*/ 140 w 140"/>
                <a:gd name="T45" fmla="*/ 9 h 122"/>
                <a:gd name="T46" fmla="*/ 140 w 140"/>
                <a:gd name="T47" fmla="*/ 4 h 122"/>
                <a:gd name="T48" fmla="*/ 136 w 140"/>
                <a:gd name="T49" fmla="*/ 0 h 122"/>
                <a:gd name="T50" fmla="*/ 68 w 140"/>
                <a:gd name="T51" fmla="*/ 58 h 122"/>
                <a:gd name="T52" fmla="*/ 79 w 140"/>
                <a:gd name="T53" fmla="*/ 47 h 122"/>
                <a:gd name="T54" fmla="*/ 89 w 140"/>
                <a:gd name="T55" fmla="*/ 58 h 122"/>
                <a:gd name="T56" fmla="*/ 79 w 140"/>
                <a:gd name="T57" fmla="*/ 68 h 122"/>
                <a:gd name="T58" fmla="*/ 68 w 140"/>
                <a:gd name="T59" fmla="*/ 58 h 122"/>
                <a:gd name="T60" fmla="*/ 99 w 140"/>
                <a:gd name="T61" fmla="*/ 109 h 122"/>
                <a:gd name="T62" fmla="*/ 17 w 140"/>
                <a:gd name="T63" fmla="*/ 109 h 122"/>
                <a:gd name="T64" fmla="*/ 13 w 140"/>
                <a:gd name="T65" fmla="*/ 105 h 122"/>
                <a:gd name="T66" fmla="*/ 13 w 140"/>
                <a:gd name="T67" fmla="*/ 97 h 122"/>
                <a:gd name="T68" fmla="*/ 14 w 140"/>
                <a:gd name="T69" fmla="*/ 92 h 122"/>
                <a:gd name="T70" fmla="*/ 15 w 140"/>
                <a:gd name="T71" fmla="*/ 89 h 122"/>
                <a:gd name="T72" fmla="*/ 53 w 140"/>
                <a:gd name="T73" fmla="*/ 75 h 122"/>
                <a:gd name="T74" fmla="*/ 60 w 140"/>
                <a:gd name="T75" fmla="*/ 79 h 122"/>
                <a:gd name="T76" fmla="*/ 68 w 140"/>
                <a:gd name="T77" fmla="*/ 83 h 122"/>
                <a:gd name="T78" fmla="*/ 99 w 140"/>
                <a:gd name="T79" fmla="*/ 84 h 122"/>
                <a:gd name="T80" fmla="*/ 100 w 140"/>
                <a:gd name="T81" fmla="*/ 84 h 122"/>
                <a:gd name="T82" fmla="*/ 103 w 140"/>
                <a:gd name="T83" fmla="*/ 86 h 122"/>
                <a:gd name="T84" fmla="*/ 103 w 140"/>
                <a:gd name="T85" fmla="*/ 105 h 122"/>
                <a:gd name="T86" fmla="*/ 99 w 140"/>
                <a:gd name="T87" fmla="*/ 109 h 122"/>
                <a:gd name="T88" fmla="*/ 127 w 140"/>
                <a:gd name="T89" fmla="*/ 81 h 122"/>
                <a:gd name="T90" fmla="*/ 124 w 140"/>
                <a:gd name="T91" fmla="*/ 85 h 122"/>
                <a:gd name="T92" fmla="*/ 123 w 140"/>
                <a:gd name="T93" fmla="*/ 85 h 122"/>
                <a:gd name="T94" fmla="*/ 116 w 140"/>
                <a:gd name="T95" fmla="*/ 85 h 122"/>
                <a:gd name="T96" fmla="*/ 116 w 140"/>
                <a:gd name="T97" fmla="*/ 28 h 122"/>
                <a:gd name="T98" fmla="*/ 112 w 140"/>
                <a:gd name="T99" fmla="*/ 24 h 122"/>
                <a:gd name="T100" fmla="*/ 37 w 140"/>
                <a:gd name="T101" fmla="*/ 24 h 122"/>
                <a:gd name="T102" fmla="*/ 37 w 140"/>
                <a:gd name="T103" fmla="*/ 23 h 122"/>
                <a:gd name="T104" fmla="*/ 37 w 140"/>
                <a:gd name="T105" fmla="*/ 17 h 122"/>
                <a:gd name="T106" fmla="*/ 37 w 140"/>
                <a:gd name="T107" fmla="*/ 16 h 122"/>
                <a:gd name="T108" fmla="*/ 41 w 140"/>
                <a:gd name="T109" fmla="*/ 13 h 122"/>
                <a:gd name="T110" fmla="*/ 123 w 140"/>
                <a:gd name="T111" fmla="*/ 13 h 122"/>
                <a:gd name="T112" fmla="*/ 127 w 140"/>
                <a:gd name="T113" fmla="*/ 17 h 122"/>
                <a:gd name="T114" fmla="*/ 127 w 140"/>
                <a:gd name="T115" fmla="*/ 8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0" h="122">
                  <a:moveTo>
                    <a:pt x="13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2"/>
                    <a:pt x="24" y="4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11"/>
                    <a:pt x="24" y="13"/>
                    <a:pt x="24" y="13"/>
                  </a:cubicBezTo>
                  <a:cubicBezTo>
                    <a:pt x="24" y="13"/>
                    <a:pt x="24" y="14"/>
                    <a:pt x="24" y="16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4"/>
                    <a:pt x="2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0"/>
                    <a:pt x="2" y="122"/>
                    <a:pt x="4" y="12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4" y="122"/>
                    <a:pt x="116" y="120"/>
                    <a:pt x="116" y="118"/>
                  </a:cubicBezTo>
                  <a:cubicBezTo>
                    <a:pt x="116" y="98"/>
                    <a:pt x="116" y="98"/>
                    <a:pt x="116" y="98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8" y="98"/>
                    <a:pt x="140" y="96"/>
                    <a:pt x="140" y="94"/>
                  </a:cubicBezTo>
                  <a:cubicBezTo>
                    <a:pt x="140" y="89"/>
                    <a:pt x="140" y="89"/>
                    <a:pt x="140" y="89"/>
                  </a:cubicBezTo>
                  <a:cubicBezTo>
                    <a:pt x="140" y="87"/>
                    <a:pt x="140" y="85"/>
                    <a:pt x="140" y="85"/>
                  </a:cubicBezTo>
                  <a:cubicBezTo>
                    <a:pt x="140" y="85"/>
                    <a:pt x="140" y="83"/>
                    <a:pt x="140" y="81"/>
                  </a:cubicBezTo>
                  <a:cubicBezTo>
                    <a:pt x="140" y="17"/>
                    <a:pt x="140" y="17"/>
                    <a:pt x="140" y="17"/>
                  </a:cubicBezTo>
                  <a:cubicBezTo>
                    <a:pt x="140" y="15"/>
                    <a:pt x="140" y="13"/>
                    <a:pt x="140" y="13"/>
                  </a:cubicBezTo>
                  <a:cubicBezTo>
                    <a:pt x="140" y="13"/>
                    <a:pt x="140" y="11"/>
                    <a:pt x="140" y="9"/>
                  </a:cubicBezTo>
                  <a:cubicBezTo>
                    <a:pt x="140" y="4"/>
                    <a:pt x="140" y="4"/>
                    <a:pt x="140" y="4"/>
                  </a:cubicBezTo>
                  <a:cubicBezTo>
                    <a:pt x="140" y="2"/>
                    <a:pt x="138" y="0"/>
                    <a:pt x="136" y="0"/>
                  </a:cubicBezTo>
                  <a:close/>
                  <a:moveTo>
                    <a:pt x="68" y="58"/>
                  </a:moveTo>
                  <a:cubicBezTo>
                    <a:pt x="68" y="52"/>
                    <a:pt x="73" y="47"/>
                    <a:pt x="79" y="47"/>
                  </a:cubicBezTo>
                  <a:cubicBezTo>
                    <a:pt x="84" y="47"/>
                    <a:pt x="89" y="52"/>
                    <a:pt x="89" y="58"/>
                  </a:cubicBezTo>
                  <a:cubicBezTo>
                    <a:pt x="89" y="63"/>
                    <a:pt x="84" y="68"/>
                    <a:pt x="79" y="68"/>
                  </a:cubicBezTo>
                  <a:cubicBezTo>
                    <a:pt x="73" y="68"/>
                    <a:pt x="68" y="63"/>
                    <a:pt x="68" y="58"/>
                  </a:cubicBezTo>
                  <a:close/>
                  <a:moveTo>
                    <a:pt x="99" y="109"/>
                  </a:moveTo>
                  <a:cubicBezTo>
                    <a:pt x="17" y="109"/>
                    <a:pt x="17" y="109"/>
                    <a:pt x="17" y="109"/>
                  </a:cubicBezTo>
                  <a:cubicBezTo>
                    <a:pt x="15" y="109"/>
                    <a:pt x="13" y="107"/>
                    <a:pt x="13" y="105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3" y="95"/>
                    <a:pt x="13" y="94"/>
                    <a:pt x="14" y="92"/>
                  </a:cubicBezTo>
                  <a:cubicBezTo>
                    <a:pt x="14" y="91"/>
                    <a:pt x="15" y="90"/>
                    <a:pt x="15" y="89"/>
                  </a:cubicBezTo>
                  <a:cubicBezTo>
                    <a:pt x="15" y="89"/>
                    <a:pt x="29" y="67"/>
                    <a:pt x="53" y="75"/>
                  </a:cubicBezTo>
                  <a:cubicBezTo>
                    <a:pt x="55" y="76"/>
                    <a:pt x="58" y="77"/>
                    <a:pt x="60" y="79"/>
                  </a:cubicBezTo>
                  <a:cubicBezTo>
                    <a:pt x="63" y="80"/>
                    <a:pt x="66" y="82"/>
                    <a:pt x="68" y="83"/>
                  </a:cubicBezTo>
                  <a:cubicBezTo>
                    <a:pt x="89" y="92"/>
                    <a:pt x="99" y="84"/>
                    <a:pt x="99" y="84"/>
                  </a:cubicBezTo>
                  <a:cubicBezTo>
                    <a:pt x="100" y="84"/>
                    <a:pt x="100" y="84"/>
                    <a:pt x="100" y="84"/>
                  </a:cubicBezTo>
                  <a:cubicBezTo>
                    <a:pt x="102" y="83"/>
                    <a:pt x="103" y="84"/>
                    <a:pt x="103" y="86"/>
                  </a:cubicBezTo>
                  <a:cubicBezTo>
                    <a:pt x="103" y="105"/>
                    <a:pt x="103" y="105"/>
                    <a:pt x="103" y="105"/>
                  </a:cubicBezTo>
                  <a:cubicBezTo>
                    <a:pt x="103" y="107"/>
                    <a:pt x="101" y="109"/>
                    <a:pt x="99" y="109"/>
                  </a:cubicBezTo>
                  <a:close/>
                  <a:moveTo>
                    <a:pt x="127" y="81"/>
                  </a:moveTo>
                  <a:cubicBezTo>
                    <a:pt x="127" y="83"/>
                    <a:pt x="126" y="84"/>
                    <a:pt x="124" y="85"/>
                  </a:cubicBezTo>
                  <a:cubicBezTo>
                    <a:pt x="124" y="85"/>
                    <a:pt x="123" y="85"/>
                    <a:pt x="123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28"/>
                    <a:pt x="116" y="28"/>
                    <a:pt x="116" y="28"/>
                  </a:cubicBezTo>
                  <a:cubicBezTo>
                    <a:pt x="116" y="26"/>
                    <a:pt x="114" y="24"/>
                    <a:pt x="112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4"/>
                    <a:pt x="37" y="23"/>
                    <a:pt x="37" y="23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17"/>
                    <a:pt x="37" y="16"/>
                    <a:pt x="37" y="16"/>
                  </a:cubicBezTo>
                  <a:cubicBezTo>
                    <a:pt x="38" y="14"/>
                    <a:pt x="39" y="13"/>
                    <a:pt x="41" y="13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5" y="13"/>
                    <a:pt x="127" y="15"/>
                    <a:pt x="127" y="17"/>
                  </a:cubicBezTo>
                  <a:lnTo>
                    <a:pt x="127" y="8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5016719" y="4301618"/>
            <a:ext cx="2182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文本预处理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自动化程度较低</a:t>
            </a:r>
          </a:p>
        </p:txBody>
      </p:sp>
      <p:sp>
        <p:nvSpPr>
          <p:cNvPr id="48" name="矩形 47"/>
          <p:cNvSpPr/>
          <p:nvPr/>
        </p:nvSpPr>
        <p:spPr>
          <a:xfrm>
            <a:off x="4756656" y="5122055"/>
            <a:ext cx="2702898" cy="95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本研究的数学知识结构化预处理以 </a:t>
            </a:r>
            <a:r>
              <a:rPr lang="en-US" altLang="zh-CN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 </a:t>
            </a: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辅助人工标注为主，效率有限，且人工操作存在细微主观误差，一定程度影响数据集的标准化精度。</a:t>
            </a:r>
          </a:p>
        </p:txBody>
      </p:sp>
      <p:sp>
        <p:nvSpPr>
          <p:cNvPr id="49" name="矩形 48"/>
          <p:cNvSpPr/>
          <p:nvPr/>
        </p:nvSpPr>
        <p:spPr>
          <a:xfrm>
            <a:off x="8259290" y="4301618"/>
            <a:ext cx="18483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逻辑推理性错误仍有技术短板</a:t>
            </a:r>
          </a:p>
        </p:txBody>
      </p:sp>
      <p:sp>
        <p:nvSpPr>
          <p:cNvPr id="50" name="矩形 49"/>
          <p:cNvSpPr/>
          <p:nvPr/>
        </p:nvSpPr>
        <p:spPr>
          <a:xfrm>
            <a:off x="7916740" y="5120054"/>
            <a:ext cx="2702898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面对复杂多步逻辑推理题时，系统仍可能出现逻辑性谬误，推理链条的严谨性与自洽性有待提升</a:t>
            </a:r>
          </a:p>
        </p:txBody>
      </p:sp>
      <p:sp>
        <p:nvSpPr>
          <p:cNvPr id="32" name="object 11"/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378" y="70814"/>
            <a:ext cx="638942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课题研究的总结与思考（未来规划）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Group 4"/>
          <p:cNvGrpSpPr>
            <a:grpSpLocks noChangeAspect="1"/>
          </p:cNvGrpSpPr>
          <p:nvPr/>
        </p:nvGrpSpPr>
        <p:grpSpPr bwMode="auto">
          <a:xfrm>
            <a:off x="4079875" y="1447800"/>
            <a:ext cx="4032250" cy="5013325"/>
            <a:chOff x="2571" y="1162"/>
            <a:chExt cx="2540" cy="3158"/>
          </a:xfrm>
        </p:grpSpPr>
        <p:sp>
          <p:nvSpPr>
            <p:cNvPr id="33" name="Freeform 5"/>
            <p:cNvSpPr/>
            <p:nvPr/>
          </p:nvSpPr>
          <p:spPr bwMode="auto">
            <a:xfrm>
              <a:off x="2796" y="1162"/>
              <a:ext cx="1054" cy="2199"/>
            </a:xfrm>
            <a:custGeom>
              <a:avLst/>
              <a:gdLst>
                <a:gd name="T0" fmla="*/ 403 w 404"/>
                <a:gd name="T1" fmla="*/ 204 h 844"/>
                <a:gd name="T2" fmla="*/ 402 w 404"/>
                <a:gd name="T3" fmla="*/ 321 h 844"/>
                <a:gd name="T4" fmla="*/ 401 w 404"/>
                <a:gd name="T5" fmla="*/ 412 h 844"/>
                <a:gd name="T6" fmla="*/ 308 w 404"/>
                <a:gd name="T7" fmla="*/ 462 h 844"/>
                <a:gd name="T8" fmla="*/ 236 w 404"/>
                <a:gd name="T9" fmla="*/ 518 h 844"/>
                <a:gd name="T10" fmla="*/ 251 w 404"/>
                <a:gd name="T11" fmla="*/ 519 h 844"/>
                <a:gd name="T12" fmla="*/ 313 w 404"/>
                <a:gd name="T13" fmla="*/ 480 h 844"/>
                <a:gd name="T14" fmla="*/ 336 w 404"/>
                <a:gd name="T15" fmla="*/ 429 h 844"/>
                <a:gd name="T16" fmla="*/ 401 w 404"/>
                <a:gd name="T17" fmla="*/ 426 h 844"/>
                <a:gd name="T18" fmla="*/ 400 w 404"/>
                <a:gd name="T19" fmla="*/ 591 h 844"/>
                <a:gd name="T20" fmla="*/ 399 w 404"/>
                <a:gd name="T21" fmla="*/ 716 h 844"/>
                <a:gd name="T22" fmla="*/ 399 w 404"/>
                <a:gd name="T23" fmla="*/ 738 h 844"/>
                <a:gd name="T24" fmla="*/ 382 w 404"/>
                <a:gd name="T25" fmla="*/ 788 h 844"/>
                <a:gd name="T26" fmla="*/ 285 w 404"/>
                <a:gd name="T27" fmla="*/ 843 h 844"/>
                <a:gd name="T28" fmla="*/ 168 w 404"/>
                <a:gd name="T29" fmla="*/ 741 h 844"/>
                <a:gd name="T30" fmla="*/ 190 w 404"/>
                <a:gd name="T31" fmla="*/ 697 h 844"/>
                <a:gd name="T32" fmla="*/ 256 w 404"/>
                <a:gd name="T33" fmla="*/ 644 h 844"/>
                <a:gd name="T34" fmla="*/ 262 w 404"/>
                <a:gd name="T35" fmla="*/ 641 h 844"/>
                <a:gd name="T36" fmla="*/ 267 w 404"/>
                <a:gd name="T37" fmla="*/ 640 h 844"/>
                <a:gd name="T38" fmla="*/ 310 w 404"/>
                <a:gd name="T39" fmla="*/ 656 h 844"/>
                <a:gd name="T40" fmla="*/ 309 w 404"/>
                <a:gd name="T41" fmla="*/ 636 h 844"/>
                <a:gd name="T42" fmla="*/ 263 w 404"/>
                <a:gd name="T43" fmla="*/ 625 h 844"/>
                <a:gd name="T44" fmla="*/ 240 w 404"/>
                <a:gd name="T45" fmla="*/ 639 h 844"/>
                <a:gd name="T46" fmla="*/ 230 w 404"/>
                <a:gd name="T47" fmla="*/ 650 h 844"/>
                <a:gd name="T48" fmla="*/ 219 w 404"/>
                <a:gd name="T49" fmla="*/ 668 h 844"/>
                <a:gd name="T50" fmla="*/ 160 w 404"/>
                <a:gd name="T51" fmla="*/ 727 h 844"/>
                <a:gd name="T52" fmla="*/ 130 w 404"/>
                <a:gd name="T53" fmla="*/ 728 h 844"/>
                <a:gd name="T54" fmla="*/ 2 w 404"/>
                <a:gd name="T55" fmla="*/ 587 h 844"/>
                <a:gd name="T56" fmla="*/ 35 w 404"/>
                <a:gd name="T57" fmla="*/ 494 h 844"/>
                <a:gd name="T58" fmla="*/ 67 w 404"/>
                <a:gd name="T59" fmla="*/ 505 h 844"/>
                <a:gd name="T60" fmla="*/ 102 w 404"/>
                <a:gd name="T61" fmla="*/ 558 h 844"/>
                <a:gd name="T62" fmla="*/ 116 w 404"/>
                <a:gd name="T63" fmla="*/ 560 h 844"/>
                <a:gd name="T64" fmla="*/ 82 w 404"/>
                <a:gd name="T65" fmla="*/ 497 h 844"/>
                <a:gd name="T66" fmla="*/ 113 w 404"/>
                <a:gd name="T67" fmla="*/ 482 h 844"/>
                <a:gd name="T68" fmla="*/ 114 w 404"/>
                <a:gd name="T69" fmla="*/ 450 h 844"/>
                <a:gd name="T70" fmla="*/ 96 w 404"/>
                <a:gd name="T71" fmla="*/ 477 h 844"/>
                <a:gd name="T72" fmla="*/ 41 w 404"/>
                <a:gd name="T73" fmla="*/ 481 h 844"/>
                <a:gd name="T74" fmla="*/ 0 w 404"/>
                <a:gd name="T75" fmla="*/ 390 h 844"/>
                <a:gd name="T76" fmla="*/ 56 w 404"/>
                <a:gd name="T77" fmla="*/ 277 h 844"/>
                <a:gd name="T78" fmla="*/ 197 w 404"/>
                <a:gd name="T79" fmla="*/ 296 h 844"/>
                <a:gd name="T80" fmla="*/ 247 w 404"/>
                <a:gd name="T81" fmla="*/ 287 h 844"/>
                <a:gd name="T82" fmla="*/ 302 w 404"/>
                <a:gd name="T83" fmla="*/ 298 h 844"/>
                <a:gd name="T84" fmla="*/ 348 w 404"/>
                <a:gd name="T85" fmla="*/ 263 h 844"/>
                <a:gd name="T86" fmla="*/ 314 w 404"/>
                <a:gd name="T87" fmla="*/ 277 h 844"/>
                <a:gd name="T88" fmla="*/ 262 w 404"/>
                <a:gd name="T89" fmla="*/ 278 h 844"/>
                <a:gd name="T90" fmla="*/ 233 w 404"/>
                <a:gd name="T91" fmla="*/ 257 h 844"/>
                <a:gd name="T92" fmla="*/ 219 w 404"/>
                <a:gd name="T93" fmla="*/ 227 h 844"/>
                <a:gd name="T94" fmla="*/ 238 w 404"/>
                <a:gd name="T95" fmla="*/ 180 h 844"/>
                <a:gd name="T96" fmla="*/ 204 w 404"/>
                <a:gd name="T97" fmla="*/ 220 h 844"/>
                <a:gd name="T98" fmla="*/ 87 w 404"/>
                <a:gd name="T99" fmla="*/ 280 h 844"/>
                <a:gd name="T100" fmla="*/ 58 w 404"/>
                <a:gd name="T101" fmla="*/ 249 h 844"/>
                <a:gd name="T102" fmla="*/ 99 w 404"/>
                <a:gd name="T103" fmla="*/ 147 h 844"/>
                <a:gd name="T104" fmla="*/ 217 w 404"/>
                <a:gd name="T105" fmla="*/ 104 h 844"/>
                <a:gd name="T106" fmla="*/ 221 w 404"/>
                <a:gd name="T107" fmla="*/ 104 h 844"/>
                <a:gd name="T108" fmla="*/ 289 w 404"/>
                <a:gd name="T109" fmla="*/ 102 h 844"/>
                <a:gd name="T110" fmla="*/ 328 w 404"/>
                <a:gd name="T111" fmla="*/ 157 h 844"/>
                <a:gd name="T112" fmla="*/ 296 w 404"/>
                <a:gd name="T113" fmla="*/ 89 h 844"/>
                <a:gd name="T114" fmla="*/ 255 w 404"/>
                <a:gd name="T115" fmla="*/ 20 h 844"/>
                <a:gd name="T116" fmla="*/ 369 w 404"/>
                <a:gd name="T117" fmla="*/ 20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4" h="844">
                  <a:moveTo>
                    <a:pt x="404" y="91"/>
                  </a:moveTo>
                  <a:cubicBezTo>
                    <a:pt x="403" y="190"/>
                    <a:pt x="403" y="190"/>
                    <a:pt x="403" y="190"/>
                  </a:cubicBezTo>
                  <a:cubicBezTo>
                    <a:pt x="403" y="204"/>
                    <a:pt x="403" y="204"/>
                    <a:pt x="403" y="204"/>
                  </a:cubicBezTo>
                  <a:cubicBezTo>
                    <a:pt x="403" y="229"/>
                    <a:pt x="403" y="229"/>
                    <a:pt x="403" y="229"/>
                  </a:cubicBezTo>
                  <a:cubicBezTo>
                    <a:pt x="402" y="252"/>
                    <a:pt x="402" y="252"/>
                    <a:pt x="402" y="252"/>
                  </a:cubicBezTo>
                  <a:cubicBezTo>
                    <a:pt x="402" y="321"/>
                    <a:pt x="402" y="321"/>
                    <a:pt x="402" y="321"/>
                  </a:cubicBezTo>
                  <a:cubicBezTo>
                    <a:pt x="402" y="331"/>
                    <a:pt x="402" y="331"/>
                    <a:pt x="402" y="331"/>
                  </a:cubicBezTo>
                  <a:cubicBezTo>
                    <a:pt x="402" y="369"/>
                    <a:pt x="402" y="369"/>
                    <a:pt x="402" y="369"/>
                  </a:cubicBezTo>
                  <a:cubicBezTo>
                    <a:pt x="401" y="412"/>
                    <a:pt x="401" y="412"/>
                    <a:pt x="401" y="412"/>
                  </a:cubicBezTo>
                  <a:cubicBezTo>
                    <a:pt x="398" y="411"/>
                    <a:pt x="378" y="405"/>
                    <a:pt x="358" y="406"/>
                  </a:cubicBezTo>
                  <a:cubicBezTo>
                    <a:pt x="347" y="407"/>
                    <a:pt x="336" y="410"/>
                    <a:pt x="327" y="417"/>
                  </a:cubicBezTo>
                  <a:cubicBezTo>
                    <a:pt x="315" y="427"/>
                    <a:pt x="309" y="442"/>
                    <a:pt x="308" y="462"/>
                  </a:cubicBezTo>
                  <a:cubicBezTo>
                    <a:pt x="297" y="459"/>
                    <a:pt x="278" y="455"/>
                    <a:pt x="263" y="464"/>
                  </a:cubicBezTo>
                  <a:cubicBezTo>
                    <a:pt x="257" y="468"/>
                    <a:pt x="252" y="472"/>
                    <a:pt x="248" y="478"/>
                  </a:cubicBezTo>
                  <a:cubicBezTo>
                    <a:pt x="242" y="488"/>
                    <a:pt x="238" y="501"/>
                    <a:pt x="236" y="518"/>
                  </a:cubicBezTo>
                  <a:cubicBezTo>
                    <a:pt x="236" y="522"/>
                    <a:pt x="239" y="526"/>
                    <a:pt x="243" y="526"/>
                  </a:cubicBezTo>
                  <a:cubicBezTo>
                    <a:pt x="243" y="526"/>
                    <a:pt x="244" y="526"/>
                    <a:pt x="244" y="526"/>
                  </a:cubicBezTo>
                  <a:cubicBezTo>
                    <a:pt x="248" y="526"/>
                    <a:pt x="251" y="523"/>
                    <a:pt x="251" y="519"/>
                  </a:cubicBezTo>
                  <a:cubicBezTo>
                    <a:pt x="252" y="510"/>
                    <a:pt x="253" y="502"/>
                    <a:pt x="256" y="495"/>
                  </a:cubicBezTo>
                  <a:cubicBezTo>
                    <a:pt x="259" y="487"/>
                    <a:pt x="264" y="481"/>
                    <a:pt x="270" y="477"/>
                  </a:cubicBezTo>
                  <a:cubicBezTo>
                    <a:pt x="287" y="467"/>
                    <a:pt x="312" y="479"/>
                    <a:pt x="313" y="480"/>
                  </a:cubicBezTo>
                  <a:cubicBezTo>
                    <a:pt x="315" y="481"/>
                    <a:pt x="318" y="481"/>
                    <a:pt x="320" y="479"/>
                  </a:cubicBezTo>
                  <a:cubicBezTo>
                    <a:pt x="322" y="478"/>
                    <a:pt x="323" y="475"/>
                    <a:pt x="323" y="472"/>
                  </a:cubicBezTo>
                  <a:cubicBezTo>
                    <a:pt x="322" y="452"/>
                    <a:pt x="326" y="437"/>
                    <a:pt x="336" y="429"/>
                  </a:cubicBezTo>
                  <a:cubicBezTo>
                    <a:pt x="342" y="425"/>
                    <a:pt x="348" y="422"/>
                    <a:pt x="355" y="421"/>
                  </a:cubicBezTo>
                  <a:cubicBezTo>
                    <a:pt x="375" y="418"/>
                    <a:pt x="397" y="426"/>
                    <a:pt x="397" y="426"/>
                  </a:cubicBezTo>
                  <a:cubicBezTo>
                    <a:pt x="398" y="426"/>
                    <a:pt x="400" y="426"/>
                    <a:pt x="401" y="426"/>
                  </a:cubicBezTo>
                  <a:cubicBezTo>
                    <a:pt x="401" y="474"/>
                    <a:pt x="401" y="474"/>
                    <a:pt x="401" y="474"/>
                  </a:cubicBezTo>
                  <a:cubicBezTo>
                    <a:pt x="401" y="525"/>
                    <a:pt x="401" y="525"/>
                    <a:pt x="401" y="525"/>
                  </a:cubicBezTo>
                  <a:cubicBezTo>
                    <a:pt x="400" y="591"/>
                    <a:pt x="400" y="591"/>
                    <a:pt x="400" y="591"/>
                  </a:cubicBezTo>
                  <a:cubicBezTo>
                    <a:pt x="400" y="593"/>
                    <a:pt x="400" y="593"/>
                    <a:pt x="400" y="593"/>
                  </a:cubicBezTo>
                  <a:cubicBezTo>
                    <a:pt x="400" y="654"/>
                    <a:pt x="400" y="654"/>
                    <a:pt x="400" y="654"/>
                  </a:cubicBezTo>
                  <a:cubicBezTo>
                    <a:pt x="399" y="716"/>
                    <a:pt x="399" y="716"/>
                    <a:pt x="399" y="716"/>
                  </a:cubicBezTo>
                  <a:cubicBezTo>
                    <a:pt x="400" y="719"/>
                    <a:pt x="400" y="722"/>
                    <a:pt x="400" y="726"/>
                  </a:cubicBezTo>
                  <a:cubicBezTo>
                    <a:pt x="400" y="727"/>
                    <a:pt x="400" y="727"/>
                    <a:pt x="400" y="727"/>
                  </a:cubicBezTo>
                  <a:cubicBezTo>
                    <a:pt x="400" y="730"/>
                    <a:pt x="400" y="734"/>
                    <a:pt x="399" y="738"/>
                  </a:cubicBezTo>
                  <a:cubicBezTo>
                    <a:pt x="399" y="738"/>
                    <a:pt x="399" y="739"/>
                    <a:pt x="399" y="739"/>
                  </a:cubicBezTo>
                  <a:cubicBezTo>
                    <a:pt x="398" y="751"/>
                    <a:pt x="395" y="762"/>
                    <a:pt x="390" y="773"/>
                  </a:cubicBezTo>
                  <a:cubicBezTo>
                    <a:pt x="388" y="778"/>
                    <a:pt x="385" y="783"/>
                    <a:pt x="382" y="788"/>
                  </a:cubicBezTo>
                  <a:cubicBezTo>
                    <a:pt x="377" y="797"/>
                    <a:pt x="370" y="805"/>
                    <a:pt x="363" y="812"/>
                  </a:cubicBezTo>
                  <a:cubicBezTo>
                    <a:pt x="355" y="819"/>
                    <a:pt x="347" y="825"/>
                    <a:pt x="338" y="830"/>
                  </a:cubicBezTo>
                  <a:cubicBezTo>
                    <a:pt x="322" y="838"/>
                    <a:pt x="304" y="843"/>
                    <a:pt x="285" y="843"/>
                  </a:cubicBezTo>
                  <a:cubicBezTo>
                    <a:pt x="242" y="844"/>
                    <a:pt x="204" y="821"/>
                    <a:pt x="184" y="787"/>
                  </a:cubicBezTo>
                  <a:cubicBezTo>
                    <a:pt x="179" y="779"/>
                    <a:pt x="175" y="771"/>
                    <a:pt x="173" y="762"/>
                  </a:cubicBezTo>
                  <a:cubicBezTo>
                    <a:pt x="171" y="755"/>
                    <a:pt x="169" y="748"/>
                    <a:pt x="168" y="741"/>
                  </a:cubicBezTo>
                  <a:cubicBezTo>
                    <a:pt x="168" y="739"/>
                    <a:pt x="168" y="738"/>
                    <a:pt x="168" y="736"/>
                  </a:cubicBezTo>
                  <a:cubicBezTo>
                    <a:pt x="171" y="735"/>
                    <a:pt x="174" y="733"/>
                    <a:pt x="174" y="730"/>
                  </a:cubicBezTo>
                  <a:cubicBezTo>
                    <a:pt x="175" y="728"/>
                    <a:pt x="178" y="710"/>
                    <a:pt x="190" y="697"/>
                  </a:cubicBezTo>
                  <a:cubicBezTo>
                    <a:pt x="197" y="688"/>
                    <a:pt x="208" y="682"/>
                    <a:pt x="223" y="683"/>
                  </a:cubicBezTo>
                  <a:cubicBezTo>
                    <a:pt x="226" y="684"/>
                    <a:pt x="229" y="682"/>
                    <a:pt x="231" y="679"/>
                  </a:cubicBezTo>
                  <a:cubicBezTo>
                    <a:pt x="231" y="678"/>
                    <a:pt x="239" y="655"/>
                    <a:pt x="256" y="644"/>
                  </a:cubicBezTo>
                  <a:cubicBezTo>
                    <a:pt x="258" y="643"/>
                    <a:pt x="260" y="642"/>
                    <a:pt x="261" y="641"/>
                  </a:cubicBezTo>
                  <a:cubicBezTo>
                    <a:pt x="261" y="641"/>
                    <a:pt x="262" y="641"/>
                    <a:pt x="262" y="641"/>
                  </a:cubicBezTo>
                  <a:cubicBezTo>
                    <a:pt x="262" y="641"/>
                    <a:pt x="262" y="641"/>
                    <a:pt x="262" y="641"/>
                  </a:cubicBezTo>
                  <a:cubicBezTo>
                    <a:pt x="263" y="641"/>
                    <a:pt x="264" y="640"/>
                    <a:pt x="265" y="640"/>
                  </a:cubicBezTo>
                  <a:cubicBezTo>
                    <a:pt x="265" y="640"/>
                    <a:pt x="265" y="640"/>
                    <a:pt x="265" y="640"/>
                  </a:cubicBezTo>
                  <a:cubicBezTo>
                    <a:pt x="266" y="640"/>
                    <a:pt x="266" y="640"/>
                    <a:pt x="267" y="640"/>
                  </a:cubicBezTo>
                  <a:cubicBezTo>
                    <a:pt x="273" y="638"/>
                    <a:pt x="279" y="638"/>
                    <a:pt x="286" y="641"/>
                  </a:cubicBezTo>
                  <a:cubicBezTo>
                    <a:pt x="290" y="642"/>
                    <a:pt x="295" y="645"/>
                    <a:pt x="299" y="648"/>
                  </a:cubicBezTo>
                  <a:cubicBezTo>
                    <a:pt x="303" y="650"/>
                    <a:pt x="307" y="653"/>
                    <a:pt x="310" y="656"/>
                  </a:cubicBezTo>
                  <a:cubicBezTo>
                    <a:pt x="313" y="659"/>
                    <a:pt x="318" y="659"/>
                    <a:pt x="321" y="656"/>
                  </a:cubicBezTo>
                  <a:cubicBezTo>
                    <a:pt x="324" y="653"/>
                    <a:pt x="323" y="648"/>
                    <a:pt x="320" y="645"/>
                  </a:cubicBezTo>
                  <a:cubicBezTo>
                    <a:pt x="316" y="642"/>
                    <a:pt x="312" y="639"/>
                    <a:pt x="309" y="636"/>
                  </a:cubicBezTo>
                  <a:cubicBezTo>
                    <a:pt x="304" y="633"/>
                    <a:pt x="300" y="631"/>
                    <a:pt x="296" y="629"/>
                  </a:cubicBezTo>
                  <a:cubicBezTo>
                    <a:pt x="289" y="626"/>
                    <a:pt x="283" y="624"/>
                    <a:pt x="276" y="624"/>
                  </a:cubicBezTo>
                  <a:cubicBezTo>
                    <a:pt x="272" y="624"/>
                    <a:pt x="267" y="624"/>
                    <a:pt x="263" y="625"/>
                  </a:cubicBezTo>
                  <a:cubicBezTo>
                    <a:pt x="258" y="627"/>
                    <a:pt x="254" y="628"/>
                    <a:pt x="250" y="631"/>
                  </a:cubicBezTo>
                  <a:cubicBezTo>
                    <a:pt x="249" y="631"/>
                    <a:pt x="249" y="632"/>
                    <a:pt x="248" y="632"/>
                  </a:cubicBezTo>
                  <a:cubicBezTo>
                    <a:pt x="245" y="634"/>
                    <a:pt x="242" y="636"/>
                    <a:pt x="240" y="639"/>
                  </a:cubicBezTo>
                  <a:cubicBezTo>
                    <a:pt x="239" y="639"/>
                    <a:pt x="239" y="640"/>
                    <a:pt x="238" y="640"/>
                  </a:cubicBezTo>
                  <a:cubicBezTo>
                    <a:pt x="236" y="643"/>
                    <a:pt x="233" y="645"/>
                    <a:pt x="231" y="648"/>
                  </a:cubicBezTo>
                  <a:cubicBezTo>
                    <a:pt x="231" y="649"/>
                    <a:pt x="230" y="650"/>
                    <a:pt x="230" y="650"/>
                  </a:cubicBezTo>
                  <a:cubicBezTo>
                    <a:pt x="229" y="651"/>
                    <a:pt x="228" y="652"/>
                    <a:pt x="228" y="652"/>
                  </a:cubicBezTo>
                  <a:cubicBezTo>
                    <a:pt x="227" y="653"/>
                    <a:pt x="227" y="654"/>
                    <a:pt x="226" y="655"/>
                  </a:cubicBezTo>
                  <a:cubicBezTo>
                    <a:pt x="223" y="660"/>
                    <a:pt x="221" y="665"/>
                    <a:pt x="219" y="668"/>
                  </a:cubicBezTo>
                  <a:cubicBezTo>
                    <a:pt x="218" y="668"/>
                    <a:pt x="218" y="668"/>
                    <a:pt x="218" y="668"/>
                  </a:cubicBezTo>
                  <a:cubicBezTo>
                    <a:pt x="201" y="668"/>
                    <a:pt x="188" y="677"/>
                    <a:pt x="179" y="687"/>
                  </a:cubicBezTo>
                  <a:cubicBezTo>
                    <a:pt x="168" y="700"/>
                    <a:pt x="162" y="716"/>
                    <a:pt x="160" y="727"/>
                  </a:cubicBezTo>
                  <a:cubicBezTo>
                    <a:pt x="160" y="727"/>
                    <a:pt x="160" y="728"/>
                    <a:pt x="160" y="728"/>
                  </a:cubicBezTo>
                  <a:cubicBezTo>
                    <a:pt x="156" y="729"/>
                    <a:pt x="152" y="729"/>
                    <a:pt x="148" y="729"/>
                  </a:cubicBezTo>
                  <a:cubicBezTo>
                    <a:pt x="142" y="729"/>
                    <a:pt x="136" y="729"/>
                    <a:pt x="130" y="728"/>
                  </a:cubicBezTo>
                  <a:cubicBezTo>
                    <a:pt x="114" y="726"/>
                    <a:pt x="98" y="722"/>
                    <a:pt x="83" y="715"/>
                  </a:cubicBezTo>
                  <a:cubicBezTo>
                    <a:pt x="43" y="695"/>
                    <a:pt x="14" y="658"/>
                    <a:pt x="5" y="613"/>
                  </a:cubicBezTo>
                  <a:cubicBezTo>
                    <a:pt x="3" y="605"/>
                    <a:pt x="2" y="596"/>
                    <a:pt x="2" y="587"/>
                  </a:cubicBezTo>
                  <a:cubicBezTo>
                    <a:pt x="2" y="578"/>
                    <a:pt x="3" y="569"/>
                    <a:pt x="4" y="561"/>
                  </a:cubicBezTo>
                  <a:cubicBezTo>
                    <a:pt x="6" y="552"/>
                    <a:pt x="8" y="544"/>
                    <a:pt x="11" y="537"/>
                  </a:cubicBezTo>
                  <a:cubicBezTo>
                    <a:pt x="16" y="521"/>
                    <a:pt x="25" y="506"/>
                    <a:pt x="35" y="494"/>
                  </a:cubicBezTo>
                  <a:cubicBezTo>
                    <a:pt x="36" y="494"/>
                    <a:pt x="37" y="495"/>
                    <a:pt x="38" y="495"/>
                  </a:cubicBezTo>
                  <a:cubicBezTo>
                    <a:pt x="38" y="495"/>
                    <a:pt x="40" y="496"/>
                    <a:pt x="42" y="496"/>
                  </a:cubicBezTo>
                  <a:cubicBezTo>
                    <a:pt x="47" y="497"/>
                    <a:pt x="57" y="500"/>
                    <a:pt x="67" y="505"/>
                  </a:cubicBezTo>
                  <a:cubicBezTo>
                    <a:pt x="70" y="507"/>
                    <a:pt x="74" y="509"/>
                    <a:pt x="77" y="511"/>
                  </a:cubicBezTo>
                  <a:cubicBezTo>
                    <a:pt x="88" y="518"/>
                    <a:pt x="98" y="528"/>
                    <a:pt x="101" y="543"/>
                  </a:cubicBezTo>
                  <a:cubicBezTo>
                    <a:pt x="102" y="548"/>
                    <a:pt x="102" y="553"/>
                    <a:pt x="102" y="558"/>
                  </a:cubicBezTo>
                  <a:cubicBezTo>
                    <a:pt x="101" y="562"/>
                    <a:pt x="104" y="566"/>
                    <a:pt x="108" y="567"/>
                  </a:cubicBezTo>
                  <a:cubicBezTo>
                    <a:pt x="108" y="567"/>
                    <a:pt x="109" y="567"/>
                    <a:pt x="109" y="567"/>
                  </a:cubicBezTo>
                  <a:cubicBezTo>
                    <a:pt x="113" y="567"/>
                    <a:pt x="116" y="564"/>
                    <a:pt x="116" y="560"/>
                  </a:cubicBezTo>
                  <a:cubicBezTo>
                    <a:pt x="117" y="550"/>
                    <a:pt x="116" y="541"/>
                    <a:pt x="113" y="534"/>
                  </a:cubicBezTo>
                  <a:cubicBezTo>
                    <a:pt x="108" y="518"/>
                    <a:pt x="97" y="506"/>
                    <a:pt x="84" y="498"/>
                  </a:cubicBezTo>
                  <a:cubicBezTo>
                    <a:pt x="83" y="498"/>
                    <a:pt x="83" y="497"/>
                    <a:pt x="82" y="497"/>
                  </a:cubicBezTo>
                  <a:cubicBezTo>
                    <a:pt x="83" y="497"/>
                    <a:pt x="84" y="496"/>
                    <a:pt x="85" y="496"/>
                  </a:cubicBezTo>
                  <a:cubicBezTo>
                    <a:pt x="92" y="495"/>
                    <a:pt x="100" y="492"/>
                    <a:pt x="107" y="488"/>
                  </a:cubicBezTo>
                  <a:cubicBezTo>
                    <a:pt x="109" y="486"/>
                    <a:pt x="111" y="484"/>
                    <a:pt x="113" y="482"/>
                  </a:cubicBezTo>
                  <a:cubicBezTo>
                    <a:pt x="122" y="475"/>
                    <a:pt x="127" y="465"/>
                    <a:pt x="129" y="452"/>
                  </a:cubicBezTo>
                  <a:cubicBezTo>
                    <a:pt x="129" y="448"/>
                    <a:pt x="127" y="444"/>
                    <a:pt x="123" y="443"/>
                  </a:cubicBezTo>
                  <a:cubicBezTo>
                    <a:pt x="119" y="443"/>
                    <a:pt x="115" y="446"/>
                    <a:pt x="114" y="450"/>
                  </a:cubicBezTo>
                  <a:cubicBezTo>
                    <a:pt x="113" y="459"/>
                    <a:pt x="109" y="466"/>
                    <a:pt x="104" y="471"/>
                  </a:cubicBezTo>
                  <a:cubicBezTo>
                    <a:pt x="102" y="473"/>
                    <a:pt x="101" y="474"/>
                    <a:pt x="99" y="475"/>
                  </a:cubicBezTo>
                  <a:cubicBezTo>
                    <a:pt x="98" y="476"/>
                    <a:pt x="97" y="477"/>
                    <a:pt x="96" y="477"/>
                  </a:cubicBezTo>
                  <a:cubicBezTo>
                    <a:pt x="86" y="483"/>
                    <a:pt x="73" y="484"/>
                    <a:pt x="63" y="483"/>
                  </a:cubicBezTo>
                  <a:cubicBezTo>
                    <a:pt x="55" y="483"/>
                    <a:pt x="49" y="482"/>
                    <a:pt x="45" y="482"/>
                  </a:cubicBezTo>
                  <a:cubicBezTo>
                    <a:pt x="44" y="481"/>
                    <a:pt x="42" y="481"/>
                    <a:pt x="41" y="481"/>
                  </a:cubicBezTo>
                  <a:cubicBezTo>
                    <a:pt x="39" y="480"/>
                    <a:pt x="37" y="481"/>
                    <a:pt x="35" y="483"/>
                  </a:cubicBezTo>
                  <a:cubicBezTo>
                    <a:pt x="30" y="477"/>
                    <a:pt x="25" y="470"/>
                    <a:pt x="21" y="463"/>
                  </a:cubicBezTo>
                  <a:cubicBezTo>
                    <a:pt x="8" y="442"/>
                    <a:pt x="0" y="417"/>
                    <a:pt x="0" y="390"/>
                  </a:cubicBezTo>
                  <a:cubicBezTo>
                    <a:pt x="0" y="379"/>
                    <a:pt x="1" y="368"/>
                    <a:pt x="4" y="357"/>
                  </a:cubicBezTo>
                  <a:cubicBezTo>
                    <a:pt x="11" y="325"/>
                    <a:pt x="29" y="296"/>
                    <a:pt x="54" y="276"/>
                  </a:cubicBezTo>
                  <a:cubicBezTo>
                    <a:pt x="55" y="276"/>
                    <a:pt x="55" y="277"/>
                    <a:pt x="56" y="277"/>
                  </a:cubicBezTo>
                  <a:cubicBezTo>
                    <a:pt x="56" y="278"/>
                    <a:pt x="66" y="285"/>
                    <a:pt x="82" y="293"/>
                  </a:cubicBezTo>
                  <a:cubicBezTo>
                    <a:pt x="98" y="301"/>
                    <a:pt x="120" y="309"/>
                    <a:pt x="145" y="309"/>
                  </a:cubicBezTo>
                  <a:cubicBezTo>
                    <a:pt x="161" y="309"/>
                    <a:pt x="179" y="305"/>
                    <a:pt x="197" y="296"/>
                  </a:cubicBezTo>
                  <a:cubicBezTo>
                    <a:pt x="207" y="290"/>
                    <a:pt x="217" y="282"/>
                    <a:pt x="227" y="272"/>
                  </a:cubicBezTo>
                  <a:cubicBezTo>
                    <a:pt x="228" y="273"/>
                    <a:pt x="229" y="273"/>
                    <a:pt x="230" y="274"/>
                  </a:cubicBezTo>
                  <a:cubicBezTo>
                    <a:pt x="234" y="278"/>
                    <a:pt x="240" y="283"/>
                    <a:pt x="247" y="287"/>
                  </a:cubicBezTo>
                  <a:cubicBezTo>
                    <a:pt x="259" y="294"/>
                    <a:pt x="274" y="300"/>
                    <a:pt x="291" y="300"/>
                  </a:cubicBezTo>
                  <a:cubicBezTo>
                    <a:pt x="291" y="300"/>
                    <a:pt x="291" y="300"/>
                    <a:pt x="291" y="300"/>
                  </a:cubicBezTo>
                  <a:cubicBezTo>
                    <a:pt x="295" y="299"/>
                    <a:pt x="299" y="299"/>
                    <a:pt x="302" y="298"/>
                  </a:cubicBezTo>
                  <a:cubicBezTo>
                    <a:pt x="311" y="296"/>
                    <a:pt x="320" y="292"/>
                    <a:pt x="328" y="285"/>
                  </a:cubicBezTo>
                  <a:cubicBezTo>
                    <a:pt x="335" y="280"/>
                    <a:pt x="341" y="274"/>
                    <a:pt x="347" y="266"/>
                  </a:cubicBezTo>
                  <a:cubicBezTo>
                    <a:pt x="348" y="265"/>
                    <a:pt x="348" y="264"/>
                    <a:pt x="348" y="263"/>
                  </a:cubicBezTo>
                  <a:cubicBezTo>
                    <a:pt x="349" y="261"/>
                    <a:pt x="348" y="258"/>
                    <a:pt x="346" y="256"/>
                  </a:cubicBezTo>
                  <a:cubicBezTo>
                    <a:pt x="343" y="253"/>
                    <a:pt x="338" y="254"/>
                    <a:pt x="336" y="257"/>
                  </a:cubicBezTo>
                  <a:cubicBezTo>
                    <a:pt x="329" y="266"/>
                    <a:pt x="322" y="273"/>
                    <a:pt x="314" y="277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07" y="282"/>
                    <a:pt x="299" y="285"/>
                    <a:pt x="290" y="285"/>
                  </a:cubicBezTo>
                  <a:cubicBezTo>
                    <a:pt x="280" y="285"/>
                    <a:pt x="270" y="282"/>
                    <a:pt x="262" y="278"/>
                  </a:cubicBezTo>
                  <a:cubicBezTo>
                    <a:pt x="252" y="273"/>
                    <a:pt x="244" y="267"/>
                    <a:pt x="239" y="263"/>
                  </a:cubicBezTo>
                  <a:cubicBezTo>
                    <a:pt x="236" y="260"/>
                    <a:pt x="234" y="257"/>
                    <a:pt x="233" y="257"/>
                  </a:cubicBezTo>
                  <a:cubicBezTo>
                    <a:pt x="233" y="257"/>
                    <a:pt x="233" y="257"/>
                    <a:pt x="233" y="257"/>
                  </a:cubicBezTo>
                  <a:cubicBezTo>
                    <a:pt x="233" y="257"/>
                    <a:pt x="233" y="257"/>
                    <a:pt x="233" y="257"/>
                  </a:cubicBezTo>
                  <a:cubicBezTo>
                    <a:pt x="232" y="256"/>
                    <a:pt x="221" y="243"/>
                    <a:pt x="219" y="227"/>
                  </a:cubicBezTo>
                  <a:cubicBezTo>
                    <a:pt x="219" y="227"/>
                    <a:pt x="219" y="227"/>
                    <a:pt x="219" y="227"/>
                  </a:cubicBezTo>
                  <a:cubicBezTo>
                    <a:pt x="219" y="224"/>
                    <a:pt x="219" y="221"/>
                    <a:pt x="219" y="218"/>
                  </a:cubicBezTo>
                  <a:cubicBezTo>
                    <a:pt x="220" y="207"/>
                    <a:pt x="226" y="198"/>
                    <a:pt x="236" y="190"/>
                  </a:cubicBezTo>
                  <a:cubicBezTo>
                    <a:pt x="240" y="188"/>
                    <a:pt x="240" y="183"/>
                    <a:pt x="238" y="180"/>
                  </a:cubicBezTo>
                  <a:cubicBezTo>
                    <a:pt x="235" y="177"/>
                    <a:pt x="231" y="176"/>
                    <a:pt x="228" y="179"/>
                  </a:cubicBezTo>
                  <a:cubicBezTo>
                    <a:pt x="214" y="189"/>
                    <a:pt x="206" y="202"/>
                    <a:pt x="205" y="216"/>
                  </a:cubicBezTo>
                  <a:cubicBezTo>
                    <a:pt x="205" y="217"/>
                    <a:pt x="204" y="218"/>
                    <a:pt x="204" y="220"/>
                  </a:cubicBezTo>
                  <a:cubicBezTo>
                    <a:pt x="204" y="237"/>
                    <a:pt x="212" y="253"/>
                    <a:pt x="218" y="261"/>
                  </a:cubicBezTo>
                  <a:cubicBezTo>
                    <a:pt x="208" y="271"/>
                    <a:pt x="199" y="278"/>
                    <a:pt x="189" y="283"/>
                  </a:cubicBezTo>
                  <a:cubicBezTo>
                    <a:pt x="150" y="304"/>
                    <a:pt x="111" y="292"/>
                    <a:pt x="87" y="280"/>
                  </a:cubicBezTo>
                  <a:cubicBezTo>
                    <a:pt x="74" y="273"/>
                    <a:pt x="66" y="267"/>
                    <a:pt x="65" y="266"/>
                  </a:cubicBezTo>
                  <a:cubicBezTo>
                    <a:pt x="63" y="265"/>
                    <a:pt x="61" y="264"/>
                    <a:pt x="59" y="264"/>
                  </a:cubicBezTo>
                  <a:cubicBezTo>
                    <a:pt x="59" y="259"/>
                    <a:pt x="58" y="254"/>
                    <a:pt x="58" y="249"/>
                  </a:cubicBezTo>
                  <a:cubicBezTo>
                    <a:pt x="58" y="218"/>
                    <a:pt x="67" y="190"/>
                    <a:pt x="83" y="167"/>
                  </a:cubicBezTo>
                  <a:cubicBezTo>
                    <a:pt x="84" y="165"/>
                    <a:pt x="85" y="163"/>
                    <a:pt x="86" y="162"/>
                  </a:cubicBezTo>
                  <a:cubicBezTo>
                    <a:pt x="90" y="156"/>
                    <a:pt x="95" y="151"/>
                    <a:pt x="99" y="147"/>
                  </a:cubicBezTo>
                  <a:cubicBezTo>
                    <a:pt x="102" y="144"/>
                    <a:pt x="104" y="142"/>
                    <a:pt x="107" y="140"/>
                  </a:cubicBezTo>
                  <a:cubicBezTo>
                    <a:pt x="132" y="117"/>
                    <a:pt x="165" y="104"/>
                    <a:pt x="201" y="103"/>
                  </a:cubicBezTo>
                  <a:cubicBezTo>
                    <a:pt x="206" y="103"/>
                    <a:pt x="212" y="104"/>
                    <a:pt x="217" y="104"/>
                  </a:cubicBezTo>
                  <a:cubicBezTo>
                    <a:pt x="218" y="104"/>
                    <a:pt x="219" y="105"/>
                    <a:pt x="220" y="104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2" y="104"/>
                    <a:pt x="222" y="104"/>
                    <a:pt x="222" y="104"/>
                  </a:cubicBezTo>
                  <a:cubicBezTo>
                    <a:pt x="223" y="104"/>
                    <a:pt x="249" y="92"/>
                    <a:pt x="275" y="97"/>
                  </a:cubicBezTo>
                  <a:cubicBezTo>
                    <a:pt x="280" y="98"/>
                    <a:pt x="285" y="100"/>
                    <a:pt x="289" y="102"/>
                  </a:cubicBezTo>
                  <a:cubicBezTo>
                    <a:pt x="305" y="110"/>
                    <a:pt x="315" y="127"/>
                    <a:pt x="320" y="151"/>
                  </a:cubicBezTo>
                  <a:cubicBezTo>
                    <a:pt x="320" y="154"/>
                    <a:pt x="323" y="157"/>
                    <a:pt x="327" y="157"/>
                  </a:cubicBezTo>
                  <a:cubicBezTo>
                    <a:pt x="327" y="157"/>
                    <a:pt x="328" y="157"/>
                    <a:pt x="328" y="157"/>
                  </a:cubicBezTo>
                  <a:cubicBezTo>
                    <a:pt x="332" y="156"/>
                    <a:pt x="335" y="152"/>
                    <a:pt x="334" y="148"/>
                  </a:cubicBezTo>
                  <a:cubicBezTo>
                    <a:pt x="329" y="119"/>
                    <a:pt x="316" y="100"/>
                    <a:pt x="296" y="89"/>
                  </a:cubicBezTo>
                  <a:cubicBezTo>
                    <a:pt x="296" y="89"/>
                    <a:pt x="296" y="89"/>
                    <a:pt x="296" y="89"/>
                  </a:cubicBezTo>
                  <a:cubicBezTo>
                    <a:pt x="267" y="74"/>
                    <a:pt x="232" y="85"/>
                    <a:pt x="220" y="89"/>
                  </a:cubicBezTo>
                  <a:cubicBezTo>
                    <a:pt x="221" y="74"/>
                    <a:pt x="225" y="60"/>
                    <a:pt x="232" y="48"/>
                  </a:cubicBezTo>
                  <a:cubicBezTo>
                    <a:pt x="237" y="37"/>
                    <a:pt x="245" y="27"/>
                    <a:pt x="255" y="20"/>
                  </a:cubicBezTo>
                  <a:cubicBezTo>
                    <a:pt x="270" y="8"/>
                    <a:pt x="290" y="0"/>
                    <a:pt x="311" y="0"/>
                  </a:cubicBezTo>
                  <a:cubicBezTo>
                    <a:pt x="327" y="0"/>
                    <a:pt x="342" y="4"/>
                    <a:pt x="356" y="11"/>
                  </a:cubicBezTo>
                  <a:cubicBezTo>
                    <a:pt x="360" y="14"/>
                    <a:pt x="365" y="16"/>
                    <a:pt x="369" y="20"/>
                  </a:cubicBezTo>
                  <a:cubicBezTo>
                    <a:pt x="385" y="32"/>
                    <a:pt x="396" y="50"/>
                    <a:pt x="401" y="71"/>
                  </a:cubicBezTo>
                  <a:cubicBezTo>
                    <a:pt x="403" y="77"/>
                    <a:pt x="403" y="84"/>
                    <a:pt x="404" y="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4" name="Freeform 6"/>
            <p:cNvSpPr/>
            <p:nvPr/>
          </p:nvSpPr>
          <p:spPr bwMode="auto">
            <a:xfrm>
              <a:off x="3877" y="1162"/>
              <a:ext cx="1054" cy="2202"/>
            </a:xfrm>
            <a:custGeom>
              <a:avLst/>
              <a:gdLst>
                <a:gd name="T0" fmla="*/ 372 w 404"/>
                <a:gd name="T1" fmla="*/ 670 h 845"/>
                <a:gd name="T2" fmla="*/ 246 w 404"/>
                <a:gd name="T3" fmla="*/ 730 h 845"/>
                <a:gd name="T4" fmla="*/ 225 w 404"/>
                <a:gd name="T5" fmla="*/ 687 h 845"/>
                <a:gd name="T6" fmla="*/ 143 w 404"/>
                <a:gd name="T7" fmla="*/ 627 h 845"/>
                <a:gd name="T8" fmla="*/ 95 w 404"/>
                <a:gd name="T9" fmla="*/ 658 h 845"/>
                <a:gd name="T10" fmla="*/ 183 w 404"/>
                <a:gd name="T11" fmla="*/ 685 h 845"/>
                <a:gd name="T12" fmla="*/ 231 w 404"/>
                <a:gd name="T13" fmla="*/ 731 h 845"/>
                <a:gd name="T14" fmla="*/ 114 w 404"/>
                <a:gd name="T15" fmla="*/ 844 h 845"/>
                <a:gd name="T16" fmla="*/ 9 w 404"/>
                <a:gd name="T17" fmla="*/ 773 h 845"/>
                <a:gd name="T18" fmla="*/ 0 w 404"/>
                <a:gd name="T19" fmla="*/ 725 h 845"/>
                <a:gd name="T20" fmla="*/ 1 w 404"/>
                <a:gd name="T21" fmla="*/ 638 h 845"/>
                <a:gd name="T22" fmla="*/ 1 w 404"/>
                <a:gd name="T23" fmla="*/ 508 h 845"/>
                <a:gd name="T24" fmla="*/ 9 w 404"/>
                <a:gd name="T25" fmla="*/ 427 h 845"/>
                <a:gd name="T26" fmla="*/ 69 w 404"/>
                <a:gd name="T27" fmla="*/ 430 h 845"/>
                <a:gd name="T28" fmla="*/ 93 w 404"/>
                <a:gd name="T29" fmla="*/ 481 h 845"/>
                <a:gd name="T30" fmla="*/ 155 w 404"/>
                <a:gd name="T31" fmla="*/ 521 h 845"/>
                <a:gd name="T32" fmla="*/ 169 w 404"/>
                <a:gd name="T33" fmla="*/ 520 h 845"/>
                <a:gd name="T34" fmla="*/ 98 w 404"/>
                <a:gd name="T35" fmla="*/ 464 h 845"/>
                <a:gd name="T36" fmla="*/ 46 w 404"/>
                <a:gd name="T37" fmla="*/ 408 h 845"/>
                <a:gd name="T38" fmla="*/ 2 w 404"/>
                <a:gd name="T39" fmla="*/ 369 h 845"/>
                <a:gd name="T40" fmla="*/ 2 w 404"/>
                <a:gd name="T41" fmla="*/ 253 h 845"/>
                <a:gd name="T42" fmla="*/ 2 w 404"/>
                <a:gd name="T43" fmla="*/ 190 h 845"/>
                <a:gd name="T44" fmla="*/ 30 w 404"/>
                <a:gd name="T45" fmla="*/ 26 h 845"/>
                <a:gd name="T46" fmla="*/ 175 w 404"/>
                <a:gd name="T47" fmla="*/ 49 h 845"/>
                <a:gd name="T48" fmla="*/ 111 w 404"/>
                <a:gd name="T49" fmla="*/ 90 h 845"/>
                <a:gd name="T50" fmla="*/ 78 w 404"/>
                <a:gd name="T51" fmla="*/ 158 h 845"/>
                <a:gd name="T52" fmla="*/ 116 w 404"/>
                <a:gd name="T53" fmla="*/ 104 h 845"/>
                <a:gd name="T54" fmla="*/ 190 w 404"/>
                <a:gd name="T55" fmla="*/ 105 h 845"/>
                <a:gd name="T56" fmla="*/ 263 w 404"/>
                <a:gd name="T57" fmla="*/ 118 h 845"/>
                <a:gd name="T58" fmla="*/ 320 w 404"/>
                <a:gd name="T59" fmla="*/ 166 h 845"/>
                <a:gd name="T60" fmla="*/ 345 w 404"/>
                <a:gd name="T61" fmla="*/ 266 h 845"/>
                <a:gd name="T62" fmla="*/ 260 w 404"/>
                <a:gd name="T63" fmla="*/ 296 h 845"/>
                <a:gd name="T64" fmla="*/ 201 w 404"/>
                <a:gd name="T65" fmla="*/ 229 h 845"/>
                <a:gd name="T66" fmla="*/ 178 w 404"/>
                <a:gd name="T67" fmla="*/ 180 h 845"/>
                <a:gd name="T68" fmla="*/ 169 w 404"/>
                <a:gd name="T69" fmla="*/ 192 h 845"/>
                <a:gd name="T70" fmla="*/ 173 w 404"/>
                <a:gd name="T71" fmla="*/ 258 h 845"/>
                <a:gd name="T72" fmla="*/ 166 w 404"/>
                <a:gd name="T73" fmla="*/ 265 h 845"/>
                <a:gd name="T74" fmla="*/ 70 w 404"/>
                <a:gd name="T75" fmla="*/ 259 h 845"/>
                <a:gd name="T76" fmla="*/ 59 w 404"/>
                <a:gd name="T77" fmla="*/ 267 h 845"/>
                <a:gd name="T78" fmla="*/ 115 w 404"/>
                <a:gd name="T79" fmla="*/ 301 h 845"/>
                <a:gd name="T80" fmla="*/ 188 w 404"/>
                <a:gd name="T81" fmla="*/ 283 h 845"/>
                <a:gd name="T82" fmla="*/ 322 w 404"/>
                <a:gd name="T83" fmla="*/ 296 h 845"/>
                <a:gd name="T84" fmla="*/ 369 w 404"/>
                <a:gd name="T85" fmla="*/ 483 h 845"/>
                <a:gd name="T86" fmla="*/ 361 w 404"/>
                <a:gd name="T87" fmla="*/ 483 h 845"/>
                <a:gd name="T88" fmla="*/ 311 w 404"/>
                <a:gd name="T89" fmla="*/ 479 h 845"/>
                <a:gd name="T90" fmla="*/ 292 w 404"/>
                <a:gd name="T91" fmla="*/ 451 h 845"/>
                <a:gd name="T92" fmla="*/ 296 w 404"/>
                <a:gd name="T93" fmla="*/ 487 h 845"/>
                <a:gd name="T94" fmla="*/ 321 w 404"/>
                <a:gd name="T95" fmla="*/ 500 h 845"/>
                <a:gd name="T96" fmla="*/ 298 w 404"/>
                <a:gd name="T97" fmla="*/ 568 h 845"/>
                <a:gd name="T98" fmla="*/ 358 w 404"/>
                <a:gd name="T99" fmla="*/ 499 h 845"/>
                <a:gd name="T100" fmla="*/ 367 w 404"/>
                <a:gd name="T101" fmla="*/ 497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04" h="845">
                  <a:moveTo>
                    <a:pt x="391" y="540"/>
                  </a:moveTo>
                  <a:cubicBezTo>
                    <a:pt x="397" y="556"/>
                    <a:pt x="399" y="572"/>
                    <a:pt x="399" y="590"/>
                  </a:cubicBezTo>
                  <a:cubicBezTo>
                    <a:pt x="398" y="620"/>
                    <a:pt x="389" y="648"/>
                    <a:pt x="372" y="670"/>
                  </a:cubicBezTo>
                  <a:cubicBezTo>
                    <a:pt x="349" y="703"/>
                    <a:pt x="313" y="725"/>
                    <a:pt x="271" y="730"/>
                  </a:cubicBezTo>
                  <a:cubicBezTo>
                    <a:pt x="265" y="731"/>
                    <a:pt x="258" y="731"/>
                    <a:pt x="252" y="731"/>
                  </a:cubicBezTo>
                  <a:cubicBezTo>
                    <a:pt x="250" y="731"/>
                    <a:pt x="248" y="731"/>
                    <a:pt x="246" y="730"/>
                  </a:cubicBezTo>
                  <a:cubicBezTo>
                    <a:pt x="246" y="730"/>
                    <a:pt x="246" y="729"/>
                    <a:pt x="246" y="728"/>
                  </a:cubicBezTo>
                  <a:cubicBezTo>
                    <a:pt x="245" y="722"/>
                    <a:pt x="242" y="715"/>
                    <a:pt x="239" y="708"/>
                  </a:cubicBezTo>
                  <a:cubicBezTo>
                    <a:pt x="236" y="700"/>
                    <a:pt x="231" y="693"/>
                    <a:pt x="225" y="687"/>
                  </a:cubicBezTo>
                  <a:cubicBezTo>
                    <a:pt x="216" y="677"/>
                    <a:pt x="203" y="670"/>
                    <a:pt x="187" y="670"/>
                  </a:cubicBezTo>
                  <a:cubicBezTo>
                    <a:pt x="187" y="670"/>
                    <a:pt x="187" y="670"/>
                    <a:pt x="187" y="670"/>
                  </a:cubicBezTo>
                  <a:cubicBezTo>
                    <a:pt x="182" y="659"/>
                    <a:pt x="168" y="633"/>
                    <a:pt x="143" y="627"/>
                  </a:cubicBezTo>
                  <a:cubicBezTo>
                    <a:pt x="125" y="622"/>
                    <a:pt x="106" y="629"/>
                    <a:pt x="86" y="647"/>
                  </a:cubicBezTo>
                  <a:cubicBezTo>
                    <a:pt x="83" y="650"/>
                    <a:pt x="82" y="654"/>
                    <a:pt x="85" y="657"/>
                  </a:cubicBezTo>
                  <a:cubicBezTo>
                    <a:pt x="88" y="660"/>
                    <a:pt x="92" y="661"/>
                    <a:pt x="95" y="658"/>
                  </a:cubicBezTo>
                  <a:cubicBezTo>
                    <a:pt x="111" y="644"/>
                    <a:pt x="126" y="638"/>
                    <a:pt x="139" y="641"/>
                  </a:cubicBezTo>
                  <a:cubicBezTo>
                    <a:pt x="163" y="647"/>
                    <a:pt x="175" y="680"/>
                    <a:pt x="175" y="680"/>
                  </a:cubicBezTo>
                  <a:cubicBezTo>
                    <a:pt x="176" y="683"/>
                    <a:pt x="180" y="685"/>
                    <a:pt x="183" y="685"/>
                  </a:cubicBezTo>
                  <a:cubicBezTo>
                    <a:pt x="197" y="684"/>
                    <a:pt x="207" y="689"/>
                    <a:pt x="214" y="696"/>
                  </a:cubicBezTo>
                  <a:cubicBezTo>
                    <a:pt x="222" y="705"/>
                    <a:pt x="227" y="716"/>
                    <a:pt x="229" y="724"/>
                  </a:cubicBezTo>
                  <a:cubicBezTo>
                    <a:pt x="231" y="728"/>
                    <a:pt x="231" y="731"/>
                    <a:pt x="231" y="731"/>
                  </a:cubicBezTo>
                  <a:cubicBezTo>
                    <a:pt x="232" y="732"/>
                    <a:pt x="232" y="733"/>
                    <a:pt x="233" y="734"/>
                  </a:cubicBezTo>
                  <a:cubicBezTo>
                    <a:pt x="232" y="745"/>
                    <a:pt x="230" y="755"/>
                    <a:pt x="227" y="765"/>
                  </a:cubicBezTo>
                  <a:cubicBezTo>
                    <a:pt x="211" y="811"/>
                    <a:pt x="166" y="845"/>
                    <a:pt x="114" y="844"/>
                  </a:cubicBezTo>
                  <a:cubicBezTo>
                    <a:pt x="95" y="843"/>
                    <a:pt x="78" y="839"/>
                    <a:pt x="62" y="830"/>
                  </a:cubicBezTo>
                  <a:cubicBezTo>
                    <a:pt x="53" y="826"/>
                    <a:pt x="45" y="820"/>
                    <a:pt x="37" y="813"/>
                  </a:cubicBezTo>
                  <a:cubicBezTo>
                    <a:pt x="25" y="801"/>
                    <a:pt x="16" y="788"/>
                    <a:pt x="9" y="773"/>
                  </a:cubicBezTo>
                  <a:cubicBezTo>
                    <a:pt x="5" y="762"/>
                    <a:pt x="2" y="751"/>
                    <a:pt x="1" y="739"/>
                  </a:cubicBezTo>
                  <a:cubicBezTo>
                    <a:pt x="1" y="739"/>
                    <a:pt x="1" y="738"/>
                    <a:pt x="1" y="738"/>
                  </a:cubicBezTo>
                  <a:cubicBezTo>
                    <a:pt x="0" y="734"/>
                    <a:pt x="0" y="729"/>
                    <a:pt x="0" y="725"/>
                  </a:cubicBezTo>
                  <a:cubicBezTo>
                    <a:pt x="0" y="722"/>
                    <a:pt x="1" y="719"/>
                    <a:pt x="1" y="716"/>
                  </a:cubicBezTo>
                  <a:cubicBezTo>
                    <a:pt x="1" y="654"/>
                    <a:pt x="1" y="654"/>
                    <a:pt x="1" y="654"/>
                  </a:cubicBezTo>
                  <a:cubicBezTo>
                    <a:pt x="1" y="638"/>
                    <a:pt x="1" y="638"/>
                    <a:pt x="1" y="638"/>
                  </a:cubicBezTo>
                  <a:cubicBezTo>
                    <a:pt x="1" y="591"/>
                    <a:pt x="1" y="591"/>
                    <a:pt x="1" y="591"/>
                  </a:cubicBezTo>
                  <a:cubicBezTo>
                    <a:pt x="1" y="588"/>
                    <a:pt x="1" y="588"/>
                    <a:pt x="1" y="588"/>
                  </a:cubicBezTo>
                  <a:cubicBezTo>
                    <a:pt x="1" y="508"/>
                    <a:pt x="1" y="508"/>
                    <a:pt x="1" y="508"/>
                  </a:cubicBezTo>
                  <a:cubicBezTo>
                    <a:pt x="1" y="475"/>
                    <a:pt x="1" y="475"/>
                    <a:pt x="1" y="475"/>
                  </a:cubicBezTo>
                  <a:cubicBezTo>
                    <a:pt x="1" y="426"/>
                    <a:pt x="1" y="426"/>
                    <a:pt x="1" y="426"/>
                  </a:cubicBezTo>
                  <a:cubicBezTo>
                    <a:pt x="3" y="428"/>
                    <a:pt x="6" y="428"/>
                    <a:pt x="9" y="427"/>
                  </a:cubicBezTo>
                  <a:cubicBezTo>
                    <a:pt x="9" y="427"/>
                    <a:pt x="29" y="421"/>
                    <a:pt x="48" y="423"/>
                  </a:cubicBezTo>
                  <a:cubicBezTo>
                    <a:pt x="54" y="423"/>
                    <a:pt x="61" y="425"/>
                    <a:pt x="67" y="429"/>
                  </a:cubicBezTo>
                  <a:cubicBezTo>
                    <a:pt x="68" y="429"/>
                    <a:pt x="69" y="430"/>
                    <a:pt x="69" y="430"/>
                  </a:cubicBezTo>
                  <a:cubicBezTo>
                    <a:pt x="80" y="439"/>
                    <a:pt x="84" y="453"/>
                    <a:pt x="83" y="474"/>
                  </a:cubicBezTo>
                  <a:cubicBezTo>
                    <a:pt x="82" y="477"/>
                    <a:pt x="84" y="479"/>
                    <a:pt x="86" y="481"/>
                  </a:cubicBezTo>
                  <a:cubicBezTo>
                    <a:pt x="88" y="482"/>
                    <a:pt x="91" y="482"/>
                    <a:pt x="93" y="481"/>
                  </a:cubicBezTo>
                  <a:cubicBezTo>
                    <a:pt x="94" y="481"/>
                    <a:pt x="118" y="469"/>
                    <a:pt x="136" y="479"/>
                  </a:cubicBezTo>
                  <a:cubicBezTo>
                    <a:pt x="141" y="482"/>
                    <a:pt x="145" y="486"/>
                    <a:pt x="148" y="493"/>
                  </a:cubicBezTo>
                  <a:cubicBezTo>
                    <a:pt x="152" y="500"/>
                    <a:pt x="154" y="509"/>
                    <a:pt x="155" y="521"/>
                  </a:cubicBezTo>
                  <a:cubicBezTo>
                    <a:pt x="155" y="525"/>
                    <a:pt x="158" y="528"/>
                    <a:pt x="162" y="528"/>
                  </a:cubicBezTo>
                  <a:cubicBezTo>
                    <a:pt x="163" y="528"/>
                    <a:pt x="163" y="528"/>
                    <a:pt x="163" y="528"/>
                  </a:cubicBezTo>
                  <a:cubicBezTo>
                    <a:pt x="167" y="527"/>
                    <a:pt x="170" y="524"/>
                    <a:pt x="169" y="520"/>
                  </a:cubicBezTo>
                  <a:cubicBezTo>
                    <a:pt x="168" y="501"/>
                    <a:pt x="163" y="486"/>
                    <a:pt x="155" y="476"/>
                  </a:cubicBezTo>
                  <a:cubicBezTo>
                    <a:pt x="152" y="472"/>
                    <a:pt x="148" y="469"/>
                    <a:pt x="143" y="466"/>
                  </a:cubicBezTo>
                  <a:cubicBezTo>
                    <a:pt x="127" y="457"/>
                    <a:pt x="109" y="460"/>
                    <a:pt x="98" y="464"/>
                  </a:cubicBezTo>
                  <a:cubicBezTo>
                    <a:pt x="97" y="443"/>
                    <a:pt x="91" y="428"/>
                    <a:pt x="78" y="419"/>
                  </a:cubicBezTo>
                  <a:cubicBezTo>
                    <a:pt x="78" y="418"/>
                    <a:pt x="77" y="418"/>
                    <a:pt x="76" y="417"/>
                  </a:cubicBezTo>
                  <a:cubicBezTo>
                    <a:pt x="67" y="411"/>
                    <a:pt x="56" y="408"/>
                    <a:pt x="46" y="408"/>
                  </a:cubicBezTo>
                  <a:cubicBezTo>
                    <a:pt x="25" y="407"/>
                    <a:pt x="5" y="413"/>
                    <a:pt x="4" y="413"/>
                  </a:cubicBezTo>
                  <a:cubicBezTo>
                    <a:pt x="3" y="414"/>
                    <a:pt x="2" y="414"/>
                    <a:pt x="1" y="415"/>
                  </a:cubicBezTo>
                  <a:cubicBezTo>
                    <a:pt x="2" y="369"/>
                    <a:pt x="2" y="369"/>
                    <a:pt x="2" y="369"/>
                  </a:cubicBezTo>
                  <a:cubicBezTo>
                    <a:pt x="2" y="340"/>
                    <a:pt x="2" y="340"/>
                    <a:pt x="2" y="340"/>
                  </a:cubicBezTo>
                  <a:cubicBezTo>
                    <a:pt x="2" y="311"/>
                    <a:pt x="2" y="311"/>
                    <a:pt x="2" y="311"/>
                  </a:cubicBezTo>
                  <a:cubicBezTo>
                    <a:pt x="2" y="253"/>
                    <a:pt x="2" y="253"/>
                    <a:pt x="2" y="253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2" y="198"/>
                    <a:pt x="2" y="198"/>
                    <a:pt x="2" y="198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83"/>
                    <a:pt x="3" y="77"/>
                    <a:pt x="5" y="71"/>
                  </a:cubicBezTo>
                  <a:cubicBezTo>
                    <a:pt x="9" y="54"/>
                    <a:pt x="18" y="38"/>
                    <a:pt x="30" y="26"/>
                  </a:cubicBezTo>
                  <a:cubicBezTo>
                    <a:pt x="36" y="20"/>
                    <a:pt x="43" y="15"/>
                    <a:pt x="50" y="11"/>
                  </a:cubicBezTo>
                  <a:cubicBezTo>
                    <a:pt x="63" y="4"/>
                    <a:pt x="79" y="0"/>
                    <a:pt x="96" y="0"/>
                  </a:cubicBezTo>
                  <a:cubicBezTo>
                    <a:pt x="130" y="1"/>
                    <a:pt x="160" y="21"/>
                    <a:pt x="175" y="49"/>
                  </a:cubicBezTo>
                  <a:cubicBezTo>
                    <a:pt x="176" y="52"/>
                    <a:pt x="177" y="54"/>
                    <a:pt x="178" y="57"/>
                  </a:cubicBezTo>
                  <a:cubicBezTo>
                    <a:pt x="183" y="67"/>
                    <a:pt x="185" y="79"/>
                    <a:pt x="185" y="91"/>
                  </a:cubicBezTo>
                  <a:cubicBezTo>
                    <a:pt x="174" y="86"/>
                    <a:pt x="139" y="76"/>
                    <a:pt x="111" y="90"/>
                  </a:cubicBezTo>
                  <a:cubicBezTo>
                    <a:pt x="110" y="91"/>
                    <a:pt x="110" y="91"/>
                    <a:pt x="110" y="91"/>
                  </a:cubicBezTo>
                  <a:cubicBezTo>
                    <a:pt x="90" y="101"/>
                    <a:pt x="77" y="121"/>
                    <a:pt x="72" y="150"/>
                  </a:cubicBezTo>
                  <a:cubicBezTo>
                    <a:pt x="71" y="154"/>
                    <a:pt x="74" y="157"/>
                    <a:pt x="78" y="158"/>
                  </a:cubicBezTo>
                  <a:cubicBezTo>
                    <a:pt x="78" y="158"/>
                    <a:pt x="79" y="158"/>
                    <a:pt x="79" y="158"/>
                  </a:cubicBezTo>
                  <a:cubicBezTo>
                    <a:pt x="82" y="158"/>
                    <a:pt x="85" y="156"/>
                    <a:pt x="86" y="152"/>
                  </a:cubicBezTo>
                  <a:cubicBezTo>
                    <a:pt x="91" y="128"/>
                    <a:pt x="101" y="112"/>
                    <a:pt x="116" y="104"/>
                  </a:cubicBezTo>
                  <a:cubicBezTo>
                    <a:pt x="121" y="101"/>
                    <a:pt x="127" y="100"/>
                    <a:pt x="132" y="99"/>
                  </a:cubicBezTo>
                  <a:cubicBezTo>
                    <a:pt x="157" y="94"/>
                    <a:pt x="183" y="105"/>
                    <a:pt x="184" y="106"/>
                  </a:cubicBezTo>
                  <a:cubicBezTo>
                    <a:pt x="186" y="107"/>
                    <a:pt x="188" y="106"/>
                    <a:pt x="190" y="105"/>
                  </a:cubicBezTo>
                  <a:cubicBezTo>
                    <a:pt x="195" y="105"/>
                    <a:pt x="200" y="105"/>
                    <a:pt x="205" y="105"/>
                  </a:cubicBezTo>
                  <a:cubicBezTo>
                    <a:pt x="224" y="105"/>
                    <a:pt x="242" y="109"/>
                    <a:pt x="259" y="116"/>
                  </a:cubicBezTo>
                  <a:cubicBezTo>
                    <a:pt x="260" y="117"/>
                    <a:pt x="262" y="118"/>
                    <a:pt x="263" y="118"/>
                  </a:cubicBezTo>
                  <a:cubicBezTo>
                    <a:pt x="277" y="125"/>
                    <a:pt x="291" y="134"/>
                    <a:pt x="302" y="145"/>
                  </a:cubicBezTo>
                  <a:cubicBezTo>
                    <a:pt x="303" y="146"/>
                    <a:pt x="303" y="146"/>
                    <a:pt x="304" y="147"/>
                  </a:cubicBezTo>
                  <a:cubicBezTo>
                    <a:pt x="310" y="153"/>
                    <a:pt x="315" y="159"/>
                    <a:pt x="320" y="166"/>
                  </a:cubicBezTo>
                  <a:cubicBezTo>
                    <a:pt x="320" y="167"/>
                    <a:pt x="320" y="167"/>
                    <a:pt x="320" y="167"/>
                  </a:cubicBezTo>
                  <a:cubicBezTo>
                    <a:pt x="337" y="191"/>
                    <a:pt x="347" y="220"/>
                    <a:pt x="346" y="252"/>
                  </a:cubicBezTo>
                  <a:cubicBezTo>
                    <a:pt x="346" y="256"/>
                    <a:pt x="346" y="261"/>
                    <a:pt x="345" y="266"/>
                  </a:cubicBezTo>
                  <a:cubicBezTo>
                    <a:pt x="344" y="266"/>
                    <a:pt x="342" y="267"/>
                    <a:pt x="341" y="267"/>
                  </a:cubicBezTo>
                  <a:cubicBezTo>
                    <a:pt x="340" y="268"/>
                    <a:pt x="331" y="275"/>
                    <a:pt x="317" y="282"/>
                  </a:cubicBezTo>
                  <a:cubicBezTo>
                    <a:pt x="302" y="289"/>
                    <a:pt x="282" y="296"/>
                    <a:pt x="260" y="296"/>
                  </a:cubicBezTo>
                  <a:cubicBezTo>
                    <a:pt x="240" y="296"/>
                    <a:pt x="218" y="289"/>
                    <a:pt x="198" y="271"/>
                  </a:cubicBezTo>
                  <a:cubicBezTo>
                    <a:pt x="194" y="269"/>
                    <a:pt x="191" y="266"/>
                    <a:pt x="188" y="263"/>
                  </a:cubicBezTo>
                  <a:cubicBezTo>
                    <a:pt x="193" y="256"/>
                    <a:pt x="200" y="244"/>
                    <a:pt x="201" y="229"/>
                  </a:cubicBezTo>
                  <a:cubicBezTo>
                    <a:pt x="202" y="226"/>
                    <a:pt x="202" y="222"/>
                    <a:pt x="201" y="218"/>
                  </a:cubicBezTo>
                  <a:cubicBezTo>
                    <a:pt x="200" y="203"/>
                    <a:pt x="192" y="191"/>
                    <a:pt x="178" y="180"/>
                  </a:cubicBezTo>
                  <a:cubicBezTo>
                    <a:pt x="178" y="180"/>
                    <a:pt x="178" y="180"/>
                    <a:pt x="178" y="180"/>
                  </a:cubicBezTo>
                  <a:cubicBezTo>
                    <a:pt x="175" y="178"/>
                    <a:pt x="170" y="178"/>
                    <a:pt x="168" y="182"/>
                  </a:cubicBezTo>
                  <a:cubicBezTo>
                    <a:pt x="166" y="184"/>
                    <a:pt x="166" y="186"/>
                    <a:pt x="167" y="189"/>
                  </a:cubicBezTo>
                  <a:cubicBezTo>
                    <a:pt x="168" y="190"/>
                    <a:pt x="168" y="191"/>
                    <a:pt x="169" y="192"/>
                  </a:cubicBezTo>
                  <a:cubicBezTo>
                    <a:pt x="180" y="200"/>
                    <a:pt x="186" y="209"/>
                    <a:pt x="187" y="219"/>
                  </a:cubicBezTo>
                  <a:cubicBezTo>
                    <a:pt x="187" y="223"/>
                    <a:pt x="187" y="226"/>
                    <a:pt x="186" y="229"/>
                  </a:cubicBezTo>
                  <a:cubicBezTo>
                    <a:pt x="184" y="245"/>
                    <a:pt x="174" y="257"/>
                    <a:pt x="173" y="258"/>
                  </a:cubicBezTo>
                  <a:cubicBezTo>
                    <a:pt x="173" y="258"/>
                    <a:pt x="173" y="258"/>
                    <a:pt x="173" y="258"/>
                  </a:cubicBezTo>
                  <a:cubicBezTo>
                    <a:pt x="173" y="258"/>
                    <a:pt x="173" y="258"/>
                    <a:pt x="173" y="258"/>
                  </a:cubicBezTo>
                  <a:cubicBezTo>
                    <a:pt x="172" y="259"/>
                    <a:pt x="170" y="262"/>
                    <a:pt x="166" y="265"/>
                  </a:cubicBezTo>
                  <a:cubicBezTo>
                    <a:pt x="156" y="274"/>
                    <a:pt x="137" y="287"/>
                    <a:pt x="116" y="287"/>
                  </a:cubicBezTo>
                  <a:cubicBezTo>
                    <a:pt x="99" y="286"/>
                    <a:pt x="84" y="277"/>
                    <a:pt x="71" y="260"/>
                  </a:cubicBezTo>
                  <a:cubicBezTo>
                    <a:pt x="71" y="259"/>
                    <a:pt x="71" y="259"/>
                    <a:pt x="70" y="259"/>
                  </a:cubicBezTo>
                  <a:cubicBezTo>
                    <a:pt x="68" y="255"/>
                    <a:pt x="63" y="255"/>
                    <a:pt x="60" y="257"/>
                  </a:cubicBezTo>
                  <a:cubicBezTo>
                    <a:pt x="58" y="259"/>
                    <a:pt x="57" y="262"/>
                    <a:pt x="57" y="264"/>
                  </a:cubicBezTo>
                  <a:cubicBezTo>
                    <a:pt x="58" y="265"/>
                    <a:pt x="58" y="267"/>
                    <a:pt x="59" y="267"/>
                  </a:cubicBezTo>
                  <a:cubicBezTo>
                    <a:pt x="59" y="268"/>
                    <a:pt x="59" y="268"/>
                    <a:pt x="59" y="268"/>
                  </a:cubicBezTo>
                  <a:cubicBezTo>
                    <a:pt x="75" y="289"/>
                    <a:pt x="93" y="300"/>
                    <a:pt x="113" y="301"/>
                  </a:cubicBezTo>
                  <a:cubicBezTo>
                    <a:pt x="114" y="301"/>
                    <a:pt x="114" y="301"/>
                    <a:pt x="115" y="301"/>
                  </a:cubicBezTo>
                  <a:cubicBezTo>
                    <a:pt x="141" y="302"/>
                    <a:pt x="164" y="286"/>
                    <a:pt x="175" y="276"/>
                  </a:cubicBezTo>
                  <a:cubicBezTo>
                    <a:pt x="177" y="275"/>
                    <a:pt x="177" y="274"/>
                    <a:pt x="178" y="274"/>
                  </a:cubicBezTo>
                  <a:cubicBezTo>
                    <a:pt x="182" y="277"/>
                    <a:pt x="185" y="280"/>
                    <a:pt x="188" y="283"/>
                  </a:cubicBezTo>
                  <a:cubicBezTo>
                    <a:pt x="212" y="303"/>
                    <a:pt x="238" y="310"/>
                    <a:pt x="261" y="310"/>
                  </a:cubicBezTo>
                  <a:cubicBezTo>
                    <a:pt x="264" y="310"/>
                    <a:pt x="266" y="310"/>
                    <a:pt x="268" y="310"/>
                  </a:cubicBezTo>
                  <a:cubicBezTo>
                    <a:pt x="289" y="309"/>
                    <a:pt x="308" y="302"/>
                    <a:pt x="322" y="296"/>
                  </a:cubicBezTo>
                  <a:cubicBezTo>
                    <a:pt x="338" y="288"/>
                    <a:pt x="349" y="280"/>
                    <a:pt x="350" y="279"/>
                  </a:cubicBezTo>
                  <a:cubicBezTo>
                    <a:pt x="383" y="306"/>
                    <a:pt x="404" y="347"/>
                    <a:pt x="403" y="393"/>
                  </a:cubicBezTo>
                  <a:cubicBezTo>
                    <a:pt x="402" y="428"/>
                    <a:pt x="390" y="459"/>
                    <a:pt x="369" y="483"/>
                  </a:cubicBezTo>
                  <a:cubicBezTo>
                    <a:pt x="369" y="483"/>
                    <a:pt x="368" y="483"/>
                    <a:pt x="368" y="483"/>
                  </a:cubicBezTo>
                  <a:cubicBezTo>
                    <a:pt x="367" y="482"/>
                    <a:pt x="366" y="482"/>
                    <a:pt x="365" y="482"/>
                  </a:cubicBezTo>
                  <a:cubicBezTo>
                    <a:pt x="363" y="483"/>
                    <a:pt x="362" y="483"/>
                    <a:pt x="361" y="483"/>
                  </a:cubicBezTo>
                  <a:cubicBezTo>
                    <a:pt x="356" y="484"/>
                    <a:pt x="349" y="485"/>
                    <a:pt x="340" y="485"/>
                  </a:cubicBezTo>
                  <a:cubicBezTo>
                    <a:pt x="339" y="485"/>
                    <a:pt x="337" y="485"/>
                    <a:pt x="336" y="485"/>
                  </a:cubicBezTo>
                  <a:cubicBezTo>
                    <a:pt x="328" y="485"/>
                    <a:pt x="319" y="483"/>
                    <a:pt x="311" y="479"/>
                  </a:cubicBezTo>
                  <a:cubicBezTo>
                    <a:pt x="311" y="479"/>
                    <a:pt x="311" y="479"/>
                    <a:pt x="311" y="479"/>
                  </a:cubicBezTo>
                  <a:cubicBezTo>
                    <a:pt x="310" y="478"/>
                    <a:pt x="308" y="478"/>
                    <a:pt x="307" y="477"/>
                  </a:cubicBezTo>
                  <a:cubicBezTo>
                    <a:pt x="299" y="471"/>
                    <a:pt x="293" y="463"/>
                    <a:pt x="292" y="451"/>
                  </a:cubicBezTo>
                  <a:cubicBezTo>
                    <a:pt x="291" y="447"/>
                    <a:pt x="287" y="444"/>
                    <a:pt x="283" y="445"/>
                  </a:cubicBezTo>
                  <a:cubicBezTo>
                    <a:pt x="279" y="446"/>
                    <a:pt x="277" y="449"/>
                    <a:pt x="277" y="453"/>
                  </a:cubicBezTo>
                  <a:cubicBezTo>
                    <a:pt x="279" y="468"/>
                    <a:pt x="286" y="479"/>
                    <a:pt x="296" y="487"/>
                  </a:cubicBezTo>
                  <a:cubicBezTo>
                    <a:pt x="297" y="488"/>
                    <a:pt x="298" y="488"/>
                    <a:pt x="299" y="489"/>
                  </a:cubicBezTo>
                  <a:cubicBezTo>
                    <a:pt x="307" y="494"/>
                    <a:pt x="315" y="497"/>
                    <a:pt x="324" y="498"/>
                  </a:cubicBezTo>
                  <a:cubicBezTo>
                    <a:pt x="323" y="499"/>
                    <a:pt x="322" y="499"/>
                    <a:pt x="321" y="500"/>
                  </a:cubicBezTo>
                  <a:cubicBezTo>
                    <a:pt x="302" y="513"/>
                    <a:pt x="287" y="533"/>
                    <a:pt x="290" y="562"/>
                  </a:cubicBezTo>
                  <a:cubicBezTo>
                    <a:pt x="290" y="565"/>
                    <a:pt x="293" y="568"/>
                    <a:pt x="297" y="568"/>
                  </a:cubicBezTo>
                  <a:cubicBezTo>
                    <a:pt x="298" y="568"/>
                    <a:pt x="298" y="568"/>
                    <a:pt x="298" y="568"/>
                  </a:cubicBezTo>
                  <a:cubicBezTo>
                    <a:pt x="302" y="568"/>
                    <a:pt x="305" y="564"/>
                    <a:pt x="304" y="560"/>
                  </a:cubicBezTo>
                  <a:cubicBezTo>
                    <a:pt x="301" y="534"/>
                    <a:pt x="318" y="518"/>
                    <a:pt x="335" y="509"/>
                  </a:cubicBezTo>
                  <a:cubicBezTo>
                    <a:pt x="343" y="504"/>
                    <a:pt x="352" y="501"/>
                    <a:pt x="358" y="499"/>
                  </a:cubicBezTo>
                  <a:cubicBezTo>
                    <a:pt x="359" y="499"/>
                    <a:pt x="359" y="499"/>
                    <a:pt x="360" y="499"/>
                  </a:cubicBezTo>
                  <a:cubicBezTo>
                    <a:pt x="361" y="498"/>
                    <a:pt x="363" y="498"/>
                    <a:pt x="364" y="497"/>
                  </a:cubicBezTo>
                  <a:cubicBezTo>
                    <a:pt x="366" y="497"/>
                    <a:pt x="367" y="497"/>
                    <a:pt x="367" y="497"/>
                  </a:cubicBezTo>
                  <a:cubicBezTo>
                    <a:pt x="371" y="502"/>
                    <a:pt x="375" y="507"/>
                    <a:pt x="378" y="512"/>
                  </a:cubicBezTo>
                  <a:cubicBezTo>
                    <a:pt x="383" y="521"/>
                    <a:pt x="388" y="530"/>
                    <a:pt x="391" y="5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5" name="Freeform 7"/>
            <p:cNvSpPr/>
            <p:nvPr/>
          </p:nvSpPr>
          <p:spPr bwMode="auto">
            <a:xfrm>
              <a:off x="4062" y="2116"/>
              <a:ext cx="1049" cy="1646"/>
            </a:xfrm>
            <a:custGeom>
              <a:avLst/>
              <a:gdLst>
                <a:gd name="T0" fmla="*/ 0 w 402"/>
                <a:gd name="T1" fmla="*/ 565 h 632"/>
                <a:gd name="T2" fmla="*/ 12 w 402"/>
                <a:gd name="T3" fmla="*/ 408 h 632"/>
                <a:gd name="T4" fmla="*/ 104 w 402"/>
                <a:gd name="T5" fmla="*/ 237 h 632"/>
                <a:gd name="T6" fmla="*/ 238 w 402"/>
                <a:gd name="T7" fmla="*/ 195 h 632"/>
                <a:gd name="T8" fmla="*/ 183 w 402"/>
                <a:gd name="T9" fmla="*/ 254 h 632"/>
                <a:gd name="T10" fmla="*/ 126 w 402"/>
                <a:gd name="T11" fmla="*/ 324 h 632"/>
                <a:gd name="T12" fmla="*/ 289 w 402"/>
                <a:gd name="T13" fmla="*/ 244 h 632"/>
                <a:gd name="T14" fmla="*/ 365 w 402"/>
                <a:gd name="T15" fmla="*/ 4 h 632"/>
                <a:gd name="T16" fmla="*/ 394 w 402"/>
                <a:gd name="T17" fmla="*/ 42 h 632"/>
                <a:gd name="T18" fmla="*/ 367 w 402"/>
                <a:gd name="T19" fmla="*/ 310 h 632"/>
                <a:gd name="T20" fmla="*/ 282 w 402"/>
                <a:gd name="T21" fmla="*/ 406 h 632"/>
                <a:gd name="T22" fmla="*/ 60 w 402"/>
                <a:gd name="T23" fmla="*/ 632 h 632"/>
                <a:gd name="T24" fmla="*/ 0 w 402"/>
                <a:gd name="T25" fmla="*/ 565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2" h="632">
                  <a:moveTo>
                    <a:pt x="0" y="565"/>
                  </a:moveTo>
                  <a:cubicBezTo>
                    <a:pt x="0" y="565"/>
                    <a:pt x="14" y="521"/>
                    <a:pt x="12" y="408"/>
                  </a:cubicBezTo>
                  <a:cubicBezTo>
                    <a:pt x="9" y="295"/>
                    <a:pt x="58" y="272"/>
                    <a:pt x="104" y="237"/>
                  </a:cubicBezTo>
                  <a:cubicBezTo>
                    <a:pt x="150" y="203"/>
                    <a:pt x="209" y="146"/>
                    <a:pt x="238" y="195"/>
                  </a:cubicBezTo>
                  <a:cubicBezTo>
                    <a:pt x="249" y="213"/>
                    <a:pt x="216" y="233"/>
                    <a:pt x="183" y="254"/>
                  </a:cubicBezTo>
                  <a:cubicBezTo>
                    <a:pt x="147" y="277"/>
                    <a:pt x="109" y="302"/>
                    <a:pt x="126" y="324"/>
                  </a:cubicBezTo>
                  <a:cubicBezTo>
                    <a:pt x="158" y="367"/>
                    <a:pt x="289" y="244"/>
                    <a:pt x="289" y="244"/>
                  </a:cubicBezTo>
                  <a:cubicBezTo>
                    <a:pt x="289" y="244"/>
                    <a:pt x="328" y="0"/>
                    <a:pt x="365" y="4"/>
                  </a:cubicBezTo>
                  <a:cubicBezTo>
                    <a:pt x="402" y="7"/>
                    <a:pt x="397" y="14"/>
                    <a:pt x="394" y="42"/>
                  </a:cubicBezTo>
                  <a:cubicBezTo>
                    <a:pt x="390" y="71"/>
                    <a:pt x="367" y="310"/>
                    <a:pt x="367" y="310"/>
                  </a:cubicBezTo>
                  <a:cubicBezTo>
                    <a:pt x="367" y="310"/>
                    <a:pt x="327" y="360"/>
                    <a:pt x="282" y="406"/>
                  </a:cubicBezTo>
                  <a:cubicBezTo>
                    <a:pt x="237" y="451"/>
                    <a:pt x="71" y="609"/>
                    <a:pt x="60" y="632"/>
                  </a:cubicBezTo>
                  <a:cubicBezTo>
                    <a:pt x="0" y="565"/>
                    <a:pt x="0" y="565"/>
                    <a:pt x="0" y="565"/>
                  </a:cubicBezTo>
                </a:path>
              </a:pathLst>
            </a:custGeom>
            <a:solidFill>
              <a:srgbClr val="F7C9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3916" y="3567"/>
              <a:ext cx="631" cy="753"/>
            </a:xfrm>
            <a:prstGeom prst="rect">
              <a:avLst/>
            </a:prstGeom>
            <a:solidFill>
              <a:srgbClr val="C2B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7" name="Freeform 9"/>
            <p:cNvSpPr/>
            <p:nvPr/>
          </p:nvSpPr>
          <p:spPr bwMode="auto">
            <a:xfrm>
              <a:off x="3864" y="3687"/>
              <a:ext cx="777" cy="633"/>
            </a:xfrm>
            <a:custGeom>
              <a:avLst/>
              <a:gdLst>
                <a:gd name="T0" fmla="*/ 0 w 777"/>
                <a:gd name="T1" fmla="*/ 0 h 633"/>
                <a:gd name="T2" fmla="*/ 52 w 777"/>
                <a:gd name="T3" fmla="*/ 633 h 633"/>
                <a:gd name="T4" fmla="*/ 777 w 777"/>
                <a:gd name="T5" fmla="*/ 633 h 633"/>
                <a:gd name="T6" fmla="*/ 777 w 777"/>
                <a:gd name="T7" fmla="*/ 0 h 633"/>
                <a:gd name="T8" fmla="*/ 561 w 777"/>
                <a:gd name="T9" fmla="*/ 0 h 633"/>
                <a:gd name="T10" fmla="*/ 490 w 777"/>
                <a:gd name="T11" fmla="*/ 239 h 633"/>
                <a:gd name="T12" fmla="*/ 464 w 777"/>
                <a:gd name="T13" fmla="*/ 0 h 633"/>
                <a:gd name="T14" fmla="*/ 0 w 777"/>
                <a:gd name="T15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7" h="633">
                  <a:moveTo>
                    <a:pt x="0" y="0"/>
                  </a:moveTo>
                  <a:lnTo>
                    <a:pt x="52" y="633"/>
                  </a:lnTo>
                  <a:lnTo>
                    <a:pt x="777" y="633"/>
                  </a:lnTo>
                  <a:lnTo>
                    <a:pt x="777" y="0"/>
                  </a:lnTo>
                  <a:lnTo>
                    <a:pt x="561" y="0"/>
                  </a:lnTo>
                  <a:lnTo>
                    <a:pt x="490" y="239"/>
                  </a:lnTo>
                  <a:lnTo>
                    <a:pt x="4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4498" y="3887"/>
              <a:ext cx="94" cy="9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Oval 11"/>
            <p:cNvSpPr>
              <a:spLocks noChangeArrowheads="1"/>
            </p:cNvSpPr>
            <p:nvPr/>
          </p:nvSpPr>
          <p:spPr bwMode="auto">
            <a:xfrm>
              <a:off x="4498" y="3783"/>
              <a:ext cx="94" cy="9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" name="Freeform 12"/>
            <p:cNvSpPr/>
            <p:nvPr/>
          </p:nvSpPr>
          <p:spPr bwMode="auto">
            <a:xfrm>
              <a:off x="2571" y="2116"/>
              <a:ext cx="1047" cy="1646"/>
            </a:xfrm>
            <a:custGeom>
              <a:avLst/>
              <a:gdLst>
                <a:gd name="T0" fmla="*/ 401 w 401"/>
                <a:gd name="T1" fmla="*/ 565 h 632"/>
                <a:gd name="T2" fmla="*/ 390 w 401"/>
                <a:gd name="T3" fmla="*/ 408 h 632"/>
                <a:gd name="T4" fmla="*/ 297 w 401"/>
                <a:gd name="T5" fmla="*/ 237 h 632"/>
                <a:gd name="T6" fmla="*/ 163 w 401"/>
                <a:gd name="T7" fmla="*/ 195 h 632"/>
                <a:gd name="T8" fmla="*/ 218 w 401"/>
                <a:gd name="T9" fmla="*/ 254 h 632"/>
                <a:gd name="T10" fmla="*/ 275 w 401"/>
                <a:gd name="T11" fmla="*/ 324 h 632"/>
                <a:gd name="T12" fmla="*/ 112 w 401"/>
                <a:gd name="T13" fmla="*/ 244 h 632"/>
                <a:gd name="T14" fmla="*/ 36 w 401"/>
                <a:gd name="T15" fmla="*/ 4 h 632"/>
                <a:gd name="T16" fmla="*/ 8 w 401"/>
                <a:gd name="T17" fmla="*/ 42 h 632"/>
                <a:gd name="T18" fmla="*/ 34 w 401"/>
                <a:gd name="T19" fmla="*/ 310 h 632"/>
                <a:gd name="T20" fmla="*/ 120 w 401"/>
                <a:gd name="T21" fmla="*/ 406 h 632"/>
                <a:gd name="T22" fmla="*/ 341 w 401"/>
                <a:gd name="T23" fmla="*/ 632 h 632"/>
                <a:gd name="T24" fmla="*/ 401 w 401"/>
                <a:gd name="T25" fmla="*/ 565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632">
                  <a:moveTo>
                    <a:pt x="401" y="565"/>
                  </a:moveTo>
                  <a:cubicBezTo>
                    <a:pt x="401" y="565"/>
                    <a:pt x="387" y="521"/>
                    <a:pt x="390" y="408"/>
                  </a:cubicBezTo>
                  <a:cubicBezTo>
                    <a:pt x="392" y="295"/>
                    <a:pt x="343" y="272"/>
                    <a:pt x="297" y="237"/>
                  </a:cubicBezTo>
                  <a:cubicBezTo>
                    <a:pt x="251" y="203"/>
                    <a:pt x="192" y="146"/>
                    <a:pt x="163" y="195"/>
                  </a:cubicBezTo>
                  <a:cubicBezTo>
                    <a:pt x="153" y="213"/>
                    <a:pt x="185" y="233"/>
                    <a:pt x="218" y="254"/>
                  </a:cubicBezTo>
                  <a:cubicBezTo>
                    <a:pt x="255" y="277"/>
                    <a:pt x="292" y="302"/>
                    <a:pt x="275" y="324"/>
                  </a:cubicBezTo>
                  <a:cubicBezTo>
                    <a:pt x="244" y="367"/>
                    <a:pt x="112" y="244"/>
                    <a:pt x="112" y="244"/>
                  </a:cubicBezTo>
                  <a:cubicBezTo>
                    <a:pt x="112" y="244"/>
                    <a:pt x="73" y="0"/>
                    <a:pt x="36" y="4"/>
                  </a:cubicBezTo>
                  <a:cubicBezTo>
                    <a:pt x="0" y="7"/>
                    <a:pt x="4" y="14"/>
                    <a:pt x="8" y="42"/>
                  </a:cubicBezTo>
                  <a:cubicBezTo>
                    <a:pt x="11" y="71"/>
                    <a:pt x="34" y="310"/>
                    <a:pt x="34" y="310"/>
                  </a:cubicBezTo>
                  <a:cubicBezTo>
                    <a:pt x="34" y="310"/>
                    <a:pt x="75" y="360"/>
                    <a:pt x="120" y="406"/>
                  </a:cubicBezTo>
                  <a:cubicBezTo>
                    <a:pt x="165" y="451"/>
                    <a:pt x="330" y="609"/>
                    <a:pt x="341" y="632"/>
                  </a:cubicBezTo>
                  <a:cubicBezTo>
                    <a:pt x="401" y="565"/>
                    <a:pt x="401" y="565"/>
                    <a:pt x="401" y="565"/>
                  </a:cubicBezTo>
                </a:path>
              </a:pathLst>
            </a:custGeom>
            <a:solidFill>
              <a:srgbClr val="F7C9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" name="Rectangle 13"/>
            <p:cNvSpPr>
              <a:spLocks noChangeArrowheads="1"/>
            </p:cNvSpPr>
            <p:nvPr/>
          </p:nvSpPr>
          <p:spPr bwMode="auto">
            <a:xfrm>
              <a:off x="3133" y="3567"/>
              <a:ext cx="631" cy="753"/>
            </a:xfrm>
            <a:prstGeom prst="rect">
              <a:avLst/>
            </a:prstGeom>
            <a:solidFill>
              <a:srgbClr val="C2B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" name="Freeform 14"/>
            <p:cNvSpPr/>
            <p:nvPr/>
          </p:nvSpPr>
          <p:spPr bwMode="auto">
            <a:xfrm>
              <a:off x="3039" y="3687"/>
              <a:ext cx="780" cy="633"/>
            </a:xfrm>
            <a:custGeom>
              <a:avLst/>
              <a:gdLst>
                <a:gd name="T0" fmla="*/ 780 w 780"/>
                <a:gd name="T1" fmla="*/ 0 h 633"/>
                <a:gd name="T2" fmla="*/ 725 w 780"/>
                <a:gd name="T3" fmla="*/ 633 h 633"/>
                <a:gd name="T4" fmla="*/ 0 w 780"/>
                <a:gd name="T5" fmla="*/ 633 h 633"/>
                <a:gd name="T6" fmla="*/ 0 w 780"/>
                <a:gd name="T7" fmla="*/ 0 h 633"/>
                <a:gd name="T8" fmla="*/ 216 w 780"/>
                <a:gd name="T9" fmla="*/ 0 h 633"/>
                <a:gd name="T10" fmla="*/ 287 w 780"/>
                <a:gd name="T11" fmla="*/ 239 h 633"/>
                <a:gd name="T12" fmla="*/ 313 w 780"/>
                <a:gd name="T13" fmla="*/ 0 h 633"/>
                <a:gd name="T14" fmla="*/ 780 w 780"/>
                <a:gd name="T15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0" h="633">
                  <a:moveTo>
                    <a:pt x="780" y="0"/>
                  </a:moveTo>
                  <a:lnTo>
                    <a:pt x="725" y="633"/>
                  </a:lnTo>
                  <a:lnTo>
                    <a:pt x="0" y="633"/>
                  </a:lnTo>
                  <a:lnTo>
                    <a:pt x="0" y="0"/>
                  </a:lnTo>
                  <a:lnTo>
                    <a:pt x="216" y="0"/>
                  </a:lnTo>
                  <a:lnTo>
                    <a:pt x="287" y="239"/>
                  </a:lnTo>
                  <a:lnTo>
                    <a:pt x="313" y="0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3122" y="3887"/>
              <a:ext cx="94" cy="9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3122" y="3783"/>
              <a:ext cx="94" cy="9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351510" y="1904414"/>
            <a:ext cx="2642706" cy="1820079"/>
            <a:chOff x="1353098" y="2301289"/>
            <a:chExt cx="2642706" cy="1820079"/>
          </a:xfrm>
        </p:grpSpPr>
        <p:sp>
          <p:nvSpPr>
            <p:cNvPr id="52" name="矩形 51"/>
            <p:cNvSpPr/>
            <p:nvPr/>
          </p:nvSpPr>
          <p:spPr>
            <a:xfrm>
              <a:off x="1353098" y="2758303"/>
              <a:ext cx="2642706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拓宽数据来源，整合中考真题、典型错题等多元素材，丰富题型与知识点维度，提升系统对综合性、拓展性数学问题的适配解答能力。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1353098" y="2301289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数据覆盖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317067" y="1904414"/>
            <a:ext cx="2642706" cy="1561547"/>
            <a:chOff x="8318655" y="2301289"/>
            <a:chExt cx="2642706" cy="1561547"/>
          </a:xfrm>
        </p:grpSpPr>
        <p:sp>
          <p:nvSpPr>
            <p:cNvPr id="55" name="矩形 54"/>
            <p:cNvSpPr/>
            <p:nvPr/>
          </p:nvSpPr>
          <p:spPr>
            <a:xfrm>
              <a:off x="8318655" y="2758303"/>
              <a:ext cx="2642706" cy="11045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拓展系统逻辑校验专项功能，增设分步推理约束 </a:t>
              </a:r>
              <a:r>
                <a:rPr lang="en-US" altLang="zh-CN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Prompt</a:t>
              </a: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，多个米星交叉审查答题逻辑，尝试解决逻辑性谬误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8318655" y="2301289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逻辑校验优化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351510" y="3938966"/>
            <a:ext cx="2642706" cy="1561547"/>
            <a:chOff x="1353098" y="4335841"/>
            <a:chExt cx="2642706" cy="1561547"/>
          </a:xfrm>
        </p:grpSpPr>
        <p:sp>
          <p:nvSpPr>
            <p:cNvPr id="58" name="矩形 57"/>
            <p:cNvSpPr/>
            <p:nvPr/>
          </p:nvSpPr>
          <p:spPr>
            <a:xfrm>
              <a:off x="1353098" y="4792855"/>
              <a:ext cx="2642706" cy="11045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设计适配物理、化学公式与实验文本的专属标注规范，完成多学科知识库迁移，拓展该 </a:t>
              </a:r>
              <a:r>
                <a:rPr lang="en-US" altLang="zh-CN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RAG </a:t>
              </a: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系统面向理科教学的能力。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1353098" y="4335841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学科场景迁移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317067" y="3938966"/>
            <a:ext cx="2642706" cy="1820079"/>
            <a:chOff x="8318655" y="4335841"/>
            <a:chExt cx="2642706" cy="1820079"/>
          </a:xfrm>
        </p:grpSpPr>
        <p:sp>
          <p:nvSpPr>
            <p:cNvPr id="61" name="矩形 60"/>
            <p:cNvSpPr/>
            <p:nvPr/>
          </p:nvSpPr>
          <p:spPr>
            <a:xfrm>
              <a:off x="8318655" y="4792855"/>
              <a:ext cx="2642706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设计简洁美观的交互页面，实现题目输入、智能答疑、知识点溯源、错题解析等可视化功能，真正实现课题成果落地应用。</a:t>
              </a:r>
            </a:p>
          </p:txBody>
        </p:sp>
        <p:sp>
          <p:nvSpPr>
            <p:cNvPr id="62" name="矩形 61"/>
            <p:cNvSpPr/>
            <p:nvPr/>
          </p:nvSpPr>
          <p:spPr>
            <a:xfrm>
              <a:off x="8318655" y="4335841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可视化应用</a:t>
              </a:r>
            </a:p>
          </p:txBody>
        </p:sp>
      </p:grpSp>
      <p:sp>
        <p:nvSpPr>
          <p:cNvPr id="28" name="object 11"/>
          <p:cNvSpPr txBox="1"/>
          <p:nvPr/>
        </p:nvSpPr>
        <p:spPr>
          <a:xfrm>
            <a:off x="6400800" y="6547834"/>
            <a:ext cx="566725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500" b="1" spc="-10" dirty="0">
                <a:solidFill>
                  <a:srgbClr val="44536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上海交通大学网络空间安全教育实践工作站学员课题研究成果汇报</a:t>
            </a:r>
            <a:endParaRPr sz="1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9046" y="2461386"/>
            <a:ext cx="33657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5400" spc="600" dirty="0">
                <a:latin typeface="微软雅黑" panose="020B0503020204020204" charset="-122"/>
                <a:ea typeface="微软雅黑" panose="020B0503020204020204" charset="-122"/>
              </a:rPr>
              <a:t>致谢</a:t>
            </a:r>
            <a:endParaRPr sz="5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</TotalTime>
  <Words>2828</Words>
  <Application>Microsoft Office PowerPoint</Application>
  <PresentationFormat>宽屏</PresentationFormat>
  <Paragraphs>259</Paragraphs>
  <Slides>29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等线</vt:lpstr>
      <vt:lpstr>微软雅黑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课题研究的背景</vt:lpstr>
      <vt:lpstr>课题研究的意义</vt:lpstr>
      <vt:lpstr>课题研究的国内外现状</vt:lpstr>
      <vt:lpstr>课题研究的国内外理论基础</vt:lpstr>
      <vt:lpstr>PowerPoint 演示文稿</vt:lpstr>
      <vt:lpstr>课题研究的主要内容</vt:lpstr>
      <vt:lpstr>课题研究的逻辑框架（技术路线）</vt:lpstr>
      <vt:lpstr>课题研究的主要方法</vt:lpstr>
      <vt:lpstr>课题研究的创新价值点</vt:lpstr>
      <vt:lpstr>PowerPoint 演示文稿</vt:lpstr>
      <vt:lpstr>课题研究的具体过程——数据预处理</vt:lpstr>
      <vt:lpstr>课题研究的具体过程——文本切割</vt:lpstr>
      <vt:lpstr>课题研究的具体过程——文本向量化入库</vt:lpstr>
      <vt:lpstr>课题研究的具体过程——检索和重排</vt:lpstr>
      <vt:lpstr>课题研究的具体过程——prompt和模型调用（有RAG）</vt:lpstr>
      <vt:lpstr>课题研究的具体过程——prompt和模型调用（无RAG）</vt:lpstr>
      <vt:lpstr>课题研究的具体过程——大模型的运行和输出</vt:lpstr>
      <vt:lpstr>PowerPoint 演示文稿</vt:lpstr>
      <vt:lpstr>课题研究的成果和结论</vt:lpstr>
      <vt:lpstr>典型案例对照</vt:lpstr>
      <vt:lpstr>课题研究过程中的参考文献与资料</vt:lpstr>
      <vt:lpstr>PowerPoint 演示文稿</vt:lpstr>
      <vt:lpstr>课题研究过程中碰到的困难与解决方案</vt:lpstr>
      <vt:lpstr>课题研究存在的不足</vt:lpstr>
      <vt:lpstr>课题研究的总结与思考（未来规划）</vt:lpstr>
      <vt:lpstr>致谢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Administrator</cp:lastModifiedBy>
  <cp:revision>202</cp:revision>
  <dcterms:created xsi:type="dcterms:W3CDTF">2021-04-14T08:03:00Z</dcterms:created>
  <dcterms:modified xsi:type="dcterms:W3CDTF">2026-08-13T13:05:14Z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2021-03-16T08:00:00Z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2021-04-14T08:00:00Z</vt:filetime>
  </property>
  <property fmtid="{D5CDD505-2E9C-101B-9397-08002B2CF9AE}" pid="5" name="ICV">
    <vt:lpwstr>27264ED2E17C453B8AFB7E036A1CABF1_12</vt:lpwstr>
  </property>
  <property fmtid="{D5CDD505-2E9C-101B-9397-08002B2CF9AE}" pid="6" name="KSOProductBuildVer">
    <vt:lpwstr>2052-12.1.0.26375</vt:lpwstr>
  </property>
  <property fmtid="{D5CDD505-2E9C-101B-9397-08002B2CF9AE}" pid="7" name="MSIP_Label_c62e0584-010f-4004-8a6a-d5c118c8b4bd_Enabled">
    <vt:lpwstr>true</vt:lpwstr>
  </property>
  <property fmtid="{D5CDD505-2E9C-101B-9397-08002B2CF9AE}" pid="8" name="MSIP_Label_c62e0584-010f-4004-8a6a-d5c118c8b4bd_SetDate">
    <vt:lpwstr>2026-08-13T01:51:41Z</vt:lpwstr>
  </property>
  <property fmtid="{D5CDD505-2E9C-101B-9397-08002B2CF9AE}" pid="9" name="MSIP_Label_c62e0584-010f-4004-8a6a-d5c118c8b4bd_Method">
    <vt:lpwstr>Standard</vt:lpwstr>
  </property>
  <property fmtid="{D5CDD505-2E9C-101B-9397-08002B2CF9AE}" pid="10" name="MSIP_Label_c62e0584-010f-4004-8a6a-d5c118c8b4bd_Name">
    <vt:lpwstr>Internal</vt:lpwstr>
  </property>
  <property fmtid="{D5CDD505-2E9C-101B-9397-08002B2CF9AE}" pid="11" name="MSIP_Label_c62e0584-010f-4004-8a6a-d5c118c8b4bd_SiteId">
    <vt:lpwstr>56b731a8-a2ac-4c32-bf6b-616810e913c6</vt:lpwstr>
  </property>
  <property fmtid="{D5CDD505-2E9C-101B-9397-08002B2CF9AE}" pid="12" name="MSIP_Label_c62e0584-010f-4004-8a6a-d5c118c8b4bd_ActionId">
    <vt:lpwstr>cfacd342-7e20-4c3d-ab5f-7c7a709b2ca0</vt:lpwstr>
  </property>
  <property fmtid="{D5CDD505-2E9C-101B-9397-08002B2CF9AE}" pid="13" name="MSIP_Label_c62e0584-010f-4004-8a6a-d5c118c8b4bd_ContentBits">
    <vt:lpwstr>0</vt:lpwstr>
  </property>
  <property fmtid="{D5CDD505-2E9C-101B-9397-08002B2CF9AE}" pid="14" name="MSIP_Label_c62e0584-010f-4004-8a6a-d5c118c8b4bd_Tag">
    <vt:lpwstr>10, 3, 0, 1</vt:lpwstr>
  </property>
</Properties>
</file>